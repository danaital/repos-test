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6" r:id="rId2"/>
    <p:sldId id="257" r:id="rId3"/>
    <p:sldId id="258" r:id="rId4"/>
    <p:sldId id="259" r:id="rId5"/>
    <p:sldId id="260" r:id="rId6"/>
    <p:sldId id="292" r:id="rId7"/>
    <p:sldId id="261" r:id="rId8"/>
    <p:sldId id="293"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94" r:id="rId29"/>
    <p:sldId id="281" r:id="rId30"/>
    <p:sldId id="282" r:id="rId31"/>
    <p:sldId id="283" r:id="rId32"/>
    <p:sldId id="284" r:id="rId33"/>
    <p:sldId id="285" r:id="rId34"/>
    <p:sldId id="286" r:id="rId35"/>
    <p:sldId id="287" r:id="rId36"/>
    <p:sldId id="288" r:id="rId37"/>
    <p:sldId id="295" r:id="rId38"/>
    <p:sldId id="289" r:id="rId39"/>
    <p:sldId id="290" r:id="rId40"/>
    <p:sldId id="291" r:id="rId4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903" autoAdjust="0"/>
    <p:restoredTop sz="88769" autoAdjust="0"/>
  </p:normalViewPr>
  <p:slideViewPr>
    <p:cSldViewPr snapToGrid="0" snapToObjects="1">
      <p:cViewPr varScale="1">
        <p:scale>
          <a:sx n="130" d="100"/>
          <a:sy n="130" d="100"/>
        </p:scale>
        <p:origin x="97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1567510"/>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Recitation 1 of the course. The two lectures of week 1 introduced the problem-to-program chain, Python syntax, the four basic types, variables, operators, input and output, casting, booleans and the random module. Nothing here recaps that material: the whole session is practice. There is no if and no loop anywhere in this deck on purpose, because week 2 teaches them; if a student already knows them, ask them to solve without, which is the harder and more instructive exercise this week. Five timed exercises: the chip on each one says how many minutes the students get on their own before the solution appears, and the notes give the minutes planned for the solution. That fills the 90 minutes with the five-minute setup check; the two extras at the end are for a fast room, or for home.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The map of the session, one card per click. Say the one rule of the hour out loud: predict first, run second. Every exercise starts with the students writing the expected output on paper before anyone touches the keyboard. The four movements are ordered by what they need: the warm-up needs only the REPL, the receipt and the clock need input and casting, the bug hunt needs reading a traceback, and the die needs the random module and int(). Point at the strip above the cards: the same stops will light up as we move through the session. The Extra stop holds two more exercises that are not part of the plan: if the room is ahead, do one; otherwise they are the first thing to try at home.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Thirty seconds on the ground rules, once, in the first recitation of the semester. The first card is the format of every recitation: the exercise goes up, the students work on it alone for the minutes on the chip, and only then does the solution appear - say that the minutes are real and that you will not cut them short. The third card matters most this week: students who took a programming course at school will reach for an if the moment a yes-or-no question appears. Tell them that the whole point of today's boolean exercises is that the comparison itself is the answer. The last card is a habit to build: the code folder is published with every recitation and the file names on the slides are real file names. Ask them to open the folder now, before the first exercise.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Five minutes, and worth every one of them: a student who cannot run a file cannot do anything else today. Walk the room while they do the three checks. The usual failures: 'python' not found on Windows (the installer's 'Add to PATH' box was left unticked - reinstall with it ticked), python opening the Microsoft Store (same cause), and VS Code running the wrong interpreter (select the 3.13 one in the status bar). Anyone who finishes early helps a neighbour. Do not move on until everyone has seen 1024 in the REPL and 'Hello' from a file; the rest of the session assumes both.</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Four minutes, no computers. Read the eight lines aloud, give them two minutes to write answers, then go to the next slide for the answers, asking for a show of hands before each line. The lines that catch people: line 5 (-7 // 2 is -4, floor division rounds down, towards minus infinity, not towards zero), line 7 (10 / 5 is 2.0 - true division always gives a float, even when the answer is whole) and line 8 (the sixteen digits of 1 / 3, which is the first sign that floats are not real numbers). Line 6 is there so that type() is seen as an ordinary function call that returns something printable.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The same game with strings. Lines 1 to 3 are operator overloading: + joins text and * repeats it, in either order. Lines 4 and 5 show that casting is the only way to mix text and numbers, and that the result depends on which side you convert. Line 7 is the trap: bool(0) is False, but bool("0") is True, because "0" is a one-character string and only the empty string is False. The last line raises TypeError. Make the point that matters beyond this slide: an error does not just print a message, it stops the program - put the same line first and nothing else would have run. That is why the tracebacks in exercise 3 name a line number.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Timing: 7 min on their own, then 4 min together.</a:t>
            </a:r>
          </a:p>
          <a:p>
            <a:r>
              <a:rPr lang="en-US"/>
              <a:t>The first full program of the course for most of them, so the goal is a clean three-step shape - read, compute, print - and not cleverness. Watch for the two classic errors: forgetting to cast (quantity * price then raises TypeError, which is a good thing to let happen once) and multiplying the string instead of the number ("3" * 2 is "33"). Ask what the type of quantity should be and what the type of price should be before anyone writes a line: the answer (int and float) is the whole lesson of the exercise. Remind them that the sample output must match exactly.</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Walk the three blocks in order and name them: read, compute, print. The computing block has no input and no output, which is the shape every program this semester will have. Two questions for the room: why is quantity an int but price a float (a count is whole; money is not), and what happens if the user types 'three' (ValueError from int(), the program stops - exactly the traceback slide of lecture 1-2). Then run it with a quantity of 7 and a price of 0.1 to show why round() is there: the VAT comes out as 0.12600000000000003 without it. That is not a bug in the program, it is floats, and lecture 1-2's precision slide explains it.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Run it live and compare with the output on the right.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Only if the room was fast: two minutes, no need to let them write it. Run it live with notebook, 3, 12.5 and a 10% discount: 33.75 after the discount, VAT 6.08, total 39.83. The point is that a change to the task is a change to one block, and that the order of the arithmetic encodes a business rule (discount before VAT). Ask what 1 - discount / 100 evaluates to for a 10% discount (0.9) and why the parentheses are needed around it. If someone asks why a discount of 10 prints as 10.0 somewhere, that is float() at work on the input - the type you cast to is the type you get back, decimal point included.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Timing: 8 min on their own, then 4 min together.</a:t>
            </a:r>
          </a:p>
          <a:p>
            <a:r>
              <a:rPr lang="en-US"/>
              <a:t>This is the exercise that turns // and % from arithmetic trivia into tools, and the same two operators carry the digit-sum loop of lecture 2-1 and the binary conversion of 2-2, so it is worth the time. Let the eight minutes run before the idea slide. The usual wrong turn is 3725 / 3600 = 1.03472 and then an attempt to 'take the decimal part' - let that fail, then show the idea. The second wrong turn is computing minutes from the original total (3725 // 60 = 62) instead of from what is left after the hours. The example on the right catches that: 62 minutes is not an answer anyone wants.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One step per click, and say the two questions out loud each time: how many fit, and what is left. The pseudocode on the right is deliberately not Python - it is the plan, in the light panel the lectures use for plans, and students should translate it themselves on the next slide rather than copy it. Point at the symmetry: steps 1-2 and steps 3-4 are the same two lines with a different unit, and the second pair works on the remainder of the first. That pattern - split off the biggest unit, repeat on the rest - comes back as a loop in two weeks.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Six lines, and every one does one thing. Run it with 3725, then with 59 (0 hours, 0 minutes, 59 seconds), 3600 (1 hour exactly) and 0 - the edge cases are where // and % show their worth, and the habit of trying zero and the boundary is one the lectures ask for in week 2. Two follow-ups if there is time: add days (86400 seconds, one more pair of lines at the top), and fix the grammar - '1 hours' - which cannot be done cleanly without an if; that is a good advertisement for next week. If someone wrote minutes = total // 60 % 60 and it works, that is correct too: both operators have the same precedence and go left to right.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Timing: 10 min on their own, then 5 min together.</a:t>
            </a:r>
          </a:p>
          <a:p>
            <a:r>
              <a:rPr lang="en-US"/>
              <a:t>This one pays off all semester: the bug hunt is how students actually learn to read error messages. Hand out the file (it is in the code folder as average_bugs.py) and make them run it unchanged first. The traceback on the right is the first thing they see; read it with them from the bottom up, as lecture 1-2 does: the last line names the error, the File line gives the line number, the caret points at the spot. Then let them work. Keep a tally on the board of the three kinds; the third bug is the one nobody finds by reading messages, only by predicting the output for 80 and 90 and comparing. That is the lesson: a program that runs is not a program that is right.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Reveal the three in the order students meet them. The syntax error is caught before anything runs, so it is always first; the runtime error only appears when its line executes, so it is second; the logical error produces 125.0 for 80 and 90 and complains about nothing. Ask which bug was the hardest to find and why: the answer is the third, because the only way to see it is to know what the right answer is. Close with Murphy's law from lecture 1-1, and the practical rule: test with inputs whose answer you can check in your head.</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One minute, four clicks. This repeats what lecture 1-2 said about tracebacks, but it comes right after they have read three of them, which is when it sticks. The order is bottom-up on purpose: the last line is the summary, the File line is the address, the caret is the pointer. Python 3.11 and later draw the carets; on an older interpreter the same message arrives without them. If a student's traceback is long - many 'File' lines - say that the lines nearest the bottom are the ones in their own code.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Timing: 10 min on their own, then 5 min together.</a:t>
            </a:r>
          </a:p>
          <a:p>
            <a:r>
              <a:rPr lang="en-US"/>
              <a:t>Ten minutes for the two parts together. The exercise exists because week 2 will tempt everyone to write if x: print(True) else: print(False), and it is worth seeing once that the comparison already is the value. For the triangle, most students write one comparison and stop; ask them to test 1, 2, 5 and then 5, 1, 2 - the second order catches a program that only checked a + b &gt; c. For the palindrome, the middle digit does not matter, and n // 100 == n % 10 is the whole answer; a student who extracts the middle digit anyway has practised // and % twice, which is fine. Keep an eye out for = used as ==.</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The shape is read, one expression, print. On precedence: arithmetic binds tighter than comparisons, and comparisons tighter than and/or, so a + b &gt; c and a + c &gt; b is parsed as intended - but say that parentheses for the reader are never wrong. Run it with 3 4 5 (True), 1 2 5 (False) and 5 1 2 (False): the third input is the one that exposes a program with a single comparison. Ask what the program says about 0 0 0 (False, because 0 + 0 &gt; 0 fails) and about negative lengths - the input promise is broken, and checking a promise needs an if, next week.</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Two lines of arithmetic and a comparison inside the f-string. Ask what the program does with 1234: it compares 12 with 4 and prints False, which happens to be right, and with 1221 it compares 12 with 1 and prints False, which is wrong - the input promise was three digits, and a program is only as correct as its promises. Extra 2 extends the idea to four digits properly. If a student wrote the middle digit as well (n % 100 // 10), they have practised the pair one more time; the point to make is that it was not needed.</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Timing: 12 min on their own, then 7 min together.</a:t>
            </a:r>
          </a:p>
          <a:p>
            <a:r>
              <a:rPr lang="en-US"/>
              <a:t>The high-level exercise and the best thinking exercise of the day. Do not give the formula. Ask what random.random() gives and what a die needs, and make them list the gaps: the range starts at 0 not 1, it ends below 1 not at 6, the top value is excluded, and the result is a float. Then let them fix the gaps one at a time, checking each step with the two extreme inputs 0.0 and 0.999. The order of the fixes matters and is the trap: int() before the multiplication gives 0 every time, and +1 before the multiplication shifts the range to [6, 12). Lecture 1-2's random_int.py did int(r * n) for [0, n); today's job is to move that by one and generalise it.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One step per click, the two test values each time. The fourth step is the one that makes the die fair and it deserves a drawing on the board: the interval [0, 1) cut into six equal slices, each slice mapping to one face. Ask why cutting before stretching fails (int(r) is always 0) and why shifting before stretching fails ((r + 1) * 6 lives in [6, 12)). The order stretch, cut, shift is the one that lands on exactly the six values. Lecture 1-2's slide did the first two steps for a number in [0, n); today adds the shift.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The three intermediate variables are there so that students can see the pipeline run; in real code the whole thing is one line, and the panel says so. Run it three times and get three different faces. The output on the slide is one run, shortened to four digits; theirs will differ. Then the question that tests understanding: if random.random() could return exactly 1.0, what would break? (int(6.0) + 1 is 7 - a seven-sided die on rare occasions.) That is why [0, 1) is half-open, and why the lectures keep drawing the hollow circle at the end of every range.</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Run it live and compare with the output on the right.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Two generalisations side by side; click for the explanation. The left one is immediate. The right one has the off-by-one that catches everyone: the number of values between low and high inclusive is high - low + 1, not high - low. Make them check it with low = -2 and high = 2: five values, so stretch by 5, and the extreme r values land on -2 and 2. A student who wrote high - low will produce a range that never reaches high, and the only way to notice is to test the boundary - which is the habit of the day.</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A one-minute discussion slide to end the exercise. Ask the room before moving to the next slide: can Dana's program ever print 7? (No - everything she prints is even.) Can it print 3? (No.) Noam's can print both, and prints 7 more often than anything else, because six of the thirty-six combinations add up to 7. The programming lesson is the second line: a random value is drawn when the call runs, and storing it in a variable freezes it. Two independent values need two calls. Counting how often 7 actually comes up is a loop - next week's Monte Carlo exercise.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The extras, one card per click. They are not part of the 90-minute plan: do one if the room is ahead, and otherwise point at them as the first homework. Both come with solutions on the following slides and with files in the code folder, so a student can work through them alone. The swap trace at the end of the section is a two-minute closer when there is time for nothing else.</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An extra: in class only if the room is ahead of the plan (give it eight minutes), otherwise the first thing to do at home. The same two operators as exercise 2, with one new twist: the wrap-around. Let them discover the plan - everything into minutes since midnight, add, then back out - rather than giving it; the idea from exercise 2 transfers if they are given the chance. The classic failure is adding 150 to 45 and 'carrying' by hand, which works for one example and breaks on the next. Test cases to put on the board: 22:45 + 150 (1:15), 9:00 + 30 (9:30), 23:59 + 1 (0:0), 10:00 + 1440 (10:0 - a whole day later). The ugly '9:5' output is discussed on the solution slide; do not let it block anyone now.</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The three-line plan is the content; the rest is reading and printing. The % 24 line is the one to dwell on: modular arithmetic is how every clock, calendar and circular buffer works, and students have just used it without being told its name. Then the output: 9:05 prints as 9:5, and f-string format specs are not until week 5. Ask the room whether // and % can print two digits anyway. They can: end_minutes // 10 and end_minutes % 10 are the two digits, printed one after the other, and that is the expansion on the next slide. If time is short, skip the expansion and only mention it.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Two minutes, no writing. The point is not the clock - it is that the digit-splitting pair from exercise 2 works on any positional quantity, including the decimal digits of a number. Tens and ones of 5 are 0 and 5, so the f-string prints 05. Week 5 will replace these two lines with f"{end_minutes:02}", and that will be the moment to remember this slide. The same split, run in a loop, is lecture 2-1's digit sum.</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An extra: eight minutes in class if there is time, otherwise homework with the solution shown. It is exercise 2 with base 10 in place of time units, and the reversed number is a small construction exercise: rebuild a number from its digits with the place values swapped. Students who finish early can be asked what happens with 0913 as input (int() turns it into 913, and the thousands digit is 0 - correct, if a little surprising) and with 12345 (the program quietly treats it as a different number - again, a broken promise, not a crash).</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Walk the four digit lines with 4913: 4913 // 1000 is 4; 4913 % 1000 is 913 and 913 // 100 is 9; 4913 % 100 is 13 and 13 // 10 is 1; 4913 % 10 is 3. Then the reconstruction. The last line is the palindrome test of exercise 4 again, now comparing the whole number with its mirror image, which also works for 4-digit inputs where the middle two digits matter. In two weeks the same digits will be peeled off in a loop (lecture 2-1, digit sum), and in three the whole thing is str(n)[::-1]; it is worth telling them that both are coming, and that this version is the one that explains the other two.</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Run it live and compare with the output on the right.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A two-minute closer if there is time, otherwise self practice. The trace table is the point, not the trick: three assignments, and after each one exactly one variable has changed. Ask them to read the right-hand side of each line with the current values before looking at the result column. The program is a nice demonstration that = is an action and not an equation - the line b = a - b would be nonsense in algebra. Python's own idiom for this, a, b = b, a, arrives in week 4 with tuples; the temporary-variable version is in lecture 4-2 too. This one works on any numbers, including floats, though with floats the rounding can leave a tiny difference.</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Two panels, one click each. Read the left one as the four habits of the session and the right one as the toolbox. The sentence to end on: everything today was a straight-line program - read, compute, print - and that is exactly the shape next week's conditionals and loops will bend. Point them to the self-practice slide and to the code folder, and remind them that homework 1 is built the same way: break a working program on purpose, fix it, then write your own.</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Four tasks, in increasing order of thought. Circle is arithmetic with a module. Average is round(). Change is exercise 2 in disguise - the biggest coin first, then the remainder, four times - and the one most worth doing. Savings is the first use of ** in a program and a quiet preview of the accumulator idea: the amount grows by the same factor every year, and (1 + rate / 100) ** years does all the years at once. Solutions are not in the code folder on purpose; the forum is the place to compare.</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Closing card. Next week's recitation assumes if/elif/else, while, for and range from lectures 2-1 and 2-2, and it is built around small games: guess the number, Collatz, patterns, Monte Carlo.</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Content Placeholder 2"/>
          <p:cNvSpPr>
            <a:spLocks noGrp="1"/>
          </p:cNvSpPr>
          <p:nvPr>
            <p:ph idx="1"/>
          </p:nvPr>
        </p:nvSpPr>
        <p:spPr/>
        <p:txBody>
          <a:bodyPr/>
          <a:lstStyle>
            <a:lvl1pPr>
              <a:defRPr/>
            </a:lvl1pPr>
            <a:lvl2pPr>
              <a:defRPr/>
            </a:lvl2pPr>
            <a:lvl3pPr>
              <a:defRPr/>
            </a:lvl3pPr>
            <a:lvl4pPr>
              <a:defRPr/>
            </a:lvl4pPr>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711296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CECF3"/>
          </a:solidFill>
          <a:ln/>
        </p:spPr>
        <p:txBody>
          <a:bodyPr/>
          <a:lstStyle/>
          <a:p>
            <a:endParaRPr lang="en-US" dirty="0"/>
          </a:p>
        </p:txBody>
      </p:sp>
      <p:sp>
        <p:nvSpPr>
          <p:cNvPr id="3" name="Shape 1"/>
          <p:cNvSpPr/>
          <p:nvPr/>
        </p:nvSpPr>
        <p:spPr>
          <a:xfrm>
            <a:off x="0" y="0"/>
            <a:ext cx="12191695" cy="6858000"/>
          </a:xfrm>
          <a:prstGeom prst="rect">
            <a:avLst/>
          </a:prstGeom>
          <a:solidFill>
            <a:srgbClr val="FFFFFF">
              <a:alpha val="95000"/>
            </a:srgbClr>
          </a:solidFill>
          <a:ln/>
        </p:spPr>
        <p:txBody>
          <a:bodyPr/>
          <a:lstStyle/>
          <a:p>
            <a:endParaRPr lang="en-US" dirty="0"/>
          </a:p>
        </p:txBody>
      </p:sp>
    </p:spTree>
    <p:extLst>
      <p:ext uri="{BB962C8B-B14F-4D97-AF65-F5344CB8AC3E}">
        <p14:creationId xmlns:p14="http://schemas.microsoft.com/office/powerpoint/2010/main" val="298643646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01 - Cover">
    <p:spTree>
      <p:nvGrpSpPr>
        <p:cNvPr id="1" name=""/>
        <p:cNvGrpSpPr/>
        <p:nvPr/>
      </p:nvGrpSpPr>
      <p:grpSpPr>
        <a:xfrm>
          <a:off x="0" y="0"/>
          <a:ext cx="0" cy="0"/>
          <a:chOff x="0" y="0"/>
          <a:chExt cx="0" cy="0"/>
        </a:xfrm>
      </p:grpSpPr>
      <p:sp>
        <p:nvSpPr>
          <p:cNvPr id="2" name="Cover panel"/>
          <p:cNvSpPr/>
          <p:nvPr/>
        </p:nvSpPr>
        <p:spPr>
          <a:xfrm>
            <a:off x="7616952" y="0"/>
            <a:ext cx="4572000" cy="6858000"/>
          </a:xfrm>
          <a:prstGeom prst="rect">
            <a:avLst/>
          </a:prstGeom>
          <a:solidFill>
            <a:srgbClr val="1B3A5C"/>
          </a:solidFill>
          <a:ln>
            <a:noFill/>
          </a:ln>
        </p:spPr>
        <p:txBody>
          <a:bodyPr rtlCol="0" anchor="ctr"/>
          <a:lstStyle/>
          <a:p>
            <a:endParaRPr/>
          </a:p>
        </p:txBody>
      </p:sp>
      <p:sp>
        <p:nvSpPr>
          <p:cNvPr id="3" name="Cover glyph"/>
          <p:cNvSpPr txBox="1"/>
          <p:nvPr/>
        </p:nvSpPr>
        <p:spPr>
          <a:xfrm>
            <a:off x="7616952" y="0"/>
            <a:ext cx="4572000" cy="6858000"/>
          </a:xfrm>
          <a:prstGeom prst="rect">
            <a:avLst/>
          </a:prstGeom>
          <a:noFill/>
        </p:spPr>
        <p:txBody>
          <a:bodyPr wrap="square" lIns="0" tIns="0" rIns="0" bIns="0" anchor="ctr">
            <a:noAutofit/>
          </a:bodyPr>
          <a:lstStyle/>
          <a:p>
            <a:pPr algn="ctr"/>
            <a:r>
              <a:rPr lang="en-US" sz="15000" b="0" i="0">
                <a:solidFill>
                  <a:srgbClr val="F2F3F5"/>
                </a:solidFill>
                <a:latin typeface="Consolas"/>
              </a:rPr>
              <a:t>&gt;&gt;&gt;</a:t>
            </a:r>
          </a:p>
        </p:txBody>
      </p:sp>
      <p:sp>
        <p:nvSpPr>
          <p:cNvPr id="4" name="Eyebrow"/>
          <p:cNvSpPr txBox="1"/>
          <p:nvPr/>
        </p:nvSpPr>
        <p:spPr>
          <a:xfrm>
            <a:off x="640080" y="548640"/>
            <a:ext cx="7315200" cy="365760"/>
          </a:xfrm>
          <a:prstGeom prst="rect">
            <a:avLst/>
          </a:prstGeom>
          <a:noFill/>
        </p:spPr>
        <p:txBody>
          <a:bodyPr wrap="square" lIns="0" tIns="0" rIns="0" bIns="0" anchor="ctr">
            <a:noAutofit/>
          </a:bodyPr>
          <a:lstStyle/>
          <a:p>
            <a:pPr algn="l"/>
            <a:r>
              <a:rPr lang="en-US" sz="1400" spc="200" dirty="0">
                <a:solidFill>
                  <a:srgbClr val="A64B00"/>
                </a:solidFill>
                <a:latin typeface="Raleway"/>
              </a:rPr>
              <a:t>INTRO TO CS </a:t>
            </a:r>
            <a:r>
              <a:rPr lang="en-US" sz="1400" b="0" i="0" spc="200" dirty="0">
                <a:solidFill>
                  <a:srgbClr val="A64B00"/>
                </a:solidFill>
                <a:latin typeface="Raleway"/>
              </a:rPr>
              <a:t>COURSE · WEEK 1 · RECITATION 1</a:t>
            </a:r>
          </a:p>
        </p:txBody>
      </p:sp>
      <p:sp>
        <p:nvSpPr>
          <p:cNvPr id="5" name="Cover title"/>
          <p:cNvSpPr txBox="1"/>
          <p:nvPr/>
        </p:nvSpPr>
        <p:spPr>
          <a:xfrm>
            <a:off x="640080" y="2103120"/>
            <a:ext cx="6684264" cy="1463040"/>
          </a:xfrm>
          <a:prstGeom prst="rect">
            <a:avLst/>
          </a:prstGeom>
          <a:noFill/>
        </p:spPr>
        <p:txBody>
          <a:bodyPr wrap="square" lIns="0" tIns="0" rIns="0" bIns="0" anchor="b">
            <a:noAutofit/>
          </a:bodyPr>
          <a:lstStyle/>
          <a:p>
            <a:pPr algn="l">
              <a:lnSpc>
                <a:spcPct val="100000"/>
              </a:lnSpc>
            </a:pPr>
            <a:r>
              <a:rPr lang="en-US" sz="5400" b="1" i="0">
                <a:solidFill>
                  <a:srgbClr val="1F4E79"/>
                </a:solidFill>
                <a:latin typeface="Raleway"/>
              </a:rPr>
              <a:t>Recitation 1</a:t>
            </a:r>
          </a:p>
        </p:txBody>
      </p:sp>
      <p:sp>
        <p:nvSpPr>
          <p:cNvPr id="6" name="Cover subtitle"/>
          <p:cNvSpPr txBox="1"/>
          <p:nvPr/>
        </p:nvSpPr>
        <p:spPr>
          <a:xfrm>
            <a:off x="640080" y="3657600"/>
            <a:ext cx="6684264" cy="640080"/>
          </a:xfrm>
          <a:prstGeom prst="rect">
            <a:avLst/>
          </a:prstGeom>
          <a:noFill/>
        </p:spPr>
        <p:txBody>
          <a:bodyPr wrap="square" lIns="0" tIns="0" rIns="0" bIns="0" anchor="t">
            <a:noAutofit/>
          </a:bodyPr>
          <a:lstStyle/>
          <a:p>
            <a:pPr algn="l"/>
            <a:r>
              <a:rPr lang="en-US" sz="3200" b="1" i="0">
                <a:solidFill>
                  <a:srgbClr val="A64B00"/>
                </a:solidFill>
                <a:latin typeface="Raleway"/>
              </a:rPr>
              <a:t>Types, expressions and I/O</a:t>
            </a:r>
          </a:p>
        </p:txBody>
      </p:sp>
      <p:pic>
        <p:nvPicPr>
          <p:cNvPr id="7" name="Reichman University logo" descr="runi_logo.png"/>
          <p:cNvPicPr>
            <a:picLocks noChangeAspect="1"/>
          </p:cNvPicPr>
          <p:nvPr/>
        </p:nvPicPr>
        <p:blipFill>
          <a:blip r:embed="rId3"/>
          <a:stretch>
            <a:fillRect/>
          </a:stretch>
        </p:blipFill>
        <p:spPr>
          <a:xfrm>
            <a:off x="640080" y="5669280"/>
            <a:ext cx="1339215" cy="8229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02 - Recitation overview">
    <p:spTree>
      <p:nvGrpSpPr>
        <p:cNvPr id="1" name=""/>
        <p:cNvGrpSpPr/>
        <p:nvPr/>
      </p:nvGrpSpPr>
      <p:grpSpPr>
        <a:xfrm>
          <a:off x="0" y="0"/>
          <a:ext cx="0" cy="0"/>
          <a:chOff x="0" y="0"/>
          <a:chExt cx="0" cy="0"/>
        </a:xfrm>
      </p:grpSpPr>
      <p:sp>
        <p:nvSpPr>
          <p:cNvPr id="2" name="Slide number"/>
          <p:cNvSpPr txBox="1"/>
          <p:nvPr/>
        </p:nvSpPr>
        <p:spPr>
          <a:xfrm>
            <a:off x="11430000" y="6446520"/>
            <a:ext cx="548640" cy="320040"/>
          </a:xfrm>
          <a:prstGeom prst="rect">
            <a:avLst/>
          </a:prstGeom>
          <a:noFill/>
        </p:spPr>
        <p:txBody>
          <a:bodyPr wrap="none" lIns="0" tIns="0" rIns="0" bIns="0" anchor="ctr">
            <a:spAutoFit/>
          </a:bodyPr>
          <a:lstStyle/>
          <a:p>
            <a:pPr algn="r"/>
            <a:fld id="{007A6A40-1A7B-4A1B-9D78-D7D11C5A8472}" type="slidenum">
              <a:rPr lang="en-US" sz="1200">
                <a:solidFill>
                  <a:srgbClr val="1B3A5C"/>
                </a:solidFill>
                <a:latin typeface="Raleway"/>
              </a:rPr>
              <a:t>2</a:t>
            </a:fld>
            <a:endParaRPr lang="en-US" sz="1200">
              <a:solidFill>
                <a:srgbClr val="1B3A5C"/>
              </a:solidFill>
              <a:latin typeface="Raleway"/>
            </a:endParaRPr>
          </a:p>
        </p:txBody>
      </p:sp>
      <p:sp>
        <p:nvSpPr>
          <p:cNvPr id="3" name="Title"/>
          <p:cNvSpPr txBox="1"/>
          <p:nvPr/>
        </p:nvSpPr>
        <p:spPr>
          <a:xfrm>
            <a:off x="640080" y="502920"/>
            <a:ext cx="11411712" cy="822960"/>
          </a:xfrm>
          <a:prstGeom prst="rect">
            <a:avLst/>
          </a:prstGeom>
          <a:noFill/>
        </p:spPr>
        <p:txBody>
          <a:bodyPr wrap="square" lIns="0" tIns="0" rIns="0" bIns="0" anchor="ctr">
            <a:noAutofit/>
          </a:bodyPr>
          <a:lstStyle/>
          <a:p>
            <a:pPr algn="l"/>
            <a:r>
              <a:rPr lang="en-US" sz="4000" b="1" i="0">
                <a:solidFill>
                  <a:srgbClr val="1F4E79"/>
                </a:solidFill>
                <a:latin typeface="Raleway"/>
              </a:rPr>
              <a:t>Recitation overview</a:t>
            </a:r>
          </a:p>
        </p:txBody>
      </p:sp>
      <p:sp>
        <p:nvSpPr>
          <p:cNvPr id="4" name="Strip Warm-up"/>
          <p:cNvSpPr/>
          <p:nvPr/>
        </p:nvSpPr>
        <p:spPr>
          <a:xfrm>
            <a:off x="640080" y="1389888"/>
            <a:ext cx="928116"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Warm-up</a:t>
            </a:r>
          </a:p>
        </p:txBody>
      </p:sp>
      <p:sp>
        <p:nvSpPr>
          <p:cNvPr id="5" name="Strip Receipt &amp; time"/>
          <p:cNvSpPr/>
          <p:nvPr/>
        </p:nvSpPr>
        <p:spPr>
          <a:xfrm>
            <a:off x="1677924" y="1389888"/>
            <a:ext cx="1472184"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Receipt &amp; time</a:t>
            </a:r>
          </a:p>
        </p:txBody>
      </p:sp>
      <p:sp>
        <p:nvSpPr>
          <p:cNvPr id="6" name="Strip Bugs"/>
          <p:cNvSpPr/>
          <p:nvPr/>
        </p:nvSpPr>
        <p:spPr>
          <a:xfrm>
            <a:off x="3259836" y="1389888"/>
            <a:ext cx="694944"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Bugs</a:t>
            </a:r>
          </a:p>
        </p:txBody>
      </p:sp>
      <p:sp>
        <p:nvSpPr>
          <p:cNvPr id="7" name="Strip Booleans"/>
          <p:cNvSpPr/>
          <p:nvPr/>
        </p:nvSpPr>
        <p:spPr>
          <a:xfrm>
            <a:off x="4064508" y="1389888"/>
            <a:ext cx="1005840"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Booleans</a:t>
            </a:r>
          </a:p>
        </p:txBody>
      </p:sp>
      <p:sp>
        <p:nvSpPr>
          <p:cNvPr id="8" name="Strip Randomness"/>
          <p:cNvSpPr/>
          <p:nvPr/>
        </p:nvSpPr>
        <p:spPr>
          <a:xfrm>
            <a:off x="5180076" y="1389888"/>
            <a:ext cx="1161288"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Randomness</a:t>
            </a:r>
          </a:p>
        </p:txBody>
      </p:sp>
      <p:sp>
        <p:nvSpPr>
          <p:cNvPr id="9" name="Strip Extra"/>
          <p:cNvSpPr/>
          <p:nvPr/>
        </p:nvSpPr>
        <p:spPr>
          <a:xfrm>
            <a:off x="6451092" y="1389888"/>
            <a:ext cx="772668"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Extra</a:t>
            </a:r>
          </a:p>
        </p:txBody>
      </p:sp>
      <p:sp>
        <p:nvSpPr>
          <p:cNvPr id="10" name="Strip Wrap-up"/>
          <p:cNvSpPr/>
          <p:nvPr/>
        </p:nvSpPr>
        <p:spPr>
          <a:xfrm>
            <a:off x="7333488" y="1389888"/>
            <a:ext cx="928116"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Wrap-up</a:t>
            </a:r>
          </a:p>
        </p:txBody>
      </p:sp>
      <p:sp>
        <p:nvSpPr>
          <p:cNvPr id="11" name="Card 1"/>
          <p:cNvSpPr/>
          <p:nvPr/>
        </p:nvSpPr>
        <p:spPr>
          <a:xfrm>
            <a:off x="640080" y="2103120"/>
            <a:ext cx="2651760" cy="3017520"/>
          </a:xfrm>
          <a:prstGeom prst="roundRect">
            <a:avLst>
              <a:gd name="adj" fmla="val 6000"/>
            </a:avLst>
          </a:prstGeom>
          <a:solidFill>
            <a:srgbClr val="F2F3F5"/>
          </a:solidFill>
          <a:ln w="15875">
            <a:solidFill>
              <a:srgbClr val="D8DBE0"/>
            </a:solidFill>
          </a:ln>
        </p:spPr>
        <p:txBody>
          <a:bodyPr rtlCol="0" anchor="ctr"/>
          <a:lstStyle/>
          <a:p>
            <a:endParaRPr/>
          </a:p>
        </p:txBody>
      </p:sp>
      <p:sp>
        <p:nvSpPr>
          <p:cNvPr id="12" name="Card 1 text"/>
          <p:cNvSpPr txBox="1"/>
          <p:nvPr/>
        </p:nvSpPr>
        <p:spPr>
          <a:xfrm>
            <a:off x="841247" y="2103120"/>
            <a:ext cx="2249424" cy="3017520"/>
          </a:xfrm>
          <a:prstGeom prst="rect">
            <a:avLst/>
          </a:prstGeom>
          <a:noFill/>
        </p:spPr>
        <p:txBody>
          <a:bodyPr wrap="square" lIns="0" tIns="0" rIns="0" bIns="0" anchor="ctr">
            <a:noAutofit/>
          </a:bodyPr>
          <a:lstStyle/>
          <a:p>
            <a:pPr algn="l">
              <a:spcAft>
                <a:spcPts val="400"/>
              </a:spcAft>
            </a:pPr>
            <a:r>
              <a:rPr lang="en-US" sz="3400" b="1" i="0">
                <a:solidFill>
                  <a:srgbClr val="A64B00"/>
                </a:solidFill>
                <a:latin typeface="Raleway"/>
              </a:rPr>
              <a:t>1</a:t>
            </a:r>
          </a:p>
          <a:p>
            <a:pPr algn="l">
              <a:spcAft>
                <a:spcPts val="600"/>
              </a:spcAft>
            </a:pPr>
            <a:r>
              <a:rPr lang="en-US" sz="2200" b="1" i="0">
                <a:solidFill>
                  <a:srgbClr val="1B3A5C"/>
                </a:solidFill>
                <a:latin typeface="Raleway"/>
              </a:rPr>
              <a:t>REPL warm-up</a:t>
            </a:r>
          </a:p>
          <a:p>
            <a:pPr algn="l"/>
            <a:r>
              <a:rPr lang="en-US" sz="1700" b="0" i="0">
                <a:solidFill>
                  <a:srgbClr val="44546A"/>
                </a:solidFill>
                <a:latin typeface="Raleway"/>
              </a:rPr>
              <a:t>predict, then run</a:t>
            </a:r>
          </a:p>
        </p:txBody>
      </p:sp>
      <p:sp>
        <p:nvSpPr>
          <p:cNvPr id="13" name="Card 2"/>
          <p:cNvSpPr/>
          <p:nvPr/>
        </p:nvSpPr>
        <p:spPr>
          <a:xfrm>
            <a:off x="3557015" y="2103120"/>
            <a:ext cx="2651760" cy="3017520"/>
          </a:xfrm>
          <a:prstGeom prst="roundRect">
            <a:avLst>
              <a:gd name="adj" fmla="val 6000"/>
            </a:avLst>
          </a:prstGeom>
          <a:solidFill>
            <a:srgbClr val="F2F3F5"/>
          </a:solidFill>
          <a:ln w="15875">
            <a:solidFill>
              <a:srgbClr val="D8DBE0"/>
            </a:solidFill>
          </a:ln>
        </p:spPr>
        <p:txBody>
          <a:bodyPr rtlCol="0" anchor="ctr"/>
          <a:lstStyle/>
          <a:p>
            <a:endParaRPr/>
          </a:p>
        </p:txBody>
      </p:sp>
      <p:sp>
        <p:nvSpPr>
          <p:cNvPr id="14" name="Card 2 text"/>
          <p:cNvSpPr txBox="1"/>
          <p:nvPr/>
        </p:nvSpPr>
        <p:spPr>
          <a:xfrm>
            <a:off x="3758183" y="2103120"/>
            <a:ext cx="2249424" cy="3017520"/>
          </a:xfrm>
          <a:prstGeom prst="rect">
            <a:avLst/>
          </a:prstGeom>
          <a:noFill/>
        </p:spPr>
        <p:txBody>
          <a:bodyPr wrap="square" lIns="0" tIns="0" rIns="0" bIns="0" anchor="ctr">
            <a:noAutofit/>
          </a:bodyPr>
          <a:lstStyle/>
          <a:p>
            <a:pPr algn="l">
              <a:spcAft>
                <a:spcPts val="400"/>
              </a:spcAft>
            </a:pPr>
            <a:r>
              <a:rPr lang="en-US" sz="3400" b="1" i="0">
                <a:solidFill>
                  <a:srgbClr val="A64B00"/>
                </a:solidFill>
                <a:latin typeface="Raleway"/>
              </a:rPr>
              <a:t>2</a:t>
            </a:r>
          </a:p>
          <a:p>
            <a:pPr algn="l">
              <a:spcAft>
                <a:spcPts val="600"/>
              </a:spcAft>
            </a:pPr>
            <a:r>
              <a:rPr lang="en-US" sz="2200" b="1" i="0">
                <a:solidFill>
                  <a:srgbClr val="1B3A5C"/>
                </a:solidFill>
                <a:latin typeface="Raleway"/>
              </a:rPr>
              <a:t>Receipt and time</a:t>
            </a:r>
          </a:p>
          <a:p>
            <a:pPr algn="l"/>
            <a:r>
              <a:rPr lang="en-US" sz="1700" b="0" i="0">
                <a:solidFill>
                  <a:srgbClr val="44546A"/>
                </a:solidFill>
                <a:latin typeface="Raleway"/>
              </a:rPr>
              <a:t>input, casting, // and %</a:t>
            </a:r>
          </a:p>
        </p:txBody>
      </p:sp>
      <p:sp>
        <p:nvSpPr>
          <p:cNvPr id="15" name="Card 3"/>
          <p:cNvSpPr/>
          <p:nvPr/>
        </p:nvSpPr>
        <p:spPr>
          <a:xfrm>
            <a:off x="6473952" y="2103120"/>
            <a:ext cx="2651760" cy="3017520"/>
          </a:xfrm>
          <a:prstGeom prst="roundRect">
            <a:avLst>
              <a:gd name="adj" fmla="val 6000"/>
            </a:avLst>
          </a:prstGeom>
          <a:solidFill>
            <a:srgbClr val="F2F3F5"/>
          </a:solidFill>
          <a:ln w="15875">
            <a:solidFill>
              <a:srgbClr val="D8DBE0"/>
            </a:solidFill>
          </a:ln>
        </p:spPr>
        <p:txBody>
          <a:bodyPr rtlCol="0" anchor="ctr"/>
          <a:lstStyle/>
          <a:p>
            <a:endParaRPr/>
          </a:p>
        </p:txBody>
      </p:sp>
      <p:sp>
        <p:nvSpPr>
          <p:cNvPr id="16" name="Card 3 text"/>
          <p:cNvSpPr txBox="1"/>
          <p:nvPr/>
        </p:nvSpPr>
        <p:spPr>
          <a:xfrm>
            <a:off x="6675120" y="2103120"/>
            <a:ext cx="2249424" cy="3017520"/>
          </a:xfrm>
          <a:prstGeom prst="rect">
            <a:avLst/>
          </a:prstGeom>
          <a:noFill/>
        </p:spPr>
        <p:txBody>
          <a:bodyPr wrap="square" lIns="0" tIns="0" rIns="0" bIns="0" anchor="ctr">
            <a:noAutofit/>
          </a:bodyPr>
          <a:lstStyle/>
          <a:p>
            <a:pPr algn="l">
              <a:spcAft>
                <a:spcPts val="400"/>
              </a:spcAft>
            </a:pPr>
            <a:r>
              <a:rPr lang="en-US" sz="3400" b="1" i="0">
                <a:solidFill>
                  <a:srgbClr val="A64B00"/>
                </a:solidFill>
                <a:latin typeface="Raleway"/>
              </a:rPr>
              <a:t>3</a:t>
            </a:r>
          </a:p>
          <a:p>
            <a:pPr algn="l">
              <a:spcAft>
                <a:spcPts val="600"/>
              </a:spcAft>
            </a:pPr>
            <a:r>
              <a:rPr lang="en-US" sz="2200" b="1" i="0">
                <a:solidFill>
                  <a:srgbClr val="1B3A5C"/>
                </a:solidFill>
                <a:latin typeface="Raleway"/>
              </a:rPr>
              <a:t>Bugs and booleans</a:t>
            </a:r>
          </a:p>
          <a:p>
            <a:pPr algn="l"/>
            <a:r>
              <a:rPr lang="en-US" sz="1700" b="0" i="0">
                <a:solidFill>
                  <a:srgbClr val="44546A"/>
                </a:solidFill>
                <a:latin typeface="Raleway"/>
              </a:rPr>
              <a:t>three kinds of errors; answers without if</a:t>
            </a:r>
          </a:p>
        </p:txBody>
      </p:sp>
      <p:sp>
        <p:nvSpPr>
          <p:cNvPr id="17" name="Card 4"/>
          <p:cNvSpPr/>
          <p:nvPr/>
        </p:nvSpPr>
        <p:spPr>
          <a:xfrm>
            <a:off x="9390888" y="2103120"/>
            <a:ext cx="2651760" cy="3017520"/>
          </a:xfrm>
          <a:prstGeom prst="roundRect">
            <a:avLst>
              <a:gd name="adj" fmla="val 6000"/>
            </a:avLst>
          </a:prstGeom>
          <a:solidFill>
            <a:srgbClr val="F2F3F5"/>
          </a:solidFill>
          <a:ln w="15875">
            <a:solidFill>
              <a:srgbClr val="D8DBE0"/>
            </a:solidFill>
          </a:ln>
        </p:spPr>
        <p:txBody>
          <a:bodyPr rtlCol="0" anchor="ctr"/>
          <a:lstStyle/>
          <a:p>
            <a:endParaRPr/>
          </a:p>
        </p:txBody>
      </p:sp>
      <p:sp>
        <p:nvSpPr>
          <p:cNvPr id="18" name="Card 4 text"/>
          <p:cNvSpPr txBox="1"/>
          <p:nvPr/>
        </p:nvSpPr>
        <p:spPr>
          <a:xfrm>
            <a:off x="9592056" y="2103120"/>
            <a:ext cx="2249424" cy="3017520"/>
          </a:xfrm>
          <a:prstGeom prst="rect">
            <a:avLst/>
          </a:prstGeom>
          <a:noFill/>
        </p:spPr>
        <p:txBody>
          <a:bodyPr wrap="square" lIns="0" tIns="0" rIns="0" bIns="0" anchor="ctr">
            <a:noAutofit/>
          </a:bodyPr>
          <a:lstStyle/>
          <a:p>
            <a:pPr algn="l">
              <a:spcAft>
                <a:spcPts val="400"/>
              </a:spcAft>
            </a:pPr>
            <a:r>
              <a:rPr lang="en-US" sz="3400" b="1" i="0">
                <a:solidFill>
                  <a:srgbClr val="A64B00"/>
                </a:solidFill>
                <a:latin typeface="Raleway"/>
              </a:rPr>
              <a:t>4</a:t>
            </a:r>
          </a:p>
          <a:p>
            <a:pPr algn="l">
              <a:spcAft>
                <a:spcPts val="600"/>
              </a:spcAft>
            </a:pPr>
            <a:r>
              <a:rPr lang="en-US" sz="2200" b="1" i="0">
                <a:solidFill>
                  <a:srgbClr val="1B3A5C"/>
                </a:solidFill>
                <a:latin typeface="Raleway"/>
              </a:rPr>
              <a:t>Randomness</a:t>
            </a:r>
          </a:p>
          <a:p>
            <a:pPr algn="l"/>
            <a:r>
              <a:rPr lang="en-US" sz="1700" b="0" i="0">
                <a:solidFill>
                  <a:srgbClr val="44546A"/>
                </a:solidFill>
                <a:latin typeface="Raleway"/>
              </a:rPr>
              <a:t>a fair die, built step by step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par>
                                <p:cTn id="32" presetID="10" presetClass="entr" presetSubtype="0" fill="hold"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03 - Rules - How this recitation works">
    <p:spTree>
      <p:nvGrpSpPr>
        <p:cNvPr id="1" name=""/>
        <p:cNvGrpSpPr/>
        <p:nvPr/>
      </p:nvGrpSpPr>
      <p:grpSpPr>
        <a:xfrm>
          <a:off x="0" y="0"/>
          <a:ext cx="0" cy="0"/>
          <a:chOff x="0" y="0"/>
          <a:chExt cx="0" cy="0"/>
        </a:xfrm>
      </p:grpSpPr>
      <p:sp>
        <p:nvSpPr>
          <p:cNvPr id="2" name="Slide number"/>
          <p:cNvSpPr txBox="1"/>
          <p:nvPr/>
        </p:nvSpPr>
        <p:spPr>
          <a:xfrm>
            <a:off x="11430000" y="6446520"/>
            <a:ext cx="548640" cy="320040"/>
          </a:xfrm>
          <a:prstGeom prst="rect">
            <a:avLst/>
          </a:prstGeom>
          <a:noFill/>
        </p:spPr>
        <p:txBody>
          <a:bodyPr wrap="none" lIns="0" tIns="0" rIns="0" bIns="0" anchor="ctr">
            <a:spAutoFit/>
          </a:bodyPr>
          <a:lstStyle/>
          <a:p>
            <a:pPr algn="r"/>
            <a:fld id="{007A6A40-1A7B-4A1B-9D78-D7D11C5A8472}" type="slidenum">
              <a:rPr lang="en-US" sz="1200">
                <a:solidFill>
                  <a:srgbClr val="1B3A5C"/>
                </a:solidFill>
                <a:latin typeface="Raleway"/>
              </a:rPr>
              <a:t>3</a:t>
            </a:fld>
            <a:endParaRPr lang="en-US" sz="1200">
              <a:solidFill>
                <a:srgbClr val="1B3A5C"/>
              </a:solidFill>
              <a:latin typeface="Raleway"/>
            </a:endParaRPr>
          </a:p>
        </p:txBody>
      </p:sp>
      <p:sp>
        <p:nvSpPr>
          <p:cNvPr id="3" name="Title"/>
          <p:cNvSpPr txBox="1"/>
          <p:nvPr/>
        </p:nvSpPr>
        <p:spPr>
          <a:xfrm>
            <a:off x="640080" y="502920"/>
            <a:ext cx="11411712" cy="822960"/>
          </a:xfrm>
          <a:prstGeom prst="rect">
            <a:avLst/>
          </a:prstGeom>
          <a:noFill/>
        </p:spPr>
        <p:txBody>
          <a:bodyPr wrap="square" lIns="0" tIns="0" rIns="0" bIns="0" anchor="ctr">
            <a:noAutofit/>
          </a:bodyPr>
          <a:lstStyle/>
          <a:p>
            <a:pPr algn="l"/>
            <a:r>
              <a:rPr lang="en-US" sz="4000" b="1" i="0">
                <a:solidFill>
                  <a:srgbClr val="1F4E79"/>
                </a:solidFill>
                <a:latin typeface="Raleway"/>
              </a:rPr>
              <a:t>How this recitation works</a:t>
            </a:r>
          </a:p>
        </p:txBody>
      </p:sp>
      <p:sp>
        <p:nvSpPr>
          <p:cNvPr id="4" name="Strip Warm-up"/>
          <p:cNvSpPr/>
          <p:nvPr/>
        </p:nvSpPr>
        <p:spPr>
          <a:xfrm>
            <a:off x="640080" y="1389888"/>
            <a:ext cx="928116"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Warm-up</a:t>
            </a:r>
          </a:p>
        </p:txBody>
      </p:sp>
      <p:sp>
        <p:nvSpPr>
          <p:cNvPr id="5" name="Strip Receipt &amp; time"/>
          <p:cNvSpPr/>
          <p:nvPr/>
        </p:nvSpPr>
        <p:spPr>
          <a:xfrm>
            <a:off x="1677924" y="1389888"/>
            <a:ext cx="1472184"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Receipt &amp; time</a:t>
            </a:r>
          </a:p>
        </p:txBody>
      </p:sp>
      <p:sp>
        <p:nvSpPr>
          <p:cNvPr id="6" name="Strip Bugs"/>
          <p:cNvSpPr/>
          <p:nvPr/>
        </p:nvSpPr>
        <p:spPr>
          <a:xfrm>
            <a:off x="3259836" y="1389888"/>
            <a:ext cx="694944"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Bugs</a:t>
            </a:r>
          </a:p>
        </p:txBody>
      </p:sp>
      <p:sp>
        <p:nvSpPr>
          <p:cNvPr id="7" name="Strip Booleans"/>
          <p:cNvSpPr/>
          <p:nvPr/>
        </p:nvSpPr>
        <p:spPr>
          <a:xfrm>
            <a:off x="4064508" y="1389888"/>
            <a:ext cx="1005840"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Booleans</a:t>
            </a:r>
          </a:p>
        </p:txBody>
      </p:sp>
      <p:sp>
        <p:nvSpPr>
          <p:cNvPr id="8" name="Strip Randomness"/>
          <p:cNvSpPr/>
          <p:nvPr/>
        </p:nvSpPr>
        <p:spPr>
          <a:xfrm>
            <a:off x="5180076" y="1389888"/>
            <a:ext cx="1161288"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Randomness</a:t>
            </a:r>
          </a:p>
        </p:txBody>
      </p:sp>
      <p:sp>
        <p:nvSpPr>
          <p:cNvPr id="9" name="Strip Extra"/>
          <p:cNvSpPr/>
          <p:nvPr/>
        </p:nvSpPr>
        <p:spPr>
          <a:xfrm>
            <a:off x="6451092" y="1389888"/>
            <a:ext cx="772668"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Extra</a:t>
            </a:r>
          </a:p>
        </p:txBody>
      </p:sp>
      <p:sp>
        <p:nvSpPr>
          <p:cNvPr id="10" name="Strip Wrap-up"/>
          <p:cNvSpPr/>
          <p:nvPr/>
        </p:nvSpPr>
        <p:spPr>
          <a:xfrm>
            <a:off x="7333488" y="1389888"/>
            <a:ext cx="928116"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Wrap-up</a:t>
            </a:r>
          </a:p>
        </p:txBody>
      </p:sp>
      <p:sp>
        <p:nvSpPr>
          <p:cNvPr id="11" name="Rule 1"/>
          <p:cNvSpPr/>
          <p:nvPr/>
        </p:nvSpPr>
        <p:spPr>
          <a:xfrm>
            <a:off x="640080" y="2103120"/>
            <a:ext cx="2528316" cy="3291840"/>
          </a:xfrm>
          <a:prstGeom prst="roundRect">
            <a:avLst>
              <a:gd name="adj" fmla="val 6000"/>
            </a:avLst>
          </a:prstGeom>
          <a:solidFill>
            <a:srgbClr val="F2F3F5"/>
          </a:solidFill>
          <a:ln w="15875">
            <a:solidFill>
              <a:srgbClr val="D8DBE0"/>
            </a:solidFill>
          </a:ln>
        </p:spPr>
        <p:txBody>
          <a:bodyPr rtlCol="0" anchor="ctr"/>
          <a:lstStyle/>
          <a:p>
            <a:endParaRPr/>
          </a:p>
        </p:txBody>
      </p:sp>
      <p:sp>
        <p:nvSpPr>
          <p:cNvPr id="12" name="Rule 1 text"/>
          <p:cNvSpPr txBox="1"/>
          <p:nvPr/>
        </p:nvSpPr>
        <p:spPr>
          <a:xfrm>
            <a:off x="841247" y="2103120"/>
            <a:ext cx="2125980" cy="3291840"/>
          </a:xfrm>
          <a:prstGeom prst="rect">
            <a:avLst/>
          </a:prstGeom>
          <a:noFill/>
        </p:spPr>
        <p:txBody>
          <a:bodyPr wrap="square" lIns="0" tIns="0" rIns="0" bIns="0" anchor="ctr">
            <a:noAutofit/>
          </a:bodyPr>
          <a:lstStyle/>
          <a:p>
            <a:pPr algn="l">
              <a:spcAft>
                <a:spcPts val="800"/>
              </a:spcAft>
            </a:pPr>
            <a:r>
              <a:rPr lang="en-US" sz="2200" b="1" i="0">
                <a:solidFill>
                  <a:srgbClr val="1B3A5C"/>
                </a:solidFill>
                <a:latin typeface="Raleway"/>
              </a:rPr>
              <a:t>Try first</a:t>
            </a:r>
          </a:p>
          <a:p>
            <a:pPr algn="l"/>
            <a:r>
              <a:rPr lang="en-US" sz="1800" b="0" i="0">
                <a:solidFill>
                  <a:srgbClr val="44546A"/>
                </a:solidFill>
                <a:latin typeface="Raleway"/>
              </a:rPr>
              <a:t>Every exercise starts with time on your own - the chip says how many minutes. No solution appears before it runs out.</a:t>
            </a:r>
          </a:p>
        </p:txBody>
      </p:sp>
      <p:sp>
        <p:nvSpPr>
          <p:cNvPr id="13" name="Rule 2"/>
          <p:cNvSpPr/>
          <p:nvPr/>
        </p:nvSpPr>
        <p:spPr>
          <a:xfrm>
            <a:off x="3433572" y="2103120"/>
            <a:ext cx="2528316" cy="3291840"/>
          </a:xfrm>
          <a:prstGeom prst="roundRect">
            <a:avLst>
              <a:gd name="adj" fmla="val 6000"/>
            </a:avLst>
          </a:prstGeom>
          <a:solidFill>
            <a:srgbClr val="F2F3F5"/>
          </a:solidFill>
          <a:ln w="15875">
            <a:solidFill>
              <a:srgbClr val="D8DBE0"/>
            </a:solidFill>
          </a:ln>
        </p:spPr>
        <p:txBody>
          <a:bodyPr rtlCol="0" anchor="ctr"/>
          <a:lstStyle/>
          <a:p>
            <a:endParaRPr/>
          </a:p>
        </p:txBody>
      </p:sp>
      <p:sp>
        <p:nvSpPr>
          <p:cNvPr id="14" name="Rule 2 text"/>
          <p:cNvSpPr txBox="1"/>
          <p:nvPr/>
        </p:nvSpPr>
        <p:spPr>
          <a:xfrm>
            <a:off x="3634740" y="2103120"/>
            <a:ext cx="2125980" cy="3291840"/>
          </a:xfrm>
          <a:prstGeom prst="rect">
            <a:avLst/>
          </a:prstGeom>
          <a:noFill/>
        </p:spPr>
        <p:txBody>
          <a:bodyPr wrap="square" lIns="0" tIns="0" rIns="0" bIns="0" anchor="ctr">
            <a:noAutofit/>
          </a:bodyPr>
          <a:lstStyle/>
          <a:p>
            <a:pPr algn="l">
              <a:spcAft>
                <a:spcPts val="800"/>
              </a:spcAft>
            </a:pPr>
            <a:r>
              <a:rPr lang="en-US" sz="2200" b="1" i="0">
                <a:solidFill>
                  <a:srgbClr val="1B3A5C"/>
                </a:solidFill>
                <a:latin typeface="Raleway"/>
              </a:rPr>
              <a:t>Three levels</a:t>
            </a:r>
          </a:p>
          <a:p>
            <a:pPr algn="l"/>
            <a:r>
              <a:rPr lang="en-US" sz="1800" b="0" i="0">
                <a:solidFill>
                  <a:srgbClr val="44546A"/>
                </a:solidFill>
                <a:latin typeface="Raleway"/>
              </a:rPr>
              <a:t>Easy, Mid and High, in that order. Extra, at the end, is for a fast room or for home.</a:t>
            </a:r>
          </a:p>
        </p:txBody>
      </p:sp>
      <p:sp>
        <p:nvSpPr>
          <p:cNvPr id="15" name="Rule 3"/>
          <p:cNvSpPr/>
          <p:nvPr/>
        </p:nvSpPr>
        <p:spPr>
          <a:xfrm>
            <a:off x="6227064" y="2103120"/>
            <a:ext cx="2528316" cy="3291840"/>
          </a:xfrm>
          <a:prstGeom prst="roundRect">
            <a:avLst>
              <a:gd name="adj" fmla="val 6000"/>
            </a:avLst>
          </a:prstGeom>
          <a:solidFill>
            <a:srgbClr val="F2F3F5"/>
          </a:solidFill>
          <a:ln w="15875">
            <a:solidFill>
              <a:srgbClr val="D8DBE0"/>
            </a:solidFill>
          </a:ln>
        </p:spPr>
        <p:txBody>
          <a:bodyPr rtlCol="0" anchor="ctr"/>
          <a:lstStyle/>
          <a:p>
            <a:endParaRPr/>
          </a:p>
        </p:txBody>
      </p:sp>
      <p:sp>
        <p:nvSpPr>
          <p:cNvPr id="16" name="Rule 3 text"/>
          <p:cNvSpPr txBox="1"/>
          <p:nvPr/>
        </p:nvSpPr>
        <p:spPr>
          <a:xfrm>
            <a:off x="6428232" y="2103120"/>
            <a:ext cx="2125980" cy="3291840"/>
          </a:xfrm>
          <a:prstGeom prst="rect">
            <a:avLst/>
          </a:prstGeom>
          <a:noFill/>
        </p:spPr>
        <p:txBody>
          <a:bodyPr wrap="square" lIns="0" tIns="0" rIns="0" bIns="0" anchor="ctr">
            <a:noAutofit/>
          </a:bodyPr>
          <a:lstStyle/>
          <a:p>
            <a:pPr algn="l">
              <a:spcAft>
                <a:spcPts val="800"/>
              </a:spcAft>
            </a:pPr>
            <a:r>
              <a:rPr lang="en-US" sz="2200" b="1" i="0">
                <a:solidFill>
                  <a:srgbClr val="1B3A5C"/>
                </a:solidFill>
                <a:latin typeface="Raleway"/>
              </a:rPr>
              <a:t>Only this week</a:t>
            </a:r>
          </a:p>
          <a:p>
            <a:pPr algn="l"/>
            <a:r>
              <a:rPr lang="en-US" sz="1800" b="0" i="0">
                <a:solidFill>
                  <a:srgbClr val="44546A"/>
                </a:solidFill>
                <a:latin typeface="Raleway"/>
              </a:rPr>
              <a:t>Nothing here needs if, loops or anything from week 2. If you know them, do not use them yet.</a:t>
            </a:r>
          </a:p>
        </p:txBody>
      </p:sp>
      <p:sp>
        <p:nvSpPr>
          <p:cNvPr id="17" name="Rule 4"/>
          <p:cNvSpPr/>
          <p:nvPr/>
        </p:nvSpPr>
        <p:spPr>
          <a:xfrm>
            <a:off x="9020556" y="2103120"/>
            <a:ext cx="2528316" cy="3291840"/>
          </a:xfrm>
          <a:prstGeom prst="roundRect">
            <a:avLst>
              <a:gd name="adj" fmla="val 6000"/>
            </a:avLst>
          </a:prstGeom>
          <a:solidFill>
            <a:srgbClr val="F2F3F5"/>
          </a:solidFill>
          <a:ln w="15875">
            <a:solidFill>
              <a:srgbClr val="D8DBE0"/>
            </a:solidFill>
          </a:ln>
        </p:spPr>
        <p:txBody>
          <a:bodyPr rtlCol="0" anchor="ctr"/>
          <a:lstStyle/>
          <a:p>
            <a:endParaRPr/>
          </a:p>
        </p:txBody>
      </p:sp>
      <p:sp>
        <p:nvSpPr>
          <p:cNvPr id="18" name="Rule 4 text"/>
          <p:cNvSpPr txBox="1"/>
          <p:nvPr/>
        </p:nvSpPr>
        <p:spPr>
          <a:xfrm>
            <a:off x="9221724" y="2103120"/>
            <a:ext cx="2125980" cy="3291840"/>
          </a:xfrm>
          <a:prstGeom prst="rect">
            <a:avLst/>
          </a:prstGeom>
          <a:noFill/>
        </p:spPr>
        <p:txBody>
          <a:bodyPr wrap="square" lIns="0" tIns="0" rIns="0" bIns="0" anchor="ctr">
            <a:noAutofit/>
          </a:bodyPr>
          <a:lstStyle/>
          <a:p>
            <a:pPr algn="l">
              <a:spcAft>
                <a:spcPts val="800"/>
              </a:spcAft>
            </a:pPr>
            <a:r>
              <a:rPr lang="en-US" sz="2200" b="1" i="0">
                <a:solidFill>
                  <a:srgbClr val="1B3A5C"/>
                </a:solidFill>
                <a:latin typeface="Raleway"/>
              </a:rPr>
              <a:t>The files</a:t>
            </a:r>
          </a:p>
          <a:p>
            <a:pPr algn="l"/>
            <a:r>
              <a:rPr lang="en-US" sz="1800" b="0" i="0">
                <a:solidFill>
                  <a:srgbClr val="44546A"/>
                </a:solidFill>
                <a:latin typeface="Raleway"/>
              </a:rPr>
              <a:t>Every program shown is in the 'recitation 1 code' folder. Run it, change it, break it.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par>
                                <p:cTn id="32" presetID="10" presetClass="entr" presetSubtype="0" fill="hold"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04 - Rules - Before we start: three checks">
    <p:spTree>
      <p:nvGrpSpPr>
        <p:cNvPr id="1" name=""/>
        <p:cNvGrpSpPr/>
        <p:nvPr/>
      </p:nvGrpSpPr>
      <p:grpSpPr>
        <a:xfrm>
          <a:off x="0" y="0"/>
          <a:ext cx="0" cy="0"/>
          <a:chOff x="0" y="0"/>
          <a:chExt cx="0" cy="0"/>
        </a:xfrm>
      </p:grpSpPr>
      <p:sp>
        <p:nvSpPr>
          <p:cNvPr id="2" name="Slide number"/>
          <p:cNvSpPr txBox="1"/>
          <p:nvPr/>
        </p:nvSpPr>
        <p:spPr>
          <a:xfrm>
            <a:off x="11430000" y="6446520"/>
            <a:ext cx="548640" cy="320040"/>
          </a:xfrm>
          <a:prstGeom prst="rect">
            <a:avLst/>
          </a:prstGeom>
          <a:noFill/>
        </p:spPr>
        <p:txBody>
          <a:bodyPr wrap="none" lIns="0" tIns="0" rIns="0" bIns="0" anchor="ctr">
            <a:spAutoFit/>
          </a:bodyPr>
          <a:lstStyle/>
          <a:p>
            <a:pPr algn="r"/>
            <a:fld id="{007A6A40-1A7B-4A1B-9D78-D7D11C5A8472}" type="slidenum">
              <a:rPr lang="en-US" sz="1200">
                <a:solidFill>
                  <a:srgbClr val="1B3A5C"/>
                </a:solidFill>
                <a:latin typeface="Raleway"/>
              </a:rPr>
              <a:t>4</a:t>
            </a:fld>
            <a:endParaRPr lang="en-US" sz="1200">
              <a:solidFill>
                <a:srgbClr val="1B3A5C"/>
              </a:solidFill>
              <a:latin typeface="Raleway"/>
            </a:endParaRPr>
          </a:p>
        </p:txBody>
      </p:sp>
      <p:sp>
        <p:nvSpPr>
          <p:cNvPr id="3" name="Title"/>
          <p:cNvSpPr txBox="1"/>
          <p:nvPr/>
        </p:nvSpPr>
        <p:spPr>
          <a:xfrm>
            <a:off x="640080" y="502920"/>
            <a:ext cx="11411712" cy="822960"/>
          </a:xfrm>
          <a:prstGeom prst="rect">
            <a:avLst/>
          </a:prstGeom>
          <a:noFill/>
        </p:spPr>
        <p:txBody>
          <a:bodyPr wrap="square" lIns="0" tIns="0" rIns="0" bIns="0" anchor="ctr">
            <a:noAutofit/>
          </a:bodyPr>
          <a:lstStyle/>
          <a:p>
            <a:pPr algn="l"/>
            <a:r>
              <a:rPr lang="en-US" sz="4000" b="1" i="0">
                <a:solidFill>
                  <a:srgbClr val="1F4E79"/>
                </a:solidFill>
                <a:latin typeface="Raleway"/>
              </a:rPr>
              <a:t>Before we start: three checks</a:t>
            </a:r>
          </a:p>
        </p:txBody>
      </p:sp>
      <p:sp>
        <p:nvSpPr>
          <p:cNvPr id="4" name="Strip Warm-up"/>
          <p:cNvSpPr/>
          <p:nvPr/>
        </p:nvSpPr>
        <p:spPr>
          <a:xfrm>
            <a:off x="640080" y="1389888"/>
            <a:ext cx="928116" cy="310896"/>
          </a:xfrm>
          <a:prstGeom prst="roundRect">
            <a:avLst>
              <a:gd name="adj" fmla="val 50000"/>
            </a:avLst>
          </a:prstGeom>
          <a:solidFill>
            <a:srgbClr val="A64B00"/>
          </a:solidFill>
          <a:ln w="12700">
            <a:solidFill>
              <a:srgbClr val="A64B00"/>
            </a:solidFill>
          </a:ln>
        </p:spPr>
        <p:txBody>
          <a:bodyPr lIns="45720" tIns="0" rIns="45720" bIns="0" rtlCol="0" anchor="ctr"/>
          <a:lstStyle/>
          <a:p>
            <a:pPr algn="ctr"/>
            <a:r>
              <a:rPr lang="en-US" sz="1100" b="0" i="0">
                <a:solidFill>
                  <a:srgbClr val="FFFFFF"/>
                </a:solidFill>
                <a:latin typeface="Raleway"/>
              </a:rPr>
              <a:t>Warm-up</a:t>
            </a:r>
          </a:p>
        </p:txBody>
      </p:sp>
      <p:sp>
        <p:nvSpPr>
          <p:cNvPr id="5" name="Strip Receipt &amp; time"/>
          <p:cNvSpPr/>
          <p:nvPr/>
        </p:nvSpPr>
        <p:spPr>
          <a:xfrm>
            <a:off x="1677924" y="1389888"/>
            <a:ext cx="1472184"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Receipt &amp; time</a:t>
            </a:r>
          </a:p>
        </p:txBody>
      </p:sp>
      <p:sp>
        <p:nvSpPr>
          <p:cNvPr id="6" name="Strip Bugs"/>
          <p:cNvSpPr/>
          <p:nvPr/>
        </p:nvSpPr>
        <p:spPr>
          <a:xfrm>
            <a:off x="3259836" y="1389888"/>
            <a:ext cx="694944"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Bugs</a:t>
            </a:r>
          </a:p>
        </p:txBody>
      </p:sp>
      <p:sp>
        <p:nvSpPr>
          <p:cNvPr id="7" name="Strip Booleans"/>
          <p:cNvSpPr/>
          <p:nvPr/>
        </p:nvSpPr>
        <p:spPr>
          <a:xfrm>
            <a:off x="4064508" y="1389888"/>
            <a:ext cx="1005840"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Booleans</a:t>
            </a:r>
          </a:p>
        </p:txBody>
      </p:sp>
      <p:sp>
        <p:nvSpPr>
          <p:cNvPr id="8" name="Strip Randomness"/>
          <p:cNvSpPr/>
          <p:nvPr/>
        </p:nvSpPr>
        <p:spPr>
          <a:xfrm>
            <a:off x="5180076" y="1389888"/>
            <a:ext cx="1161288"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Randomness</a:t>
            </a:r>
          </a:p>
        </p:txBody>
      </p:sp>
      <p:sp>
        <p:nvSpPr>
          <p:cNvPr id="9" name="Strip Extra"/>
          <p:cNvSpPr/>
          <p:nvPr/>
        </p:nvSpPr>
        <p:spPr>
          <a:xfrm>
            <a:off x="6451092" y="1389888"/>
            <a:ext cx="772668"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Extra</a:t>
            </a:r>
          </a:p>
        </p:txBody>
      </p:sp>
      <p:sp>
        <p:nvSpPr>
          <p:cNvPr id="10" name="Strip Wrap-up"/>
          <p:cNvSpPr/>
          <p:nvPr/>
        </p:nvSpPr>
        <p:spPr>
          <a:xfrm>
            <a:off x="7333488" y="1389888"/>
            <a:ext cx="928116"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Wrap-up</a:t>
            </a:r>
          </a:p>
        </p:txBody>
      </p:sp>
      <p:sp>
        <p:nvSpPr>
          <p:cNvPr id="11" name="Rule 1"/>
          <p:cNvSpPr/>
          <p:nvPr/>
        </p:nvSpPr>
        <p:spPr>
          <a:xfrm>
            <a:off x="640080" y="2103120"/>
            <a:ext cx="3459480" cy="3291840"/>
          </a:xfrm>
          <a:prstGeom prst="roundRect">
            <a:avLst>
              <a:gd name="adj" fmla="val 6000"/>
            </a:avLst>
          </a:prstGeom>
          <a:solidFill>
            <a:srgbClr val="F2F3F5"/>
          </a:solidFill>
          <a:ln w="15875">
            <a:solidFill>
              <a:srgbClr val="D8DBE0"/>
            </a:solidFill>
          </a:ln>
        </p:spPr>
        <p:txBody>
          <a:bodyPr rtlCol="0" anchor="ctr"/>
          <a:lstStyle/>
          <a:p>
            <a:endParaRPr/>
          </a:p>
        </p:txBody>
      </p:sp>
      <p:sp>
        <p:nvSpPr>
          <p:cNvPr id="12" name="Rule 1 text"/>
          <p:cNvSpPr txBox="1"/>
          <p:nvPr/>
        </p:nvSpPr>
        <p:spPr>
          <a:xfrm>
            <a:off x="841247" y="2103120"/>
            <a:ext cx="3057144" cy="3291840"/>
          </a:xfrm>
          <a:prstGeom prst="rect">
            <a:avLst/>
          </a:prstGeom>
          <a:noFill/>
        </p:spPr>
        <p:txBody>
          <a:bodyPr wrap="square" lIns="0" tIns="0" rIns="0" bIns="0" anchor="ctr">
            <a:noAutofit/>
          </a:bodyPr>
          <a:lstStyle/>
          <a:p>
            <a:pPr algn="l">
              <a:spcAft>
                <a:spcPts val="800"/>
              </a:spcAft>
            </a:pPr>
            <a:r>
              <a:rPr lang="en-US" sz="2200" b="1" i="0">
                <a:solidFill>
                  <a:srgbClr val="1B3A5C"/>
                </a:solidFill>
                <a:latin typeface="Raleway"/>
              </a:rPr>
              <a:t>1 · The interpreter</a:t>
            </a:r>
          </a:p>
          <a:p>
            <a:pPr algn="l"/>
            <a:r>
              <a:rPr lang="en-US" sz="1800" b="0" i="0">
                <a:solidFill>
                  <a:srgbClr val="44546A"/>
                </a:solidFill>
                <a:latin typeface="Raleway"/>
              </a:rPr>
              <a:t>In a terminal, type </a:t>
            </a:r>
            <a:r>
              <a:rPr lang="en-US" sz="1800" b="0" i="0">
                <a:solidFill>
                  <a:srgbClr val="44546A"/>
                </a:solidFill>
                <a:latin typeface="Consolas"/>
              </a:rPr>
              <a:t>python --version</a:t>
            </a:r>
            <a:r>
              <a:rPr lang="en-US" sz="1800" b="0" i="0">
                <a:solidFill>
                  <a:srgbClr val="44546A"/>
                </a:solidFill>
                <a:latin typeface="Raleway"/>
              </a:rPr>
              <a:t> (or </a:t>
            </a:r>
            <a:r>
              <a:rPr lang="en-US" sz="1800" b="0" i="0">
                <a:solidFill>
                  <a:srgbClr val="44546A"/>
                </a:solidFill>
                <a:latin typeface="Consolas"/>
              </a:rPr>
              <a:t>python3 --version</a:t>
            </a:r>
            <a:r>
              <a:rPr lang="en-US" sz="1800" b="0" i="0">
                <a:solidFill>
                  <a:srgbClr val="44546A"/>
                </a:solidFill>
                <a:latin typeface="Raleway"/>
              </a:rPr>
              <a:t>). You should see Python 3.13 or newer.</a:t>
            </a:r>
          </a:p>
        </p:txBody>
      </p:sp>
      <p:sp>
        <p:nvSpPr>
          <p:cNvPr id="13" name="Rule 2"/>
          <p:cNvSpPr/>
          <p:nvPr/>
        </p:nvSpPr>
        <p:spPr>
          <a:xfrm>
            <a:off x="4364736" y="2103120"/>
            <a:ext cx="3459480" cy="3291840"/>
          </a:xfrm>
          <a:prstGeom prst="roundRect">
            <a:avLst>
              <a:gd name="adj" fmla="val 6000"/>
            </a:avLst>
          </a:prstGeom>
          <a:solidFill>
            <a:srgbClr val="F2F3F5"/>
          </a:solidFill>
          <a:ln w="15875">
            <a:solidFill>
              <a:srgbClr val="D8DBE0"/>
            </a:solidFill>
          </a:ln>
        </p:spPr>
        <p:txBody>
          <a:bodyPr rtlCol="0" anchor="ctr"/>
          <a:lstStyle/>
          <a:p>
            <a:endParaRPr/>
          </a:p>
        </p:txBody>
      </p:sp>
      <p:sp>
        <p:nvSpPr>
          <p:cNvPr id="14" name="Rule 2 text"/>
          <p:cNvSpPr txBox="1"/>
          <p:nvPr/>
        </p:nvSpPr>
        <p:spPr>
          <a:xfrm>
            <a:off x="4565904" y="2103120"/>
            <a:ext cx="3057144" cy="3291840"/>
          </a:xfrm>
          <a:prstGeom prst="rect">
            <a:avLst/>
          </a:prstGeom>
          <a:noFill/>
        </p:spPr>
        <p:txBody>
          <a:bodyPr wrap="square" lIns="0" tIns="0" rIns="0" bIns="0" anchor="ctr">
            <a:noAutofit/>
          </a:bodyPr>
          <a:lstStyle/>
          <a:p>
            <a:pPr algn="l">
              <a:spcAft>
                <a:spcPts val="800"/>
              </a:spcAft>
            </a:pPr>
            <a:r>
              <a:rPr lang="en-US" sz="2200" b="1" i="0">
                <a:solidFill>
                  <a:srgbClr val="1B3A5C"/>
                </a:solidFill>
                <a:latin typeface="Raleway"/>
              </a:rPr>
              <a:t>2 · The REPL</a:t>
            </a:r>
          </a:p>
          <a:p>
            <a:pPr algn="l"/>
            <a:r>
              <a:rPr lang="en-US" sz="1800" b="0" i="0">
                <a:solidFill>
                  <a:srgbClr val="44546A"/>
                </a:solidFill>
                <a:latin typeface="Raleway"/>
              </a:rPr>
              <a:t>Type </a:t>
            </a:r>
            <a:r>
              <a:rPr lang="en-US" sz="1800" b="0" i="0">
                <a:solidFill>
                  <a:srgbClr val="44546A"/>
                </a:solidFill>
                <a:latin typeface="Consolas"/>
              </a:rPr>
              <a:t>python</a:t>
            </a:r>
            <a:r>
              <a:rPr lang="en-US" sz="1800" b="0" i="0">
                <a:solidFill>
                  <a:srgbClr val="44546A"/>
                </a:solidFill>
                <a:latin typeface="Raleway"/>
              </a:rPr>
              <a:t>, then </a:t>
            </a:r>
            <a:r>
              <a:rPr lang="en-US" sz="1800" b="0" i="0">
                <a:solidFill>
                  <a:srgbClr val="44546A"/>
                </a:solidFill>
                <a:latin typeface="Consolas"/>
              </a:rPr>
              <a:t>2 ** 10</a:t>
            </a:r>
            <a:r>
              <a:rPr lang="en-US" sz="1800" b="0" i="0">
                <a:solidFill>
                  <a:srgbClr val="44546A"/>
                </a:solidFill>
                <a:latin typeface="Raleway"/>
              </a:rPr>
              <a:t> at the </a:t>
            </a:r>
            <a:r>
              <a:rPr lang="en-US" sz="1800" b="0" i="0">
                <a:solidFill>
                  <a:srgbClr val="44546A"/>
                </a:solidFill>
                <a:latin typeface="Consolas"/>
              </a:rPr>
              <a:t>&gt;&gt;&gt;</a:t>
            </a:r>
            <a:r>
              <a:rPr lang="en-US" sz="1800" b="0" i="0">
                <a:solidFill>
                  <a:srgbClr val="44546A"/>
                </a:solidFill>
                <a:latin typeface="Raleway"/>
              </a:rPr>
              <a:t> prompt. You should see 1024. Leave with </a:t>
            </a:r>
            <a:r>
              <a:rPr lang="en-US" sz="1800" b="0" i="0">
                <a:solidFill>
                  <a:srgbClr val="44546A"/>
                </a:solidFill>
                <a:latin typeface="Consolas"/>
              </a:rPr>
              <a:t>exit()</a:t>
            </a:r>
            <a:r>
              <a:rPr lang="en-US" sz="1800" b="0" i="0">
                <a:solidFill>
                  <a:srgbClr val="44546A"/>
                </a:solidFill>
                <a:latin typeface="Raleway"/>
              </a:rPr>
              <a:t>.</a:t>
            </a:r>
          </a:p>
        </p:txBody>
      </p:sp>
      <p:sp>
        <p:nvSpPr>
          <p:cNvPr id="15" name="Rule 3"/>
          <p:cNvSpPr/>
          <p:nvPr/>
        </p:nvSpPr>
        <p:spPr>
          <a:xfrm>
            <a:off x="8089391" y="2103120"/>
            <a:ext cx="3459480" cy="3291840"/>
          </a:xfrm>
          <a:prstGeom prst="roundRect">
            <a:avLst>
              <a:gd name="adj" fmla="val 6000"/>
            </a:avLst>
          </a:prstGeom>
          <a:solidFill>
            <a:srgbClr val="F2F3F5"/>
          </a:solidFill>
          <a:ln w="15875">
            <a:solidFill>
              <a:srgbClr val="D8DBE0"/>
            </a:solidFill>
          </a:ln>
        </p:spPr>
        <p:txBody>
          <a:bodyPr rtlCol="0" anchor="ctr"/>
          <a:lstStyle/>
          <a:p>
            <a:endParaRPr/>
          </a:p>
        </p:txBody>
      </p:sp>
      <p:sp>
        <p:nvSpPr>
          <p:cNvPr id="16" name="Rule 3 text"/>
          <p:cNvSpPr txBox="1"/>
          <p:nvPr/>
        </p:nvSpPr>
        <p:spPr>
          <a:xfrm>
            <a:off x="8290560" y="2103120"/>
            <a:ext cx="3057144" cy="3291840"/>
          </a:xfrm>
          <a:prstGeom prst="rect">
            <a:avLst/>
          </a:prstGeom>
          <a:noFill/>
        </p:spPr>
        <p:txBody>
          <a:bodyPr wrap="square" lIns="0" tIns="0" rIns="0" bIns="0" anchor="ctr">
            <a:noAutofit/>
          </a:bodyPr>
          <a:lstStyle/>
          <a:p>
            <a:pPr algn="l">
              <a:spcAft>
                <a:spcPts val="800"/>
              </a:spcAft>
            </a:pPr>
            <a:r>
              <a:rPr lang="en-US" sz="2200" b="1" i="0">
                <a:solidFill>
                  <a:srgbClr val="1B3A5C"/>
                </a:solidFill>
                <a:latin typeface="Raleway"/>
              </a:rPr>
              <a:t>3 · A script</a:t>
            </a:r>
          </a:p>
          <a:p>
            <a:pPr algn="l"/>
            <a:r>
              <a:rPr lang="en-US" sz="1800" b="0" i="0">
                <a:solidFill>
                  <a:srgbClr val="44546A"/>
                </a:solidFill>
                <a:latin typeface="Raleway"/>
              </a:rPr>
              <a:t>In VS Code, open an empty folder, create </a:t>
            </a:r>
            <a:r>
              <a:rPr lang="en-US" sz="1800" b="0" i="0">
                <a:solidFill>
                  <a:srgbClr val="44546A"/>
                </a:solidFill>
                <a:latin typeface="Consolas"/>
              </a:rPr>
              <a:t>hello.py</a:t>
            </a:r>
            <a:r>
              <a:rPr lang="en-US" sz="1800" b="0" i="0">
                <a:solidFill>
                  <a:srgbClr val="44546A"/>
                </a:solidFill>
                <a:latin typeface="Raleway"/>
              </a:rPr>
              <a:t> with one </a:t>
            </a:r>
            <a:r>
              <a:rPr lang="en-US" sz="1800" b="0" i="0">
                <a:solidFill>
                  <a:srgbClr val="44546A"/>
                </a:solidFill>
                <a:latin typeface="Consolas"/>
              </a:rPr>
              <a:t>print</a:t>
            </a:r>
            <a:r>
              <a:rPr lang="en-US" sz="1800" b="0" i="0">
                <a:solidFill>
                  <a:srgbClr val="44546A"/>
                </a:solidFill>
                <a:latin typeface="Raleway"/>
              </a:rPr>
              <a:t> line, and press Run.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05 - Predict - Warm-up: numbers">
    <p:spTree>
      <p:nvGrpSpPr>
        <p:cNvPr id="1" name=""/>
        <p:cNvGrpSpPr/>
        <p:nvPr/>
      </p:nvGrpSpPr>
      <p:grpSpPr>
        <a:xfrm>
          <a:off x="0" y="0"/>
          <a:ext cx="0" cy="0"/>
          <a:chOff x="0" y="0"/>
          <a:chExt cx="0" cy="0"/>
        </a:xfrm>
      </p:grpSpPr>
      <p:sp>
        <p:nvSpPr>
          <p:cNvPr id="2" name="Slide number"/>
          <p:cNvSpPr txBox="1"/>
          <p:nvPr/>
        </p:nvSpPr>
        <p:spPr>
          <a:xfrm>
            <a:off x="11430000" y="6446520"/>
            <a:ext cx="548640" cy="320040"/>
          </a:xfrm>
          <a:prstGeom prst="rect">
            <a:avLst/>
          </a:prstGeom>
          <a:noFill/>
        </p:spPr>
        <p:txBody>
          <a:bodyPr wrap="none" lIns="0" tIns="0" rIns="0" bIns="0" anchor="ctr">
            <a:spAutoFit/>
          </a:bodyPr>
          <a:lstStyle/>
          <a:p>
            <a:pPr algn="r"/>
            <a:fld id="{007A6A40-1A7B-4A1B-9D78-D7D11C5A8472}" type="slidenum">
              <a:rPr lang="en-US" sz="1200">
                <a:solidFill>
                  <a:srgbClr val="1B3A5C"/>
                </a:solidFill>
                <a:latin typeface="Raleway"/>
              </a:rPr>
              <a:t>5</a:t>
            </a:fld>
            <a:endParaRPr lang="en-US" sz="1200">
              <a:solidFill>
                <a:srgbClr val="1B3A5C"/>
              </a:solidFill>
              <a:latin typeface="Raleway"/>
            </a:endParaRPr>
          </a:p>
        </p:txBody>
      </p:sp>
      <p:sp>
        <p:nvSpPr>
          <p:cNvPr id="3" name="Title"/>
          <p:cNvSpPr txBox="1"/>
          <p:nvPr/>
        </p:nvSpPr>
        <p:spPr>
          <a:xfrm>
            <a:off x="640080" y="502920"/>
            <a:ext cx="11411712" cy="822960"/>
          </a:xfrm>
          <a:prstGeom prst="rect">
            <a:avLst/>
          </a:prstGeom>
          <a:noFill/>
        </p:spPr>
        <p:txBody>
          <a:bodyPr wrap="square" lIns="0" tIns="0" rIns="0" bIns="0" anchor="ctr">
            <a:noAutofit/>
          </a:bodyPr>
          <a:lstStyle/>
          <a:p>
            <a:pPr algn="l"/>
            <a:r>
              <a:rPr lang="en-US" sz="4000" b="1" i="0">
                <a:solidFill>
                  <a:srgbClr val="1F4E79"/>
                </a:solidFill>
                <a:latin typeface="Raleway"/>
              </a:rPr>
              <a:t>Warm-up: numbers</a:t>
            </a:r>
          </a:p>
        </p:txBody>
      </p:sp>
      <p:sp>
        <p:nvSpPr>
          <p:cNvPr id="4" name="Strip Warm-up"/>
          <p:cNvSpPr/>
          <p:nvPr/>
        </p:nvSpPr>
        <p:spPr>
          <a:xfrm>
            <a:off x="640080" y="1389888"/>
            <a:ext cx="928116" cy="310896"/>
          </a:xfrm>
          <a:prstGeom prst="roundRect">
            <a:avLst>
              <a:gd name="adj" fmla="val 50000"/>
            </a:avLst>
          </a:prstGeom>
          <a:solidFill>
            <a:srgbClr val="A64B00"/>
          </a:solidFill>
          <a:ln w="12700">
            <a:solidFill>
              <a:srgbClr val="A64B00"/>
            </a:solidFill>
          </a:ln>
        </p:spPr>
        <p:txBody>
          <a:bodyPr lIns="45720" tIns="0" rIns="45720" bIns="0" rtlCol="0" anchor="ctr"/>
          <a:lstStyle/>
          <a:p>
            <a:pPr algn="ctr"/>
            <a:r>
              <a:rPr lang="en-US" sz="1100" b="0" i="0">
                <a:solidFill>
                  <a:srgbClr val="FFFFFF"/>
                </a:solidFill>
                <a:latin typeface="Raleway"/>
              </a:rPr>
              <a:t>Warm-up</a:t>
            </a:r>
          </a:p>
        </p:txBody>
      </p:sp>
      <p:sp>
        <p:nvSpPr>
          <p:cNvPr id="5" name="Strip Receipt &amp; time"/>
          <p:cNvSpPr/>
          <p:nvPr/>
        </p:nvSpPr>
        <p:spPr>
          <a:xfrm>
            <a:off x="1677924" y="1389888"/>
            <a:ext cx="1472184"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Receipt &amp; time</a:t>
            </a:r>
          </a:p>
        </p:txBody>
      </p:sp>
      <p:sp>
        <p:nvSpPr>
          <p:cNvPr id="6" name="Strip Bugs"/>
          <p:cNvSpPr/>
          <p:nvPr/>
        </p:nvSpPr>
        <p:spPr>
          <a:xfrm>
            <a:off x="3259836" y="1389888"/>
            <a:ext cx="694944"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Bugs</a:t>
            </a:r>
          </a:p>
        </p:txBody>
      </p:sp>
      <p:sp>
        <p:nvSpPr>
          <p:cNvPr id="7" name="Strip Booleans"/>
          <p:cNvSpPr/>
          <p:nvPr/>
        </p:nvSpPr>
        <p:spPr>
          <a:xfrm>
            <a:off x="4064508" y="1389888"/>
            <a:ext cx="1005840"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Booleans</a:t>
            </a:r>
          </a:p>
        </p:txBody>
      </p:sp>
      <p:sp>
        <p:nvSpPr>
          <p:cNvPr id="8" name="Strip Randomness"/>
          <p:cNvSpPr/>
          <p:nvPr/>
        </p:nvSpPr>
        <p:spPr>
          <a:xfrm>
            <a:off x="5180076" y="1389888"/>
            <a:ext cx="1161288"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Randomness</a:t>
            </a:r>
          </a:p>
        </p:txBody>
      </p:sp>
      <p:sp>
        <p:nvSpPr>
          <p:cNvPr id="9" name="Strip Extra"/>
          <p:cNvSpPr/>
          <p:nvPr/>
        </p:nvSpPr>
        <p:spPr>
          <a:xfrm>
            <a:off x="6451092" y="1389888"/>
            <a:ext cx="772668"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Extra</a:t>
            </a:r>
          </a:p>
        </p:txBody>
      </p:sp>
      <p:sp>
        <p:nvSpPr>
          <p:cNvPr id="10" name="Strip Wrap-up"/>
          <p:cNvSpPr/>
          <p:nvPr/>
        </p:nvSpPr>
        <p:spPr>
          <a:xfrm>
            <a:off x="7333488" y="1389888"/>
            <a:ext cx="928116"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Wrap-up</a:t>
            </a:r>
          </a:p>
        </p:txBody>
      </p:sp>
      <p:sp>
        <p:nvSpPr>
          <p:cNvPr id="11" name="Level"/>
          <p:cNvSpPr/>
          <p:nvPr/>
        </p:nvSpPr>
        <p:spPr>
          <a:xfrm>
            <a:off x="10222992" y="1362456"/>
            <a:ext cx="1828800" cy="365760"/>
          </a:xfrm>
          <a:prstGeom prst="roundRect">
            <a:avLst>
              <a:gd name="adj" fmla="val 50000"/>
            </a:avLst>
          </a:prstGeom>
          <a:solidFill>
            <a:srgbClr val="F2F3F5"/>
          </a:solidFill>
          <a:ln w="12700">
            <a:solidFill>
              <a:srgbClr val="D8DBE0"/>
            </a:solidFill>
          </a:ln>
        </p:spPr>
        <p:txBody>
          <a:bodyPr lIns="73152" tIns="0" rIns="73152" bIns="0" rtlCol="0" anchor="ctr"/>
          <a:lstStyle/>
          <a:p>
            <a:pPr algn="ctr"/>
            <a:r>
              <a:rPr lang="en-US" sz="1200" b="0" i="0" spc="100">
                <a:solidFill>
                  <a:srgbClr val="44546A"/>
                </a:solidFill>
                <a:latin typeface="Raleway"/>
              </a:rPr>
              <a:t>WARM-UP · 4 MIN</a:t>
            </a:r>
          </a:p>
        </p:txBody>
      </p:sp>
      <p:sp>
        <p:nvSpPr>
          <p:cNvPr id="12" name="Lead"/>
          <p:cNvSpPr txBox="1"/>
          <p:nvPr/>
        </p:nvSpPr>
        <p:spPr>
          <a:xfrm>
            <a:off x="640080" y="1965960"/>
            <a:ext cx="10881360" cy="438912"/>
          </a:xfrm>
          <a:prstGeom prst="rect">
            <a:avLst/>
          </a:prstGeom>
          <a:noFill/>
        </p:spPr>
        <p:txBody>
          <a:bodyPr wrap="square" lIns="0" tIns="0" rIns="0" bIns="0" anchor="t">
            <a:noAutofit/>
          </a:bodyPr>
          <a:lstStyle/>
          <a:p>
            <a:pPr algn="l">
              <a:lnSpc>
                <a:spcPct val="110000"/>
              </a:lnSpc>
            </a:pPr>
            <a:r>
              <a:rPr lang="en-US" sz="2000" b="0" i="0">
                <a:solidFill>
                  <a:srgbClr val="1D2433"/>
                </a:solidFill>
                <a:latin typeface="Raleway"/>
              </a:rPr>
              <a:t>Write the output of every line on paper. Then we run it and compare.</a:t>
            </a:r>
          </a:p>
        </p:txBody>
      </p:sp>
      <p:sp>
        <p:nvSpPr>
          <p:cNvPr id="13" name="Code card"/>
          <p:cNvSpPr/>
          <p:nvPr/>
        </p:nvSpPr>
        <p:spPr>
          <a:xfrm>
            <a:off x="640080" y="2423160"/>
            <a:ext cx="4572000" cy="3133344"/>
          </a:xfrm>
          <a:prstGeom prst="roundRect">
            <a:avLst>
              <a:gd name="adj" fmla="val 4000"/>
            </a:avLst>
          </a:prstGeom>
          <a:solidFill>
            <a:srgbClr val="111318"/>
          </a:solidFill>
          <a:ln w="12700">
            <a:solidFill>
              <a:srgbClr val="D8DBE0"/>
            </a:solidFill>
          </a:ln>
        </p:spPr>
        <p:txBody>
          <a:bodyPr rtlCol="0" anchor="ctr"/>
          <a:lstStyle/>
          <a:p>
            <a:endParaRPr/>
          </a:p>
        </p:txBody>
      </p:sp>
      <p:sp>
        <p:nvSpPr>
          <p:cNvPr id="14" name="Code card header"/>
          <p:cNvSpPr/>
          <p:nvPr/>
        </p:nvSpPr>
        <p:spPr>
          <a:xfrm>
            <a:off x="640080" y="2423160"/>
            <a:ext cx="4572000" cy="384048"/>
          </a:xfrm>
          <a:prstGeom prst="roundRect">
            <a:avLst>
              <a:gd name="adj" fmla="val 10000"/>
            </a:avLst>
          </a:prstGeom>
          <a:solidFill>
            <a:srgbClr val="1B1E26"/>
          </a:solidFill>
          <a:ln w="12700">
            <a:solidFill>
              <a:srgbClr val="D8DBE0"/>
            </a:solidFill>
          </a:ln>
        </p:spPr>
        <p:txBody>
          <a:bodyPr rtlCol="0" anchor="ctr"/>
          <a:lstStyle/>
          <a:p>
            <a:endParaRPr/>
          </a:p>
        </p:txBody>
      </p:sp>
      <p:sp>
        <p:nvSpPr>
          <p:cNvPr id="15" name="Code card header fill"/>
          <p:cNvSpPr/>
          <p:nvPr/>
        </p:nvSpPr>
        <p:spPr>
          <a:xfrm>
            <a:off x="658368" y="2615184"/>
            <a:ext cx="4535424" cy="192024"/>
          </a:xfrm>
          <a:prstGeom prst="rect">
            <a:avLst/>
          </a:prstGeom>
          <a:solidFill>
            <a:srgbClr val="1B1E26"/>
          </a:solidFill>
          <a:ln>
            <a:noFill/>
          </a:ln>
        </p:spPr>
        <p:txBody>
          <a:bodyPr rtlCol="0" anchor="ctr"/>
          <a:lstStyle/>
          <a:p>
            <a:endParaRPr/>
          </a:p>
        </p:txBody>
      </p:sp>
      <p:sp>
        <p:nvSpPr>
          <p:cNvPr id="16" name="Oval 15"/>
          <p:cNvSpPr/>
          <p:nvPr/>
        </p:nvSpPr>
        <p:spPr>
          <a:xfrm>
            <a:off x="868680" y="2560320"/>
            <a:ext cx="118872" cy="118872"/>
          </a:xfrm>
          <a:prstGeom prst="ellipse">
            <a:avLst/>
          </a:prstGeom>
          <a:solidFill>
            <a:srgbClr val="FF6B6B"/>
          </a:solidFill>
          <a:ln>
            <a:noFill/>
          </a:ln>
        </p:spPr>
        <p:txBody>
          <a:bodyPr rtlCol="0" anchor="ctr"/>
          <a:lstStyle/>
          <a:p>
            <a:pPr algn="ctr"/>
            <a:endParaRPr/>
          </a:p>
        </p:txBody>
      </p:sp>
      <p:sp>
        <p:nvSpPr>
          <p:cNvPr id="17" name="Oval 16"/>
          <p:cNvSpPr/>
          <p:nvPr/>
        </p:nvSpPr>
        <p:spPr>
          <a:xfrm>
            <a:off x="1143000" y="2560320"/>
            <a:ext cx="118872" cy="118872"/>
          </a:xfrm>
          <a:prstGeom prst="ellipse">
            <a:avLst/>
          </a:prstGeom>
          <a:solidFill>
            <a:srgbClr val="FFD94A"/>
          </a:solidFill>
          <a:ln>
            <a:noFill/>
          </a:ln>
        </p:spPr>
        <p:txBody>
          <a:bodyPr rtlCol="0" anchor="ctr"/>
          <a:lstStyle/>
          <a:p>
            <a:pPr algn="ctr"/>
            <a:endParaRPr/>
          </a:p>
        </p:txBody>
      </p:sp>
      <p:sp>
        <p:nvSpPr>
          <p:cNvPr id="18" name="Oval 17"/>
          <p:cNvSpPr/>
          <p:nvPr/>
        </p:nvSpPr>
        <p:spPr>
          <a:xfrm>
            <a:off x="1417319" y="2560320"/>
            <a:ext cx="118872" cy="118872"/>
          </a:xfrm>
          <a:prstGeom prst="ellipse">
            <a:avLst/>
          </a:prstGeom>
          <a:solidFill>
            <a:srgbClr val="8FE3AB"/>
          </a:solidFill>
          <a:ln>
            <a:noFill/>
          </a:ln>
        </p:spPr>
        <p:txBody>
          <a:bodyPr rtlCol="0" anchor="ctr"/>
          <a:lstStyle/>
          <a:p>
            <a:pPr algn="ctr"/>
            <a:endParaRPr/>
          </a:p>
        </p:txBody>
      </p:sp>
      <p:sp>
        <p:nvSpPr>
          <p:cNvPr id="19" name="Filename"/>
          <p:cNvSpPr txBox="1"/>
          <p:nvPr/>
        </p:nvSpPr>
        <p:spPr>
          <a:xfrm>
            <a:off x="1828800" y="2423160"/>
            <a:ext cx="3200400" cy="384048"/>
          </a:xfrm>
          <a:prstGeom prst="rect">
            <a:avLst/>
          </a:prstGeom>
          <a:noFill/>
        </p:spPr>
        <p:txBody>
          <a:bodyPr wrap="square" lIns="0" tIns="0" rIns="0" bIns="0" anchor="ctr">
            <a:noAutofit/>
          </a:bodyPr>
          <a:lstStyle/>
          <a:p>
            <a:pPr algn="l"/>
            <a:r>
              <a:rPr lang="en-US" sz="1200" b="0" i="0">
                <a:solidFill>
                  <a:srgbClr val="E9EAEE"/>
                </a:solidFill>
                <a:latin typeface="Consolas"/>
              </a:rPr>
              <a:t>warmup_numbers.py</a:t>
            </a:r>
          </a:p>
        </p:txBody>
      </p:sp>
      <p:sp>
        <p:nvSpPr>
          <p:cNvPr id="20" name="Code"/>
          <p:cNvSpPr txBox="1"/>
          <p:nvPr/>
        </p:nvSpPr>
        <p:spPr>
          <a:xfrm>
            <a:off x="1005840" y="2916936"/>
            <a:ext cx="3931920" cy="2548128"/>
          </a:xfrm>
          <a:prstGeom prst="rect">
            <a:avLst/>
          </a:prstGeom>
          <a:noFill/>
        </p:spPr>
        <p:txBody>
          <a:bodyPr wrap="none" lIns="0" tIns="0" rIns="0" bIns="0" anchor="t">
            <a:noAutofit/>
          </a:bodyPr>
          <a:lstStyle/>
          <a:p>
            <a:pPr algn="l"/>
            <a:r>
              <a:rPr lang="en-US" sz="2000" b="0" i="0">
                <a:solidFill>
                  <a:srgbClr val="F5B759"/>
                </a:solidFill>
                <a:latin typeface="Consolas"/>
              </a:rPr>
              <a:t>print</a:t>
            </a:r>
            <a:r>
              <a:rPr lang="en-US" sz="2000" b="0" i="0">
                <a:solidFill>
                  <a:srgbClr val="E9EAEE"/>
                </a:solidFill>
                <a:latin typeface="Consolas"/>
              </a:rPr>
              <a:t>(7 / 2)</a:t>
            </a:r>
          </a:p>
          <a:p>
            <a:pPr algn="l"/>
            <a:r>
              <a:rPr lang="en-US" sz="2000" b="0" i="0">
                <a:solidFill>
                  <a:srgbClr val="F5B759"/>
                </a:solidFill>
                <a:latin typeface="Consolas"/>
              </a:rPr>
              <a:t>print</a:t>
            </a:r>
            <a:r>
              <a:rPr lang="en-US" sz="2000" b="0" i="0">
                <a:solidFill>
                  <a:srgbClr val="E9EAEE"/>
                </a:solidFill>
                <a:latin typeface="Consolas"/>
              </a:rPr>
              <a:t>(7 // 2)</a:t>
            </a:r>
          </a:p>
          <a:p>
            <a:pPr algn="l"/>
            <a:r>
              <a:rPr lang="en-US" sz="2000" b="0" i="0">
                <a:solidFill>
                  <a:srgbClr val="F5B759"/>
                </a:solidFill>
                <a:latin typeface="Consolas"/>
              </a:rPr>
              <a:t>print</a:t>
            </a:r>
            <a:r>
              <a:rPr lang="en-US" sz="2000" b="0" i="0">
                <a:solidFill>
                  <a:srgbClr val="E9EAEE"/>
                </a:solidFill>
                <a:latin typeface="Consolas"/>
              </a:rPr>
              <a:t>(7 % 2)</a:t>
            </a:r>
          </a:p>
          <a:p>
            <a:pPr algn="l"/>
            <a:r>
              <a:rPr lang="en-US" sz="2000" b="0" i="0">
                <a:solidFill>
                  <a:srgbClr val="F5B759"/>
                </a:solidFill>
                <a:latin typeface="Consolas"/>
              </a:rPr>
              <a:t>print</a:t>
            </a:r>
            <a:r>
              <a:rPr lang="en-US" sz="2000" b="0" i="0">
                <a:solidFill>
                  <a:srgbClr val="E9EAEE"/>
                </a:solidFill>
                <a:latin typeface="Consolas"/>
              </a:rPr>
              <a:t>(2 ** 10)</a:t>
            </a:r>
          </a:p>
          <a:p>
            <a:pPr algn="l"/>
            <a:r>
              <a:rPr lang="en-US" sz="2000" b="0" i="0">
                <a:solidFill>
                  <a:srgbClr val="F5B759"/>
                </a:solidFill>
                <a:latin typeface="Consolas"/>
              </a:rPr>
              <a:t>print</a:t>
            </a:r>
            <a:r>
              <a:rPr lang="en-US" sz="2000" b="0" i="0">
                <a:solidFill>
                  <a:srgbClr val="E9EAEE"/>
                </a:solidFill>
                <a:latin typeface="Consolas"/>
              </a:rPr>
              <a:t>(-7 // 2)</a:t>
            </a:r>
          </a:p>
          <a:p>
            <a:pPr algn="l"/>
            <a:r>
              <a:rPr lang="en-US" sz="2000" b="0" i="0">
                <a:solidFill>
                  <a:srgbClr val="F5B759"/>
                </a:solidFill>
                <a:latin typeface="Consolas"/>
              </a:rPr>
              <a:t>print</a:t>
            </a:r>
            <a:r>
              <a:rPr lang="en-US" sz="2000" b="0" i="0">
                <a:solidFill>
                  <a:srgbClr val="E9EAEE"/>
                </a:solidFill>
                <a:latin typeface="Consolas"/>
              </a:rPr>
              <a:t>(</a:t>
            </a:r>
            <a:r>
              <a:rPr lang="en-US" sz="2000" b="0" i="0">
                <a:solidFill>
                  <a:srgbClr val="F5B759"/>
                </a:solidFill>
                <a:latin typeface="Consolas"/>
              </a:rPr>
              <a:t>type</a:t>
            </a:r>
            <a:r>
              <a:rPr lang="en-US" sz="2000" b="0" i="0">
                <a:solidFill>
                  <a:srgbClr val="E9EAEE"/>
                </a:solidFill>
                <a:latin typeface="Consolas"/>
              </a:rPr>
              <a:t>(7 / 2))</a:t>
            </a:r>
          </a:p>
          <a:p>
            <a:pPr algn="l"/>
            <a:r>
              <a:rPr lang="en-US" sz="2000" b="0" i="0">
                <a:solidFill>
                  <a:srgbClr val="F5B759"/>
                </a:solidFill>
                <a:latin typeface="Consolas"/>
              </a:rPr>
              <a:t>print</a:t>
            </a:r>
            <a:r>
              <a:rPr lang="en-US" sz="2000" b="0" i="0">
                <a:solidFill>
                  <a:srgbClr val="E9EAEE"/>
                </a:solidFill>
                <a:latin typeface="Consolas"/>
              </a:rPr>
              <a:t>(10 / 5)</a:t>
            </a:r>
          </a:p>
          <a:p>
            <a:pPr algn="l"/>
            <a:r>
              <a:rPr lang="en-US" sz="2000" b="0" i="0">
                <a:solidFill>
                  <a:srgbClr val="F5B759"/>
                </a:solidFill>
                <a:latin typeface="Consolas"/>
              </a:rPr>
              <a:t>print</a:t>
            </a:r>
            <a:r>
              <a:rPr lang="en-US" sz="2000" b="0" i="0">
                <a:solidFill>
                  <a:srgbClr val="E9EAEE"/>
                </a:solidFill>
                <a:latin typeface="Consolas"/>
              </a:rPr>
              <a:t>(1 / 3)</a:t>
            </a:r>
          </a:p>
        </p:txBody>
      </p:sp>
      <p:sp>
        <p:nvSpPr>
          <p:cNvPr id="21" name="Answers"/>
          <p:cNvSpPr/>
          <p:nvPr/>
        </p:nvSpPr>
        <p:spPr>
          <a:xfrm>
            <a:off x="5577840" y="2423160"/>
            <a:ext cx="5971032" cy="3749039"/>
          </a:xfrm>
          <a:prstGeom prst="roundRect">
            <a:avLst>
              <a:gd name="adj" fmla="val 6000"/>
            </a:avLst>
          </a:prstGeom>
          <a:solidFill>
            <a:srgbClr val="F2F3F5"/>
          </a:solidFill>
          <a:ln w="12700">
            <a:solidFill>
              <a:srgbClr val="D8DBE0"/>
            </a:solidFill>
          </a:ln>
        </p:spPr>
        <p:txBody>
          <a:bodyPr rtlCol="0" anchor="ctr"/>
          <a:lstStyle/>
          <a:p>
            <a:endParaRPr/>
          </a:p>
        </p:txBody>
      </p:sp>
      <p:sp>
        <p:nvSpPr>
          <p:cNvPr id="22" name="Answers text"/>
          <p:cNvSpPr txBox="1"/>
          <p:nvPr/>
        </p:nvSpPr>
        <p:spPr>
          <a:xfrm>
            <a:off x="5760720" y="2532888"/>
            <a:ext cx="5605272" cy="3529583"/>
          </a:xfrm>
          <a:prstGeom prst="rect">
            <a:avLst/>
          </a:prstGeom>
          <a:noFill/>
        </p:spPr>
        <p:txBody>
          <a:bodyPr wrap="square" lIns="0" tIns="0" rIns="0" bIns="0" anchor="t">
            <a:noAutofit/>
          </a:bodyPr>
          <a:lstStyle/>
          <a:p>
            <a:pPr algn="l">
              <a:spcAft>
                <a:spcPts val="800"/>
              </a:spcAft>
            </a:pPr>
            <a:r>
              <a:rPr lang="en-US" sz="2200" b="0" i="0">
                <a:solidFill>
                  <a:srgbClr val="A64B00"/>
                </a:solidFill>
                <a:latin typeface="Raleway"/>
              </a:rPr>
              <a:t>Your answers</a:t>
            </a:r>
          </a:p>
          <a:p>
            <a:pPr algn="l">
              <a:spcAft>
                <a:spcPts val="600"/>
              </a:spcAft>
            </a:pPr>
            <a:r>
              <a:rPr lang="en-US" sz="1800" b="0" i="0">
                <a:solidFill>
                  <a:srgbClr val="9AA1AB"/>
                </a:solidFill>
                <a:latin typeface="Consolas"/>
              </a:rPr>
              <a:t>?</a:t>
            </a:r>
          </a:p>
          <a:p>
            <a:pPr algn="l">
              <a:spcAft>
                <a:spcPts val="600"/>
              </a:spcAft>
            </a:pPr>
            <a:r>
              <a:rPr lang="en-US" sz="1800" b="0" i="0">
                <a:solidFill>
                  <a:srgbClr val="9AA1AB"/>
                </a:solidFill>
                <a:latin typeface="Consolas"/>
              </a:rPr>
              <a:t>?</a:t>
            </a:r>
          </a:p>
          <a:p>
            <a:pPr algn="l">
              <a:spcAft>
                <a:spcPts val="600"/>
              </a:spcAft>
            </a:pPr>
            <a:r>
              <a:rPr lang="en-US" sz="1800" b="0" i="0">
                <a:solidFill>
                  <a:srgbClr val="9AA1AB"/>
                </a:solidFill>
                <a:latin typeface="Consolas"/>
              </a:rPr>
              <a:t>?</a:t>
            </a:r>
          </a:p>
          <a:p>
            <a:pPr algn="l">
              <a:spcAft>
                <a:spcPts val="600"/>
              </a:spcAft>
            </a:pPr>
            <a:r>
              <a:rPr lang="en-US" sz="1800" b="0" i="0">
                <a:solidFill>
                  <a:srgbClr val="9AA1AB"/>
                </a:solidFill>
                <a:latin typeface="Consolas"/>
              </a:rPr>
              <a:t>?</a:t>
            </a:r>
          </a:p>
          <a:p>
            <a:pPr algn="l">
              <a:spcAft>
                <a:spcPts val="600"/>
              </a:spcAft>
            </a:pPr>
            <a:r>
              <a:rPr lang="en-US" sz="1800" b="0" i="0">
                <a:solidFill>
                  <a:srgbClr val="9AA1AB"/>
                </a:solidFill>
                <a:latin typeface="Consolas"/>
              </a:rPr>
              <a:t>?</a:t>
            </a:r>
          </a:p>
          <a:p>
            <a:pPr algn="l">
              <a:spcAft>
                <a:spcPts val="600"/>
              </a:spcAft>
            </a:pPr>
            <a:r>
              <a:rPr lang="en-US" sz="1800" b="0" i="0">
                <a:solidFill>
                  <a:srgbClr val="9AA1AB"/>
                </a:solidFill>
                <a:latin typeface="Consolas"/>
              </a:rPr>
              <a:t>?</a:t>
            </a:r>
          </a:p>
          <a:p>
            <a:pPr algn="l">
              <a:spcAft>
                <a:spcPts val="600"/>
              </a:spcAft>
            </a:pPr>
            <a:r>
              <a:rPr lang="en-US" sz="1800" b="0" i="0">
                <a:solidFill>
                  <a:srgbClr val="9AA1AB"/>
                </a:solidFill>
                <a:latin typeface="Consolas"/>
              </a:rPr>
              <a:t>?</a:t>
            </a:r>
          </a:p>
          <a:p>
            <a:pPr algn="l">
              <a:spcAft>
                <a:spcPts val="600"/>
              </a:spcAft>
            </a:pPr>
            <a:r>
              <a:rPr lang="en-US" sz="1800" b="0" i="0">
                <a:solidFill>
                  <a:srgbClr val="9AA1AB"/>
                </a:solidFill>
                <a:latin typeface="Consolas"/>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05 - Predict - Warm-up: numbers">
    <p:spTree>
      <p:nvGrpSpPr>
        <p:cNvPr id="1" name=""/>
        <p:cNvGrpSpPr/>
        <p:nvPr/>
      </p:nvGrpSpPr>
      <p:grpSpPr>
        <a:xfrm>
          <a:off x="0" y="0"/>
          <a:ext cx="0" cy="0"/>
          <a:chOff x="0" y="0"/>
          <a:chExt cx="0" cy="0"/>
        </a:xfrm>
      </p:grpSpPr>
      <p:sp>
        <p:nvSpPr>
          <p:cNvPr id="2" name="Slide number"/>
          <p:cNvSpPr txBox="1"/>
          <p:nvPr/>
        </p:nvSpPr>
        <p:spPr>
          <a:xfrm>
            <a:off x="11430000" y="6446520"/>
            <a:ext cx="548640" cy="320040"/>
          </a:xfrm>
          <a:prstGeom prst="rect">
            <a:avLst/>
          </a:prstGeom>
          <a:noFill/>
        </p:spPr>
        <p:txBody>
          <a:bodyPr wrap="none" lIns="0" tIns="0" rIns="0" bIns="0" anchor="ctr">
            <a:spAutoFit/>
          </a:bodyPr>
          <a:lstStyle/>
          <a:p>
            <a:pPr algn="r"/>
            <a:fld id="{007A6A40-1A7B-4A1B-9D78-D7D11C5A8472}" type="slidenum">
              <a:rPr lang="en-US" sz="1200">
                <a:solidFill>
                  <a:srgbClr val="1B3A5C"/>
                </a:solidFill>
                <a:latin typeface="Raleway"/>
              </a:rPr>
              <a:t>6</a:t>
            </a:fld>
            <a:endParaRPr lang="en-US" sz="1200">
              <a:solidFill>
                <a:srgbClr val="1B3A5C"/>
              </a:solidFill>
              <a:latin typeface="Raleway"/>
            </a:endParaRPr>
          </a:p>
        </p:txBody>
      </p:sp>
      <p:sp>
        <p:nvSpPr>
          <p:cNvPr id="3" name="Title"/>
          <p:cNvSpPr txBox="1"/>
          <p:nvPr/>
        </p:nvSpPr>
        <p:spPr>
          <a:xfrm>
            <a:off x="640080" y="502920"/>
            <a:ext cx="11411712" cy="822960"/>
          </a:xfrm>
          <a:prstGeom prst="rect">
            <a:avLst/>
          </a:prstGeom>
          <a:noFill/>
        </p:spPr>
        <p:txBody>
          <a:bodyPr wrap="square" lIns="0" tIns="0" rIns="0" bIns="0" anchor="ctr">
            <a:noAutofit/>
          </a:bodyPr>
          <a:lstStyle/>
          <a:p>
            <a:pPr algn="l"/>
            <a:r>
              <a:rPr lang="en-US" sz="4000" b="1" i="0">
                <a:solidFill>
                  <a:srgbClr val="1F4E79"/>
                </a:solidFill>
                <a:latin typeface="Raleway"/>
              </a:rPr>
              <a:t>Warm-up: numbers - the answers</a:t>
            </a:r>
          </a:p>
        </p:txBody>
      </p:sp>
      <p:sp>
        <p:nvSpPr>
          <p:cNvPr id="12" name="Lead"/>
          <p:cNvSpPr txBox="1"/>
          <p:nvPr/>
        </p:nvSpPr>
        <p:spPr>
          <a:xfrm>
            <a:off x="640080" y="1389888"/>
            <a:ext cx="10881360" cy="438912"/>
          </a:xfrm>
          <a:prstGeom prst="rect">
            <a:avLst/>
          </a:prstGeom>
          <a:noFill/>
        </p:spPr>
        <p:txBody>
          <a:bodyPr wrap="square" lIns="0" tIns="0" rIns="0" bIns="0" anchor="t">
            <a:noAutofit/>
          </a:bodyPr>
          <a:lstStyle/>
          <a:p>
            <a:pPr algn="l">
              <a:lnSpc>
                <a:spcPct val="110000"/>
              </a:lnSpc>
            </a:pPr>
            <a:r>
              <a:rPr lang="en-US" sz="2000" b="0" i="0">
                <a:solidFill>
                  <a:srgbClr val="1D2433"/>
                </a:solidFill>
                <a:latin typeface="Raleway"/>
              </a:rPr>
              <a:t>What each line prints. Check it against your paper.</a:t>
            </a:r>
          </a:p>
        </p:txBody>
      </p:sp>
      <p:sp>
        <p:nvSpPr>
          <p:cNvPr id="13" name="Code card"/>
          <p:cNvSpPr/>
          <p:nvPr/>
        </p:nvSpPr>
        <p:spPr>
          <a:xfrm>
            <a:off x="640080" y="1847088"/>
            <a:ext cx="4572000" cy="3133344"/>
          </a:xfrm>
          <a:prstGeom prst="roundRect">
            <a:avLst>
              <a:gd name="adj" fmla="val 4000"/>
            </a:avLst>
          </a:prstGeom>
          <a:solidFill>
            <a:srgbClr val="111318"/>
          </a:solidFill>
          <a:ln w="12700">
            <a:solidFill>
              <a:srgbClr val="D8DBE0"/>
            </a:solidFill>
          </a:ln>
        </p:spPr>
        <p:txBody>
          <a:bodyPr rtlCol="0" anchor="ctr"/>
          <a:lstStyle/>
          <a:p>
            <a:endParaRPr/>
          </a:p>
        </p:txBody>
      </p:sp>
      <p:sp>
        <p:nvSpPr>
          <p:cNvPr id="14" name="Code card header"/>
          <p:cNvSpPr/>
          <p:nvPr/>
        </p:nvSpPr>
        <p:spPr>
          <a:xfrm>
            <a:off x="640080" y="1847088"/>
            <a:ext cx="4572000" cy="384048"/>
          </a:xfrm>
          <a:prstGeom prst="roundRect">
            <a:avLst>
              <a:gd name="adj" fmla="val 10000"/>
            </a:avLst>
          </a:prstGeom>
          <a:solidFill>
            <a:srgbClr val="1B1E26"/>
          </a:solidFill>
          <a:ln w="12700">
            <a:solidFill>
              <a:srgbClr val="D8DBE0"/>
            </a:solidFill>
          </a:ln>
        </p:spPr>
        <p:txBody>
          <a:bodyPr rtlCol="0" anchor="ctr"/>
          <a:lstStyle/>
          <a:p>
            <a:endParaRPr/>
          </a:p>
        </p:txBody>
      </p:sp>
      <p:sp>
        <p:nvSpPr>
          <p:cNvPr id="15" name="Code card header fill"/>
          <p:cNvSpPr/>
          <p:nvPr/>
        </p:nvSpPr>
        <p:spPr>
          <a:xfrm>
            <a:off x="658368" y="2039112"/>
            <a:ext cx="4535424" cy="192024"/>
          </a:xfrm>
          <a:prstGeom prst="rect">
            <a:avLst/>
          </a:prstGeom>
          <a:solidFill>
            <a:srgbClr val="1B1E26"/>
          </a:solidFill>
          <a:ln>
            <a:noFill/>
          </a:ln>
        </p:spPr>
        <p:txBody>
          <a:bodyPr rtlCol="0" anchor="ctr"/>
          <a:lstStyle/>
          <a:p>
            <a:endParaRPr/>
          </a:p>
        </p:txBody>
      </p:sp>
      <p:sp>
        <p:nvSpPr>
          <p:cNvPr id="16" name="Oval 15"/>
          <p:cNvSpPr/>
          <p:nvPr/>
        </p:nvSpPr>
        <p:spPr>
          <a:xfrm>
            <a:off x="868680" y="1984248"/>
            <a:ext cx="118872" cy="118872"/>
          </a:xfrm>
          <a:prstGeom prst="ellipse">
            <a:avLst/>
          </a:prstGeom>
          <a:solidFill>
            <a:srgbClr val="FF6B6B"/>
          </a:solidFill>
          <a:ln>
            <a:noFill/>
          </a:ln>
        </p:spPr>
        <p:txBody>
          <a:bodyPr rtlCol="0" anchor="ctr"/>
          <a:lstStyle/>
          <a:p>
            <a:pPr algn="ctr"/>
            <a:endParaRPr/>
          </a:p>
        </p:txBody>
      </p:sp>
      <p:sp>
        <p:nvSpPr>
          <p:cNvPr id="17" name="Oval 16"/>
          <p:cNvSpPr/>
          <p:nvPr/>
        </p:nvSpPr>
        <p:spPr>
          <a:xfrm>
            <a:off x="1143000" y="1984248"/>
            <a:ext cx="118872" cy="118872"/>
          </a:xfrm>
          <a:prstGeom prst="ellipse">
            <a:avLst/>
          </a:prstGeom>
          <a:solidFill>
            <a:srgbClr val="FFD94A"/>
          </a:solidFill>
          <a:ln>
            <a:noFill/>
          </a:ln>
        </p:spPr>
        <p:txBody>
          <a:bodyPr rtlCol="0" anchor="ctr"/>
          <a:lstStyle/>
          <a:p>
            <a:pPr algn="ctr"/>
            <a:endParaRPr/>
          </a:p>
        </p:txBody>
      </p:sp>
      <p:sp>
        <p:nvSpPr>
          <p:cNvPr id="18" name="Oval 17"/>
          <p:cNvSpPr/>
          <p:nvPr/>
        </p:nvSpPr>
        <p:spPr>
          <a:xfrm>
            <a:off x="1417319" y="1984248"/>
            <a:ext cx="118872" cy="118872"/>
          </a:xfrm>
          <a:prstGeom prst="ellipse">
            <a:avLst/>
          </a:prstGeom>
          <a:solidFill>
            <a:srgbClr val="8FE3AB"/>
          </a:solidFill>
          <a:ln>
            <a:noFill/>
          </a:ln>
        </p:spPr>
        <p:txBody>
          <a:bodyPr rtlCol="0" anchor="ctr"/>
          <a:lstStyle/>
          <a:p>
            <a:pPr algn="ctr"/>
            <a:endParaRPr/>
          </a:p>
        </p:txBody>
      </p:sp>
      <p:sp>
        <p:nvSpPr>
          <p:cNvPr id="19" name="Filename"/>
          <p:cNvSpPr txBox="1"/>
          <p:nvPr/>
        </p:nvSpPr>
        <p:spPr>
          <a:xfrm>
            <a:off x="1828800" y="1847088"/>
            <a:ext cx="3200400" cy="384048"/>
          </a:xfrm>
          <a:prstGeom prst="rect">
            <a:avLst/>
          </a:prstGeom>
          <a:noFill/>
        </p:spPr>
        <p:txBody>
          <a:bodyPr wrap="square" lIns="0" tIns="0" rIns="0" bIns="0" anchor="ctr">
            <a:noAutofit/>
          </a:bodyPr>
          <a:lstStyle/>
          <a:p>
            <a:pPr algn="l"/>
            <a:r>
              <a:rPr lang="en-US" sz="1200" b="0" i="0">
                <a:solidFill>
                  <a:srgbClr val="E9EAEE"/>
                </a:solidFill>
                <a:latin typeface="Consolas"/>
              </a:rPr>
              <a:t>warmup_numbers.py</a:t>
            </a:r>
          </a:p>
        </p:txBody>
      </p:sp>
      <p:sp>
        <p:nvSpPr>
          <p:cNvPr id="20" name="Code"/>
          <p:cNvSpPr txBox="1"/>
          <p:nvPr/>
        </p:nvSpPr>
        <p:spPr>
          <a:xfrm>
            <a:off x="1005840" y="2340864"/>
            <a:ext cx="3931920" cy="2548128"/>
          </a:xfrm>
          <a:prstGeom prst="rect">
            <a:avLst/>
          </a:prstGeom>
          <a:noFill/>
        </p:spPr>
        <p:txBody>
          <a:bodyPr wrap="none" lIns="0" tIns="0" rIns="0" bIns="0" anchor="t">
            <a:noAutofit/>
          </a:bodyPr>
          <a:lstStyle/>
          <a:p>
            <a:pPr algn="l"/>
            <a:r>
              <a:rPr lang="en-US" sz="2000" b="0" i="0">
                <a:solidFill>
                  <a:srgbClr val="F5B759"/>
                </a:solidFill>
                <a:latin typeface="Consolas"/>
              </a:rPr>
              <a:t>print</a:t>
            </a:r>
            <a:r>
              <a:rPr lang="en-US" sz="2000" b="0" i="0">
                <a:solidFill>
                  <a:srgbClr val="E9EAEE"/>
                </a:solidFill>
                <a:latin typeface="Consolas"/>
              </a:rPr>
              <a:t>(7 / 2)</a:t>
            </a:r>
          </a:p>
          <a:p>
            <a:pPr algn="l"/>
            <a:r>
              <a:rPr lang="en-US" sz="2000" b="0" i="0">
                <a:solidFill>
                  <a:srgbClr val="F5B759"/>
                </a:solidFill>
                <a:latin typeface="Consolas"/>
              </a:rPr>
              <a:t>print</a:t>
            </a:r>
            <a:r>
              <a:rPr lang="en-US" sz="2000" b="0" i="0">
                <a:solidFill>
                  <a:srgbClr val="E9EAEE"/>
                </a:solidFill>
                <a:latin typeface="Consolas"/>
              </a:rPr>
              <a:t>(7 // 2)</a:t>
            </a:r>
          </a:p>
          <a:p>
            <a:pPr algn="l"/>
            <a:r>
              <a:rPr lang="en-US" sz="2000" b="0" i="0">
                <a:solidFill>
                  <a:srgbClr val="F5B759"/>
                </a:solidFill>
                <a:latin typeface="Consolas"/>
              </a:rPr>
              <a:t>print</a:t>
            </a:r>
            <a:r>
              <a:rPr lang="en-US" sz="2000" b="0" i="0">
                <a:solidFill>
                  <a:srgbClr val="E9EAEE"/>
                </a:solidFill>
                <a:latin typeface="Consolas"/>
              </a:rPr>
              <a:t>(7 % 2)</a:t>
            </a:r>
          </a:p>
          <a:p>
            <a:pPr algn="l"/>
            <a:r>
              <a:rPr lang="en-US" sz="2000" b="0" i="0">
                <a:solidFill>
                  <a:srgbClr val="F5B759"/>
                </a:solidFill>
                <a:latin typeface="Consolas"/>
              </a:rPr>
              <a:t>print</a:t>
            </a:r>
            <a:r>
              <a:rPr lang="en-US" sz="2000" b="0" i="0">
                <a:solidFill>
                  <a:srgbClr val="E9EAEE"/>
                </a:solidFill>
                <a:latin typeface="Consolas"/>
              </a:rPr>
              <a:t>(2 ** 10)</a:t>
            </a:r>
          </a:p>
          <a:p>
            <a:pPr algn="l"/>
            <a:r>
              <a:rPr lang="en-US" sz="2000" b="0" i="0">
                <a:solidFill>
                  <a:srgbClr val="F5B759"/>
                </a:solidFill>
                <a:latin typeface="Consolas"/>
              </a:rPr>
              <a:t>print</a:t>
            </a:r>
            <a:r>
              <a:rPr lang="en-US" sz="2000" b="0" i="0">
                <a:solidFill>
                  <a:srgbClr val="E9EAEE"/>
                </a:solidFill>
                <a:latin typeface="Consolas"/>
              </a:rPr>
              <a:t>(-7 // 2)</a:t>
            </a:r>
          </a:p>
          <a:p>
            <a:pPr algn="l"/>
            <a:r>
              <a:rPr lang="en-US" sz="2000" b="0" i="0">
                <a:solidFill>
                  <a:srgbClr val="F5B759"/>
                </a:solidFill>
                <a:latin typeface="Consolas"/>
              </a:rPr>
              <a:t>print</a:t>
            </a:r>
            <a:r>
              <a:rPr lang="en-US" sz="2000" b="0" i="0">
                <a:solidFill>
                  <a:srgbClr val="E9EAEE"/>
                </a:solidFill>
                <a:latin typeface="Consolas"/>
              </a:rPr>
              <a:t>(</a:t>
            </a:r>
            <a:r>
              <a:rPr lang="en-US" sz="2000" b="0" i="0">
                <a:solidFill>
                  <a:srgbClr val="F5B759"/>
                </a:solidFill>
                <a:latin typeface="Consolas"/>
              </a:rPr>
              <a:t>type</a:t>
            </a:r>
            <a:r>
              <a:rPr lang="en-US" sz="2000" b="0" i="0">
                <a:solidFill>
                  <a:srgbClr val="E9EAEE"/>
                </a:solidFill>
                <a:latin typeface="Consolas"/>
              </a:rPr>
              <a:t>(7 / 2))</a:t>
            </a:r>
          </a:p>
          <a:p>
            <a:pPr algn="l"/>
            <a:r>
              <a:rPr lang="en-US" sz="2000" b="0" i="0">
                <a:solidFill>
                  <a:srgbClr val="F5B759"/>
                </a:solidFill>
                <a:latin typeface="Consolas"/>
              </a:rPr>
              <a:t>print</a:t>
            </a:r>
            <a:r>
              <a:rPr lang="en-US" sz="2000" b="0" i="0">
                <a:solidFill>
                  <a:srgbClr val="E9EAEE"/>
                </a:solidFill>
                <a:latin typeface="Consolas"/>
              </a:rPr>
              <a:t>(10 / 5)</a:t>
            </a:r>
          </a:p>
          <a:p>
            <a:pPr algn="l"/>
            <a:r>
              <a:rPr lang="en-US" sz="2000" b="0" i="0">
                <a:solidFill>
                  <a:srgbClr val="F5B759"/>
                </a:solidFill>
                <a:latin typeface="Consolas"/>
              </a:rPr>
              <a:t>print</a:t>
            </a:r>
            <a:r>
              <a:rPr lang="en-US" sz="2000" b="0" i="0">
                <a:solidFill>
                  <a:srgbClr val="E9EAEE"/>
                </a:solidFill>
                <a:latin typeface="Consolas"/>
              </a:rPr>
              <a:t>(1 / 3)</a:t>
            </a:r>
          </a:p>
        </p:txBody>
      </p:sp>
      <p:sp>
        <p:nvSpPr>
          <p:cNvPr id="21" name="Answers"/>
          <p:cNvSpPr/>
          <p:nvPr/>
        </p:nvSpPr>
        <p:spPr>
          <a:xfrm>
            <a:off x="5577840" y="1847088"/>
            <a:ext cx="5971032" cy="3749039"/>
          </a:xfrm>
          <a:prstGeom prst="roundRect">
            <a:avLst>
              <a:gd name="adj" fmla="val 6000"/>
            </a:avLst>
          </a:prstGeom>
          <a:solidFill>
            <a:srgbClr val="F2F3F5"/>
          </a:solidFill>
          <a:ln w="12700">
            <a:solidFill>
              <a:srgbClr val="D8DBE0"/>
            </a:solidFill>
          </a:ln>
        </p:spPr>
        <p:txBody>
          <a:bodyPr rtlCol="0" anchor="ctr"/>
          <a:lstStyle/>
          <a:p>
            <a:endParaRPr/>
          </a:p>
        </p:txBody>
      </p:sp>
      <p:sp>
        <p:nvSpPr>
          <p:cNvPr id="22" name="Answers text"/>
          <p:cNvSpPr txBox="1"/>
          <p:nvPr/>
        </p:nvSpPr>
        <p:spPr>
          <a:xfrm>
            <a:off x="5760720" y="1956816"/>
            <a:ext cx="5605272" cy="3529583"/>
          </a:xfrm>
          <a:prstGeom prst="rect">
            <a:avLst/>
          </a:prstGeom>
          <a:noFill/>
        </p:spPr>
        <p:txBody>
          <a:bodyPr wrap="square" lIns="0" tIns="0" rIns="0" bIns="0" anchor="t">
            <a:noAutofit/>
          </a:bodyPr>
          <a:lstStyle/>
          <a:p>
            <a:pPr algn="l">
              <a:spcAft>
                <a:spcPts val="800"/>
              </a:spcAft>
            </a:pPr>
            <a:r>
              <a:rPr lang="en-US" sz="2200" b="0" i="0">
                <a:solidFill>
                  <a:srgbClr val="A64B00"/>
                </a:solidFill>
                <a:latin typeface="Raleway"/>
              </a:rPr>
              <a:t>The answers</a:t>
            </a:r>
          </a:p>
          <a:p>
            <a:pPr algn="l">
              <a:spcAft>
                <a:spcPts val="600"/>
              </a:spcAft>
            </a:pPr>
            <a:r>
              <a:rPr lang="en-US" sz="1800" b="0" i="0">
                <a:solidFill>
                  <a:srgbClr val="1D2433"/>
                </a:solidFill>
                <a:latin typeface="Consolas"/>
              </a:rPr>
              <a:t>3.5</a:t>
            </a:r>
          </a:p>
          <a:p>
            <a:pPr algn="l">
              <a:spcAft>
                <a:spcPts val="600"/>
              </a:spcAft>
            </a:pPr>
            <a:r>
              <a:rPr lang="en-US" sz="1800" b="0" i="0">
                <a:solidFill>
                  <a:srgbClr val="1D2433"/>
                </a:solidFill>
                <a:latin typeface="Consolas"/>
              </a:rPr>
              <a:t>3</a:t>
            </a:r>
          </a:p>
          <a:p>
            <a:pPr algn="l">
              <a:spcAft>
                <a:spcPts val="600"/>
              </a:spcAft>
            </a:pPr>
            <a:r>
              <a:rPr lang="en-US" sz="1800" b="0" i="0">
                <a:solidFill>
                  <a:srgbClr val="1D2433"/>
                </a:solidFill>
                <a:latin typeface="Consolas"/>
              </a:rPr>
              <a:t>1</a:t>
            </a:r>
          </a:p>
          <a:p>
            <a:pPr algn="l">
              <a:spcAft>
                <a:spcPts val="600"/>
              </a:spcAft>
            </a:pPr>
            <a:r>
              <a:rPr lang="en-US" sz="1800" b="0" i="0">
                <a:solidFill>
                  <a:srgbClr val="1D2433"/>
                </a:solidFill>
                <a:latin typeface="Consolas"/>
              </a:rPr>
              <a:t>1024</a:t>
            </a:r>
          </a:p>
          <a:p>
            <a:pPr algn="l">
              <a:spcAft>
                <a:spcPts val="600"/>
              </a:spcAft>
            </a:pPr>
            <a:r>
              <a:rPr lang="en-US" sz="1800" b="0" i="0">
                <a:solidFill>
                  <a:srgbClr val="1D2433"/>
                </a:solidFill>
                <a:latin typeface="Consolas"/>
              </a:rPr>
              <a:t>-4</a:t>
            </a:r>
          </a:p>
          <a:p>
            <a:pPr algn="l">
              <a:spcAft>
                <a:spcPts val="600"/>
              </a:spcAft>
            </a:pPr>
            <a:r>
              <a:rPr lang="en-US" sz="1800" b="0" i="0">
                <a:solidFill>
                  <a:srgbClr val="1D2433"/>
                </a:solidFill>
                <a:latin typeface="Consolas"/>
              </a:rPr>
              <a:t>&lt;class 'float'&gt;</a:t>
            </a:r>
          </a:p>
          <a:p>
            <a:pPr algn="l">
              <a:spcAft>
                <a:spcPts val="600"/>
              </a:spcAft>
            </a:pPr>
            <a:r>
              <a:rPr lang="en-US" sz="1800" b="0" i="0">
                <a:solidFill>
                  <a:srgbClr val="1D2433"/>
                </a:solidFill>
                <a:latin typeface="Consolas"/>
              </a:rPr>
              <a:t>2.0</a:t>
            </a:r>
          </a:p>
          <a:p>
            <a:pPr algn="l">
              <a:spcAft>
                <a:spcPts val="600"/>
              </a:spcAft>
            </a:pPr>
            <a:r>
              <a:rPr lang="en-US" sz="1800" b="0" i="0">
                <a:solidFill>
                  <a:srgbClr val="1D2433"/>
                </a:solidFill>
                <a:latin typeface="Consolas"/>
              </a:rPr>
              <a:t>0.3333333333333333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06 - Predict - Warm-up: text and casting">
    <p:spTree>
      <p:nvGrpSpPr>
        <p:cNvPr id="1" name=""/>
        <p:cNvGrpSpPr/>
        <p:nvPr/>
      </p:nvGrpSpPr>
      <p:grpSpPr>
        <a:xfrm>
          <a:off x="0" y="0"/>
          <a:ext cx="0" cy="0"/>
          <a:chOff x="0" y="0"/>
          <a:chExt cx="0" cy="0"/>
        </a:xfrm>
      </p:grpSpPr>
      <p:sp>
        <p:nvSpPr>
          <p:cNvPr id="2" name="Slide number"/>
          <p:cNvSpPr txBox="1"/>
          <p:nvPr/>
        </p:nvSpPr>
        <p:spPr>
          <a:xfrm>
            <a:off x="11430000" y="6446520"/>
            <a:ext cx="548640" cy="320040"/>
          </a:xfrm>
          <a:prstGeom prst="rect">
            <a:avLst/>
          </a:prstGeom>
          <a:noFill/>
        </p:spPr>
        <p:txBody>
          <a:bodyPr wrap="none" lIns="0" tIns="0" rIns="0" bIns="0" anchor="ctr">
            <a:spAutoFit/>
          </a:bodyPr>
          <a:lstStyle/>
          <a:p>
            <a:pPr algn="r"/>
            <a:fld id="{007A6A40-1A7B-4A1B-9D78-D7D11C5A8472}" type="slidenum">
              <a:rPr lang="en-US" sz="1200">
                <a:solidFill>
                  <a:srgbClr val="1B3A5C"/>
                </a:solidFill>
                <a:latin typeface="Raleway"/>
              </a:rPr>
              <a:t>7</a:t>
            </a:fld>
            <a:endParaRPr lang="en-US" sz="1200">
              <a:solidFill>
                <a:srgbClr val="1B3A5C"/>
              </a:solidFill>
              <a:latin typeface="Raleway"/>
            </a:endParaRPr>
          </a:p>
        </p:txBody>
      </p:sp>
      <p:sp>
        <p:nvSpPr>
          <p:cNvPr id="3" name="Title"/>
          <p:cNvSpPr txBox="1"/>
          <p:nvPr/>
        </p:nvSpPr>
        <p:spPr>
          <a:xfrm>
            <a:off x="640080" y="502920"/>
            <a:ext cx="11411712" cy="822960"/>
          </a:xfrm>
          <a:prstGeom prst="rect">
            <a:avLst/>
          </a:prstGeom>
          <a:noFill/>
        </p:spPr>
        <p:txBody>
          <a:bodyPr wrap="square" lIns="0" tIns="0" rIns="0" bIns="0" anchor="ctr">
            <a:noAutofit/>
          </a:bodyPr>
          <a:lstStyle/>
          <a:p>
            <a:pPr algn="l"/>
            <a:r>
              <a:rPr lang="en-US" sz="4000" b="1" i="0">
                <a:solidFill>
                  <a:srgbClr val="1F4E79"/>
                </a:solidFill>
                <a:latin typeface="Raleway"/>
              </a:rPr>
              <a:t>Warm-up: text and casting</a:t>
            </a:r>
          </a:p>
        </p:txBody>
      </p:sp>
      <p:sp>
        <p:nvSpPr>
          <p:cNvPr id="4" name="Level"/>
          <p:cNvSpPr/>
          <p:nvPr/>
        </p:nvSpPr>
        <p:spPr>
          <a:xfrm>
            <a:off x="10222992" y="1362456"/>
            <a:ext cx="1828800" cy="365760"/>
          </a:xfrm>
          <a:prstGeom prst="roundRect">
            <a:avLst>
              <a:gd name="adj" fmla="val 50000"/>
            </a:avLst>
          </a:prstGeom>
          <a:solidFill>
            <a:srgbClr val="F2F3F5"/>
          </a:solidFill>
          <a:ln w="12700">
            <a:solidFill>
              <a:srgbClr val="D8DBE0"/>
            </a:solidFill>
          </a:ln>
        </p:spPr>
        <p:txBody>
          <a:bodyPr lIns="73152" tIns="0" rIns="73152" bIns="0" rtlCol="0" anchor="ctr"/>
          <a:lstStyle/>
          <a:p>
            <a:pPr algn="ctr"/>
            <a:r>
              <a:rPr lang="en-US" sz="1200" b="0" i="0" spc="100">
                <a:solidFill>
                  <a:srgbClr val="44546A"/>
                </a:solidFill>
                <a:latin typeface="Raleway"/>
              </a:rPr>
              <a:t>WARM-UP · 4 MIN</a:t>
            </a:r>
          </a:p>
        </p:txBody>
      </p:sp>
      <p:sp>
        <p:nvSpPr>
          <p:cNvPr id="5" name="Lead"/>
          <p:cNvSpPr txBox="1"/>
          <p:nvPr/>
        </p:nvSpPr>
        <p:spPr>
          <a:xfrm>
            <a:off x="640080" y="1965960"/>
            <a:ext cx="10881360" cy="438912"/>
          </a:xfrm>
          <a:prstGeom prst="rect">
            <a:avLst/>
          </a:prstGeom>
          <a:noFill/>
        </p:spPr>
        <p:txBody>
          <a:bodyPr wrap="square" lIns="0" tIns="0" rIns="0" bIns="0" anchor="t">
            <a:noAutofit/>
          </a:bodyPr>
          <a:lstStyle/>
          <a:p>
            <a:pPr algn="l">
              <a:lnSpc>
                <a:spcPct val="110000"/>
              </a:lnSpc>
            </a:pPr>
            <a:r>
              <a:rPr lang="en-US" sz="2000" b="0" i="0">
                <a:solidFill>
                  <a:srgbClr val="1D2433"/>
                </a:solidFill>
                <a:latin typeface="Raleway"/>
              </a:rPr>
              <a:t>Same game. One of these lines does not print anything. Which one, and why?</a:t>
            </a:r>
          </a:p>
        </p:txBody>
      </p:sp>
      <p:sp>
        <p:nvSpPr>
          <p:cNvPr id="6" name="Code card"/>
          <p:cNvSpPr/>
          <p:nvPr/>
        </p:nvSpPr>
        <p:spPr>
          <a:xfrm>
            <a:off x="640080" y="2423160"/>
            <a:ext cx="4572000" cy="3011424"/>
          </a:xfrm>
          <a:prstGeom prst="roundRect">
            <a:avLst>
              <a:gd name="adj" fmla="val 4000"/>
            </a:avLst>
          </a:prstGeom>
          <a:solidFill>
            <a:srgbClr val="111318"/>
          </a:solidFill>
          <a:ln w="12700">
            <a:solidFill>
              <a:srgbClr val="D8DBE0"/>
            </a:solidFill>
          </a:ln>
        </p:spPr>
        <p:txBody>
          <a:bodyPr rtlCol="0" anchor="ctr"/>
          <a:lstStyle/>
          <a:p>
            <a:endParaRPr/>
          </a:p>
        </p:txBody>
      </p:sp>
      <p:sp>
        <p:nvSpPr>
          <p:cNvPr id="7" name="Code card header"/>
          <p:cNvSpPr/>
          <p:nvPr/>
        </p:nvSpPr>
        <p:spPr>
          <a:xfrm>
            <a:off x="640080" y="2423160"/>
            <a:ext cx="4572000" cy="384048"/>
          </a:xfrm>
          <a:prstGeom prst="roundRect">
            <a:avLst>
              <a:gd name="adj" fmla="val 10000"/>
            </a:avLst>
          </a:prstGeom>
          <a:solidFill>
            <a:srgbClr val="1B1E26"/>
          </a:solidFill>
          <a:ln w="12700">
            <a:solidFill>
              <a:srgbClr val="D8DBE0"/>
            </a:solidFill>
          </a:ln>
        </p:spPr>
        <p:txBody>
          <a:bodyPr rtlCol="0" anchor="ctr"/>
          <a:lstStyle/>
          <a:p>
            <a:endParaRPr/>
          </a:p>
        </p:txBody>
      </p:sp>
      <p:sp>
        <p:nvSpPr>
          <p:cNvPr id="8" name="Code card header fill"/>
          <p:cNvSpPr/>
          <p:nvPr/>
        </p:nvSpPr>
        <p:spPr>
          <a:xfrm>
            <a:off x="658368" y="2615184"/>
            <a:ext cx="4535424" cy="192024"/>
          </a:xfrm>
          <a:prstGeom prst="rect">
            <a:avLst/>
          </a:prstGeom>
          <a:solidFill>
            <a:srgbClr val="1B1E26"/>
          </a:solidFill>
          <a:ln>
            <a:noFill/>
          </a:ln>
        </p:spPr>
        <p:txBody>
          <a:bodyPr rtlCol="0" anchor="ctr"/>
          <a:lstStyle/>
          <a:p>
            <a:endParaRPr/>
          </a:p>
        </p:txBody>
      </p:sp>
      <p:sp>
        <p:nvSpPr>
          <p:cNvPr id="9" name="Oval 8"/>
          <p:cNvSpPr/>
          <p:nvPr/>
        </p:nvSpPr>
        <p:spPr>
          <a:xfrm>
            <a:off x="868680" y="2560320"/>
            <a:ext cx="118872" cy="118872"/>
          </a:xfrm>
          <a:prstGeom prst="ellipse">
            <a:avLst/>
          </a:prstGeom>
          <a:solidFill>
            <a:srgbClr val="FF6B6B"/>
          </a:solidFill>
          <a:ln>
            <a:noFill/>
          </a:ln>
        </p:spPr>
        <p:txBody>
          <a:bodyPr rtlCol="0" anchor="ctr"/>
          <a:lstStyle/>
          <a:p>
            <a:pPr algn="ctr"/>
            <a:endParaRPr/>
          </a:p>
        </p:txBody>
      </p:sp>
      <p:sp>
        <p:nvSpPr>
          <p:cNvPr id="10" name="Oval 9"/>
          <p:cNvSpPr/>
          <p:nvPr/>
        </p:nvSpPr>
        <p:spPr>
          <a:xfrm>
            <a:off x="1143000" y="2560320"/>
            <a:ext cx="118872" cy="118872"/>
          </a:xfrm>
          <a:prstGeom prst="ellipse">
            <a:avLst/>
          </a:prstGeom>
          <a:solidFill>
            <a:srgbClr val="FFD94A"/>
          </a:solidFill>
          <a:ln>
            <a:noFill/>
          </a:ln>
        </p:spPr>
        <p:txBody>
          <a:bodyPr rtlCol="0" anchor="ctr"/>
          <a:lstStyle/>
          <a:p>
            <a:pPr algn="ctr"/>
            <a:endParaRPr/>
          </a:p>
        </p:txBody>
      </p:sp>
      <p:sp>
        <p:nvSpPr>
          <p:cNvPr id="11" name="Oval 10"/>
          <p:cNvSpPr/>
          <p:nvPr/>
        </p:nvSpPr>
        <p:spPr>
          <a:xfrm>
            <a:off x="1417319" y="2560320"/>
            <a:ext cx="118872" cy="118872"/>
          </a:xfrm>
          <a:prstGeom prst="ellipse">
            <a:avLst/>
          </a:prstGeom>
          <a:solidFill>
            <a:srgbClr val="8FE3AB"/>
          </a:solidFill>
          <a:ln>
            <a:noFill/>
          </a:ln>
        </p:spPr>
        <p:txBody>
          <a:bodyPr rtlCol="0" anchor="ctr"/>
          <a:lstStyle/>
          <a:p>
            <a:pPr algn="ctr"/>
            <a:endParaRPr/>
          </a:p>
        </p:txBody>
      </p:sp>
      <p:sp>
        <p:nvSpPr>
          <p:cNvPr id="12" name="Filename"/>
          <p:cNvSpPr txBox="1"/>
          <p:nvPr/>
        </p:nvSpPr>
        <p:spPr>
          <a:xfrm>
            <a:off x="1828800" y="2423160"/>
            <a:ext cx="3200400" cy="384048"/>
          </a:xfrm>
          <a:prstGeom prst="rect">
            <a:avLst/>
          </a:prstGeom>
          <a:noFill/>
        </p:spPr>
        <p:txBody>
          <a:bodyPr wrap="square" lIns="0" tIns="0" rIns="0" bIns="0" anchor="ctr">
            <a:noAutofit/>
          </a:bodyPr>
          <a:lstStyle/>
          <a:p>
            <a:pPr algn="l"/>
            <a:r>
              <a:rPr lang="en-US" sz="1200" b="0" i="0">
                <a:solidFill>
                  <a:srgbClr val="E9EAEE"/>
                </a:solidFill>
                <a:latin typeface="Consolas"/>
              </a:rPr>
              <a:t>warmup_text.py</a:t>
            </a:r>
          </a:p>
        </p:txBody>
      </p:sp>
      <p:sp>
        <p:nvSpPr>
          <p:cNvPr id="13" name="Code"/>
          <p:cNvSpPr txBox="1"/>
          <p:nvPr/>
        </p:nvSpPr>
        <p:spPr>
          <a:xfrm>
            <a:off x="1005840" y="2916936"/>
            <a:ext cx="3931920" cy="2426208"/>
          </a:xfrm>
          <a:prstGeom prst="rect">
            <a:avLst/>
          </a:prstGeom>
          <a:noFill/>
        </p:spPr>
        <p:txBody>
          <a:bodyPr wrap="none" lIns="0" tIns="0" rIns="0" bIns="0" anchor="t">
            <a:noAutofit/>
          </a:bodyPr>
          <a:lstStyle/>
          <a:p>
            <a:pPr algn="l"/>
            <a:r>
              <a:rPr lang="en-US" sz="1900" b="0" i="0">
                <a:solidFill>
                  <a:srgbClr val="F5B759"/>
                </a:solidFill>
                <a:latin typeface="Consolas"/>
              </a:rPr>
              <a:t>print</a:t>
            </a:r>
            <a:r>
              <a:rPr lang="en-US" sz="1900" b="0" i="0">
                <a:solidFill>
                  <a:srgbClr val="E9EAEE"/>
                </a:solidFill>
                <a:latin typeface="Consolas"/>
              </a:rPr>
              <a:t>("6" + "5")</a:t>
            </a:r>
          </a:p>
          <a:p>
            <a:pPr algn="l"/>
            <a:r>
              <a:rPr lang="en-US" sz="1900" b="0" i="0">
                <a:solidFill>
                  <a:srgbClr val="F5B759"/>
                </a:solidFill>
                <a:latin typeface="Consolas"/>
              </a:rPr>
              <a:t>print</a:t>
            </a:r>
            <a:r>
              <a:rPr lang="en-US" sz="1900" b="0" i="0">
                <a:solidFill>
                  <a:srgbClr val="E9EAEE"/>
                </a:solidFill>
                <a:latin typeface="Consolas"/>
              </a:rPr>
              <a:t>("6" * 3)</a:t>
            </a:r>
          </a:p>
          <a:p>
            <a:pPr algn="l"/>
            <a:r>
              <a:rPr lang="en-US" sz="1900" b="0" i="0">
                <a:solidFill>
                  <a:srgbClr val="F5B759"/>
                </a:solidFill>
                <a:latin typeface="Consolas"/>
              </a:rPr>
              <a:t>print</a:t>
            </a:r>
            <a:r>
              <a:rPr lang="en-US" sz="1900" b="0" i="0">
                <a:solidFill>
                  <a:srgbClr val="E9EAEE"/>
                </a:solidFill>
                <a:latin typeface="Consolas"/>
              </a:rPr>
              <a:t>(6 * "5")</a:t>
            </a:r>
          </a:p>
          <a:p>
            <a:pPr algn="l"/>
            <a:r>
              <a:rPr lang="en-US" sz="1900" b="0" i="0">
                <a:solidFill>
                  <a:srgbClr val="F5B759"/>
                </a:solidFill>
                <a:latin typeface="Consolas"/>
              </a:rPr>
              <a:t>print</a:t>
            </a:r>
            <a:r>
              <a:rPr lang="en-US" sz="1900" b="0" i="0">
                <a:solidFill>
                  <a:srgbClr val="E9EAEE"/>
                </a:solidFill>
                <a:latin typeface="Consolas"/>
              </a:rPr>
              <a:t>(</a:t>
            </a:r>
            <a:r>
              <a:rPr lang="en-US" sz="1900" b="0" i="0">
                <a:solidFill>
                  <a:srgbClr val="F5B759"/>
                </a:solidFill>
                <a:latin typeface="Consolas"/>
              </a:rPr>
              <a:t>int</a:t>
            </a:r>
            <a:r>
              <a:rPr lang="en-US" sz="1900" b="0" i="0">
                <a:solidFill>
                  <a:srgbClr val="E9EAEE"/>
                </a:solidFill>
                <a:latin typeface="Consolas"/>
              </a:rPr>
              <a:t>("6") + 5)</a:t>
            </a:r>
          </a:p>
          <a:p>
            <a:pPr algn="l"/>
            <a:r>
              <a:rPr lang="en-US" sz="1900" b="0" i="0">
                <a:solidFill>
                  <a:srgbClr val="F5B759"/>
                </a:solidFill>
                <a:latin typeface="Consolas"/>
              </a:rPr>
              <a:t>print</a:t>
            </a:r>
            <a:r>
              <a:rPr lang="en-US" sz="1900" b="0" i="0">
                <a:solidFill>
                  <a:srgbClr val="E9EAEE"/>
                </a:solidFill>
                <a:latin typeface="Consolas"/>
              </a:rPr>
              <a:t>(</a:t>
            </a:r>
            <a:r>
              <a:rPr lang="en-US" sz="1900" b="0" i="0">
                <a:solidFill>
                  <a:srgbClr val="F5B759"/>
                </a:solidFill>
                <a:latin typeface="Consolas"/>
              </a:rPr>
              <a:t>str</a:t>
            </a:r>
            <a:r>
              <a:rPr lang="en-US" sz="1900" b="0" i="0">
                <a:solidFill>
                  <a:srgbClr val="E9EAEE"/>
                </a:solidFill>
                <a:latin typeface="Consolas"/>
              </a:rPr>
              <a:t>(6) + "5")</a:t>
            </a:r>
          </a:p>
          <a:p>
            <a:pPr algn="l"/>
            <a:r>
              <a:rPr lang="en-US" sz="1900" b="0" i="0">
                <a:solidFill>
                  <a:srgbClr val="F5B759"/>
                </a:solidFill>
                <a:latin typeface="Consolas"/>
              </a:rPr>
              <a:t>print</a:t>
            </a:r>
            <a:r>
              <a:rPr lang="en-US" sz="1900" b="0" i="0">
                <a:solidFill>
                  <a:srgbClr val="E9EAEE"/>
                </a:solidFill>
                <a:latin typeface="Consolas"/>
              </a:rPr>
              <a:t>(</a:t>
            </a:r>
            <a:r>
              <a:rPr lang="en-US" sz="1900" b="0" i="0">
                <a:solidFill>
                  <a:srgbClr val="F5B759"/>
                </a:solidFill>
                <a:latin typeface="Consolas"/>
              </a:rPr>
              <a:t>float</a:t>
            </a:r>
            <a:r>
              <a:rPr lang="en-US" sz="1900" b="0" i="0">
                <a:solidFill>
                  <a:srgbClr val="E9EAEE"/>
                </a:solidFill>
                <a:latin typeface="Consolas"/>
              </a:rPr>
              <a:t>("6"))</a:t>
            </a:r>
          </a:p>
          <a:p>
            <a:pPr algn="l"/>
            <a:r>
              <a:rPr lang="en-US" sz="1900" b="0" i="0">
                <a:solidFill>
                  <a:srgbClr val="F5B759"/>
                </a:solidFill>
                <a:latin typeface="Consolas"/>
              </a:rPr>
              <a:t>print</a:t>
            </a:r>
            <a:r>
              <a:rPr lang="en-US" sz="1900" b="0" i="0">
                <a:solidFill>
                  <a:srgbClr val="E9EAEE"/>
                </a:solidFill>
                <a:latin typeface="Consolas"/>
              </a:rPr>
              <a:t>(</a:t>
            </a:r>
            <a:r>
              <a:rPr lang="en-US" sz="1900" b="0" i="0">
                <a:solidFill>
                  <a:srgbClr val="F5B759"/>
                </a:solidFill>
                <a:latin typeface="Consolas"/>
              </a:rPr>
              <a:t>bool</a:t>
            </a:r>
            <a:r>
              <a:rPr lang="en-US" sz="1900" b="0" i="0">
                <a:solidFill>
                  <a:srgbClr val="E9EAEE"/>
                </a:solidFill>
                <a:latin typeface="Consolas"/>
              </a:rPr>
              <a:t>(0), </a:t>
            </a:r>
            <a:r>
              <a:rPr lang="en-US" sz="1900" b="0" i="0">
                <a:solidFill>
                  <a:srgbClr val="F5B759"/>
                </a:solidFill>
                <a:latin typeface="Consolas"/>
              </a:rPr>
              <a:t>bool</a:t>
            </a:r>
            <a:r>
              <a:rPr lang="en-US" sz="1900" b="0" i="0">
                <a:solidFill>
                  <a:srgbClr val="E9EAEE"/>
                </a:solidFill>
                <a:latin typeface="Consolas"/>
              </a:rPr>
              <a:t>("0"))</a:t>
            </a:r>
          </a:p>
          <a:p>
            <a:pPr algn="l"/>
            <a:r>
              <a:rPr lang="en-US" sz="1900" b="0" i="0">
                <a:solidFill>
                  <a:srgbClr val="F5B759"/>
                </a:solidFill>
                <a:latin typeface="Consolas"/>
              </a:rPr>
              <a:t>print</a:t>
            </a:r>
            <a:r>
              <a:rPr lang="en-US" sz="1900" b="0" i="0">
                <a:solidFill>
                  <a:srgbClr val="E9EAEE"/>
                </a:solidFill>
                <a:latin typeface="Consolas"/>
              </a:rPr>
              <a:t>("6" + 5)</a:t>
            </a:r>
          </a:p>
        </p:txBody>
      </p:sp>
      <p:sp>
        <p:nvSpPr>
          <p:cNvPr id="14" name="Answers"/>
          <p:cNvSpPr/>
          <p:nvPr/>
        </p:nvSpPr>
        <p:spPr>
          <a:xfrm>
            <a:off x="5577840" y="2423160"/>
            <a:ext cx="5971032" cy="3749039"/>
          </a:xfrm>
          <a:prstGeom prst="roundRect">
            <a:avLst>
              <a:gd name="adj" fmla="val 6000"/>
            </a:avLst>
          </a:prstGeom>
          <a:solidFill>
            <a:srgbClr val="F2F3F5"/>
          </a:solidFill>
          <a:ln w="12700">
            <a:solidFill>
              <a:srgbClr val="D8DBE0"/>
            </a:solidFill>
          </a:ln>
        </p:spPr>
        <p:txBody>
          <a:bodyPr rtlCol="0" anchor="ctr"/>
          <a:lstStyle/>
          <a:p>
            <a:endParaRPr/>
          </a:p>
        </p:txBody>
      </p:sp>
      <p:sp>
        <p:nvSpPr>
          <p:cNvPr id="15" name="Answers text"/>
          <p:cNvSpPr txBox="1"/>
          <p:nvPr/>
        </p:nvSpPr>
        <p:spPr>
          <a:xfrm>
            <a:off x="5760720" y="2532888"/>
            <a:ext cx="5605272" cy="3529583"/>
          </a:xfrm>
          <a:prstGeom prst="rect">
            <a:avLst/>
          </a:prstGeom>
          <a:noFill/>
        </p:spPr>
        <p:txBody>
          <a:bodyPr wrap="square" lIns="0" tIns="0" rIns="0" bIns="0" anchor="t">
            <a:noAutofit/>
          </a:bodyPr>
          <a:lstStyle/>
          <a:p>
            <a:pPr algn="l">
              <a:spcAft>
                <a:spcPts val="800"/>
              </a:spcAft>
            </a:pPr>
            <a:r>
              <a:rPr lang="en-US" sz="2200" b="0" i="0">
                <a:solidFill>
                  <a:srgbClr val="A64B00"/>
                </a:solidFill>
                <a:latin typeface="Raleway"/>
              </a:rPr>
              <a:t>Your answers</a:t>
            </a:r>
          </a:p>
          <a:p>
            <a:pPr algn="l">
              <a:spcAft>
                <a:spcPts val="600"/>
              </a:spcAft>
            </a:pPr>
            <a:r>
              <a:rPr lang="en-US" sz="1800" b="0" i="0">
                <a:solidFill>
                  <a:srgbClr val="9AA1AB"/>
                </a:solidFill>
                <a:latin typeface="Consolas"/>
              </a:rPr>
              <a:t>?</a:t>
            </a:r>
          </a:p>
          <a:p>
            <a:pPr algn="l">
              <a:spcAft>
                <a:spcPts val="600"/>
              </a:spcAft>
            </a:pPr>
            <a:r>
              <a:rPr lang="en-US" sz="1800" b="0" i="0">
                <a:solidFill>
                  <a:srgbClr val="9AA1AB"/>
                </a:solidFill>
                <a:latin typeface="Consolas"/>
              </a:rPr>
              <a:t>?</a:t>
            </a:r>
          </a:p>
          <a:p>
            <a:pPr algn="l">
              <a:spcAft>
                <a:spcPts val="600"/>
              </a:spcAft>
            </a:pPr>
            <a:r>
              <a:rPr lang="en-US" sz="1800" b="0" i="0">
                <a:solidFill>
                  <a:srgbClr val="9AA1AB"/>
                </a:solidFill>
                <a:latin typeface="Consolas"/>
              </a:rPr>
              <a:t>?</a:t>
            </a:r>
          </a:p>
          <a:p>
            <a:pPr algn="l">
              <a:spcAft>
                <a:spcPts val="600"/>
              </a:spcAft>
            </a:pPr>
            <a:r>
              <a:rPr lang="en-US" sz="1800" b="0" i="0">
                <a:solidFill>
                  <a:srgbClr val="9AA1AB"/>
                </a:solidFill>
                <a:latin typeface="Consolas"/>
              </a:rPr>
              <a:t>?</a:t>
            </a:r>
          </a:p>
          <a:p>
            <a:pPr algn="l">
              <a:spcAft>
                <a:spcPts val="600"/>
              </a:spcAft>
            </a:pPr>
            <a:r>
              <a:rPr lang="en-US" sz="1800" b="0" i="0">
                <a:solidFill>
                  <a:srgbClr val="9AA1AB"/>
                </a:solidFill>
                <a:latin typeface="Consolas"/>
              </a:rPr>
              <a:t>?</a:t>
            </a:r>
          </a:p>
          <a:p>
            <a:pPr algn="l">
              <a:spcAft>
                <a:spcPts val="600"/>
              </a:spcAft>
            </a:pPr>
            <a:r>
              <a:rPr lang="en-US" sz="1800" b="0" i="0">
                <a:solidFill>
                  <a:srgbClr val="9AA1AB"/>
                </a:solidFill>
                <a:latin typeface="Consolas"/>
              </a:rPr>
              <a:t>?</a:t>
            </a:r>
          </a:p>
          <a:p>
            <a:pPr algn="l">
              <a:spcAft>
                <a:spcPts val="600"/>
              </a:spcAft>
            </a:pPr>
            <a:r>
              <a:rPr lang="en-US" sz="1800" b="0" i="0">
                <a:solidFill>
                  <a:srgbClr val="9AA1AB"/>
                </a:solidFill>
                <a:latin typeface="Consolas"/>
              </a:rPr>
              <a:t>?</a:t>
            </a:r>
          </a:p>
          <a:p>
            <a:pPr algn="l">
              <a:spcAft>
                <a:spcPts val="600"/>
              </a:spcAft>
            </a:pPr>
            <a:r>
              <a:rPr lang="en-US" sz="1800" b="0" i="0">
                <a:solidFill>
                  <a:srgbClr val="9AA1AB"/>
                </a:solidFill>
                <a:latin typeface="Consolas"/>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06 - Predict - Warm-up: text and casting">
    <p:spTree>
      <p:nvGrpSpPr>
        <p:cNvPr id="1" name=""/>
        <p:cNvGrpSpPr/>
        <p:nvPr/>
      </p:nvGrpSpPr>
      <p:grpSpPr>
        <a:xfrm>
          <a:off x="0" y="0"/>
          <a:ext cx="0" cy="0"/>
          <a:chOff x="0" y="0"/>
          <a:chExt cx="0" cy="0"/>
        </a:xfrm>
      </p:grpSpPr>
      <p:sp>
        <p:nvSpPr>
          <p:cNvPr id="2" name="Slide number"/>
          <p:cNvSpPr txBox="1"/>
          <p:nvPr/>
        </p:nvSpPr>
        <p:spPr>
          <a:xfrm>
            <a:off x="11430000" y="6446520"/>
            <a:ext cx="548640" cy="320040"/>
          </a:xfrm>
          <a:prstGeom prst="rect">
            <a:avLst/>
          </a:prstGeom>
          <a:noFill/>
        </p:spPr>
        <p:txBody>
          <a:bodyPr wrap="none" lIns="0" tIns="0" rIns="0" bIns="0" anchor="ctr">
            <a:spAutoFit/>
          </a:bodyPr>
          <a:lstStyle/>
          <a:p>
            <a:pPr algn="r"/>
            <a:fld id="{007A6A40-1A7B-4A1B-9D78-D7D11C5A8472}" type="slidenum">
              <a:rPr lang="en-US" sz="1200">
                <a:solidFill>
                  <a:srgbClr val="1B3A5C"/>
                </a:solidFill>
                <a:latin typeface="Raleway"/>
              </a:rPr>
              <a:t>8</a:t>
            </a:fld>
            <a:endParaRPr lang="en-US" sz="1200">
              <a:solidFill>
                <a:srgbClr val="1B3A5C"/>
              </a:solidFill>
              <a:latin typeface="Raleway"/>
            </a:endParaRPr>
          </a:p>
        </p:txBody>
      </p:sp>
      <p:sp>
        <p:nvSpPr>
          <p:cNvPr id="3" name="Title"/>
          <p:cNvSpPr txBox="1"/>
          <p:nvPr/>
        </p:nvSpPr>
        <p:spPr>
          <a:xfrm>
            <a:off x="640080" y="502920"/>
            <a:ext cx="11411712" cy="822960"/>
          </a:xfrm>
          <a:prstGeom prst="rect">
            <a:avLst/>
          </a:prstGeom>
          <a:noFill/>
        </p:spPr>
        <p:txBody>
          <a:bodyPr wrap="square" lIns="0" tIns="0" rIns="0" bIns="0" anchor="ctr">
            <a:noAutofit/>
          </a:bodyPr>
          <a:lstStyle/>
          <a:p>
            <a:pPr algn="l"/>
            <a:r>
              <a:rPr lang="en-US" sz="4000" b="1" i="0">
                <a:solidFill>
                  <a:srgbClr val="1F4E79"/>
                </a:solidFill>
                <a:latin typeface="Raleway"/>
              </a:rPr>
              <a:t>Warm-up: text and casting - the answers</a:t>
            </a:r>
          </a:p>
        </p:txBody>
      </p:sp>
      <p:sp>
        <p:nvSpPr>
          <p:cNvPr id="5" name="Lead"/>
          <p:cNvSpPr txBox="1"/>
          <p:nvPr/>
        </p:nvSpPr>
        <p:spPr>
          <a:xfrm>
            <a:off x="640080" y="1389888"/>
            <a:ext cx="10881360" cy="438912"/>
          </a:xfrm>
          <a:prstGeom prst="rect">
            <a:avLst/>
          </a:prstGeom>
          <a:noFill/>
        </p:spPr>
        <p:txBody>
          <a:bodyPr wrap="square" lIns="0" tIns="0" rIns="0" bIns="0" anchor="t">
            <a:noAutofit/>
          </a:bodyPr>
          <a:lstStyle/>
          <a:p>
            <a:pPr algn="l">
              <a:lnSpc>
                <a:spcPct val="110000"/>
              </a:lnSpc>
            </a:pPr>
            <a:r>
              <a:rPr lang="en-US" sz="2000" b="0" i="0">
                <a:solidFill>
                  <a:srgbClr val="1D2433"/>
                </a:solidFill>
                <a:latin typeface="Raleway"/>
              </a:rPr>
              <a:t>What each line prints - and the one line that does not.</a:t>
            </a:r>
          </a:p>
        </p:txBody>
      </p:sp>
      <p:sp>
        <p:nvSpPr>
          <p:cNvPr id="6" name="Code card"/>
          <p:cNvSpPr/>
          <p:nvPr/>
        </p:nvSpPr>
        <p:spPr>
          <a:xfrm>
            <a:off x="640080" y="1847088"/>
            <a:ext cx="4572000" cy="3011424"/>
          </a:xfrm>
          <a:prstGeom prst="roundRect">
            <a:avLst>
              <a:gd name="adj" fmla="val 4000"/>
            </a:avLst>
          </a:prstGeom>
          <a:solidFill>
            <a:srgbClr val="111318"/>
          </a:solidFill>
          <a:ln w="12700">
            <a:solidFill>
              <a:srgbClr val="D8DBE0"/>
            </a:solidFill>
          </a:ln>
        </p:spPr>
        <p:txBody>
          <a:bodyPr rtlCol="0" anchor="ctr"/>
          <a:lstStyle/>
          <a:p>
            <a:endParaRPr/>
          </a:p>
        </p:txBody>
      </p:sp>
      <p:sp>
        <p:nvSpPr>
          <p:cNvPr id="7" name="Code card header"/>
          <p:cNvSpPr/>
          <p:nvPr/>
        </p:nvSpPr>
        <p:spPr>
          <a:xfrm>
            <a:off x="640080" y="1847088"/>
            <a:ext cx="4572000" cy="384048"/>
          </a:xfrm>
          <a:prstGeom prst="roundRect">
            <a:avLst>
              <a:gd name="adj" fmla="val 10000"/>
            </a:avLst>
          </a:prstGeom>
          <a:solidFill>
            <a:srgbClr val="1B1E26"/>
          </a:solidFill>
          <a:ln w="12700">
            <a:solidFill>
              <a:srgbClr val="D8DBE0"/>
            </a:solidFill>
          </a:ln>
        </p:spPr>
        <p:txBody>
          <a:bodyPr rtlCol="0" anchor="ctr"/>
          <a:lstStyle/>
          <a:p>
            <a:endParaRPr/>
          </a:p>
        </p:txBody>
      </p:sp>
      <p:sp>
        <p:nvSpPr>
          <p:cNvPr id="8" name="Code card header fill"/>
          <p:cNvSpPr/>
          <p:nvPr/>
        </p:nvSpPr>
        <p:spPr>
          <a:xfrm>
            <a:off x="658368" y="2039112"/>
            <a:ext cx="4535424" cy="192024"/>
          </a:xfrm>
          <a:prstGeom prst="rect">
            <a:avLst/>
          </a:prstGeom>
          <a:solidFill>
            <a:srgbClr val="1B1E26"/>
          </a:solidFill>
          <a:ln>
            <a:noFill/>
          </a:ln>
        </p:spPr>
        <p:txBody>
          <a:bodyPr rtlCol="0" anchor="ctr"/>
          <a:lstStyle/>
          <a:p>
            <a:endParaRPr/>
          </a:p>
        </p:txBody>
      </p:sp>
      <p:sp>
        <p:nvSpPr>
          <p:cNvPr id="9" name="Oval 8"/>
          <p:cNvSpPr/>
          <p:nvPr/>
        </p:nvSpPr>
        <p:spPr>
          <a:xfrm>
            <a:off x="868680" y="1984248"/>
            <a:ext cx="118872" cy="118872"/>
          </a:xfrm>
          <a:prstGeom prst="ellipse">
            <a:avLst/>
          </a:prstGeom>
          <a:solidFill>
            <a:srgbClr val="FF6B6B"/>
          </a:solidFill>
          <a:ln>
            <a:noFill/>
          </a:ln>
        </p:spPr>
        <p:txBody>
          <a:bodyPr rtlCol="0" anchor="ctr"/>
          <a:lstStyle/>
          <a:p>
            <a:pPr algn="ctr"/>
            <a:endParaRPr/>
          </a:p>
        </p:txBody>
      </p:sp>
      <p:sp>
        <p:nvSpPr>
          <p:cNvPr id="10" name="Oval 9"/>
          <p:cNvSpPr/>
          <p:nvPr/>
        </p:nvSpPr>
        <p:spPr>
          <a:xfrm>
            <a:off x="1143000" y="1984248"/>
            <a:ext cx="118872" cy="118872"/>
          </a:xfrm>
          <a:prstGeom prst="ellipse">
            <a:avLst/>
          </a:prstGeom>
          <a:solidFill>
            <a:srgbClr val="FFD94A"/>
          </a:solidFill>
          <a:ln>
            <a:noFill/>
          </a:ln>
        </p:spPr>
        <p:txBody>
          <a:bodyPr rtlCol="0" anchor="ctr"/>
          <a:lstStyle/>
          <a:p>
            <a:pPr algn="ctr"/>
            <a:endParaRPr/>
          </a:p>
        </p:txBody>
      </p:sp>
      <p:sp>
        <p:nvSpPr>
          <p:cNvPr id="11" name="Oval 10"/>
          <p:cNvSpPr/>
          <p:nvPr/>
        </p:nvSpPr>
        <p:spPr>
          <a:xfrm>
            <a:off x="1417319" y="1984248"/>
            <a:ext cx="118872" cy="118872"/>
          </a:xfrm>
          <a:prstGeom prst="ellipse">
            <a:avLst/>
          </a:prstGeom>
          <a:solidFill>
            <a:srgbClr val="8FE3AB"/>
          </a:solidFill>
          <a:ln>
            <a:noFill/>
          </a:ln>
        </p:spPr>
        <p:txBody>
          <a:bodyPr rtlCol="0" anchor="ctr"/>
          <a:lstStyle/>
          <a:p>
            <a:pPr algn="ctr"/>
            <a:endParaRPr/>
          </a:p>
        </p:txBody>
      </p:sp>
      <p:sp>
        <p:nvSpPr>
          <p:cNvPr id="12" name="Filename"/>
          <p:cNvSpPr txBox="1"/>
          <p:nvPr/>
        </p:nvSpPr>
        <p:spPr>
          <a:xfrm>
            <a:off x="1828800" y="1847088"/>
            <a:ext cx="3200400" cy="384048"/>
          </a:xfrm>
          <a:prstGeom prst="rect">
            <a:avLst/>
          </a:prstGeom>
          <a:noFill/>
        </p:spPr>
        <p:txBody>
          <a:bodyPr wrap="square" lIns="0" tIns="0" rIns="0" bIns="0" anchor="ctr">
            <a:noAutofit/>
          </a:bodyPr>
          <a:lstStyle/>
          <a:p>
            <a:pPr algn="l"/>
            <a:r>
              <a:rPr lang="en-US" sz="1200" b="0" i="0">
                <a:solidFill>
                  <a:srgbClr val="E9EAEE"/>
                </a:solidFill>
                <a:latin typeface="Consolas"/>
              </a:rPr>
              <a:t>warmup_text.py</a:t>
            </a:r>
          </a:p>
        </p:txBody>
      </p:sp>
      <p:sp>
        <p:nvSpPr>
          <p:cNvPr id="13" name="Code"/>
          <p:cNvSpPr txBox="1"/>
          <p:nvPr/>
        </p:nvSpPr>
        <p:spPr>
          <a:xfrm>
            <a:off x="1005840" y="2340864"/>
            <a:ext cx="3931920" cy="2426208"/>
          </a:xfrm>
          <a:prstGeom prst="rect">
            <a:avLst/>
          </a:prstGeom>
          <a:noFill/>
        </p:spPr>
        <p:txBody>
          <a:bodyPr wrap="none" lIns="0" tIns="0" rIns="0" bIns="0" anchor="t">
            <a:noAutofit/>
          </a:bodyPr>
          <a:lstStyle/>
          <a:p>
            <a:pPr algn="l"/>
            <a:r>
              <a:rPr lang="en-US" sz="1900" b="0" i="0">
                <a:solidFill>
                  <a:srgbClr val="F5B759"/>
                </a:solidFill>
                <a:latin typeface="Consolas"/>
              </a:rPr>
              <a:t>print</a:t>
            </a:r>
            <a:r>
              <a:rPr lang="en-US" sz="1900" b="0" i="0">
                <a:solidFill>
                  <a:srgbClr val="E9EAEE"/>
                </a:solidFill>
                <a:latin typeface="Consolas"/>
              </a:rPr>
              <a:t>("6" + "5")</a:t>
            </a:r>
          </a:p>
          <a:p>
            <a:pPr algn="l"/>
            <a:r>
              <a:rPr lang="en-US" sz="1900" b="0" i="0">
                <a:solidFill>
                  <a:srgbClr val="F5B759"/>
                </a:solidFill>
                <a:latin typeface="Consolas"/>
              </a:rPr>
              <a:t>print</a:t>
            </a:r>
            <a:r>
              <a:rPr lang="en-US" sz="1900" b="0" i="0">
                <a:solidFill>
                  <a:srgbClr val="E9EAEE"/>
                </a:solidFill>
                <a:latin typeface="Consolas"/>
              </a:rPr>
              <a:t>("6" * 3)</a:t>
            </a:r>
          </a:p>
          <a:p>
            <a:pPr algn="l"/>
            <a:r>
              <a:rPr lang="en-US" sz="1900" b="0" i="0">
                <a:solidFill>
                  <a:srgbClr val="F5B759"/>
                </a:solidFill>
                <a:latin typeface="Consolas"/>
              </a:rPr>
              <a:t>print</a:t>
            </a:r>
            <a:r>
              <a:rPr lang="en-US" sz="1900" b="0" i="0">
                <a:solidFill>
                  <a:srgbClr val="E9EAEE"/>
                </a:solidFill>
                <a:latin typeface="Consolas"/>
              </a:rPr>
              <a:t>(6 * "5")</a:t>
            </a:r>
          </a:p>
          <a:p>
            <a:pPr algn="l"/>
            <a:r>
              <a:rPr lang="en-US" sz="1900" b="0" i="0">
                <a:solidFill>
                  <a:srgbClr val="F5B759"/>
                </a:solidFill>
                <a:latin typeface="Consolas"/>
              </a:rPr>
              <a:t>print</a:t>
            </a:r>
            <a:r>
              <a:rPr lang="en-US" sz="1900" b="0" i="0">
                <a:solidFill>
                  <a:srgbClr val="E9EAEE"/>
                </a:solidFill>
                <a:latin typeface="Consolas"/>
              </a:rPr>
              <a:t>(</a:t>
            </a:r>
            <a:r>
              <a:rPr lang="en-US" sz="1900" b="0" i="0">
                <a:solidFill>
                  <a:srgbClr val="F5B759"/>
                </a:solidFill>
                <a:latin typeface="Consolas"/>
              </a:rPr>
              <a:t>int</a:t>
            </a:r>
            <a:r>
              <a:rPr lang="en-US" sz="1900" b="0" i="0">
                <a:solidFill>
                  <a:srgbClr val="E9EAEE"/>
                </a:solidFill>
                <a:latin typeface="Consolas"/>
              </a:rPr>
              <a:t>("6") + 5)</a:t>
            </a:r>
          </a:p>
          <a:p>
            <a:pPr algn="l"/>
            <a:r>
              <a:rPr lang="en-US" sz="1900" b="0" i="0">
                <a:solidFill>
                  <a:srgbClr val="F5B759"/>
                </a:solidFill>
                <a:latin typeface="Consolas"/>
              </a:rPr>
              <a:t>print</a:t>
            </a:r>
            <a:r>
              <a:rPr lang="en-US" sz="1900" b="0" i="0">
                <a:solidFill>
                  <a:srgbClr val="E9EAEE"/>
                </a:solidFill>
                <a:latin typeface="Consolas"/>
              </a:rPr>
              <a:t>(</a:t>
            </a:r>
            <a:r>
              <a:rPr lang="en-US" sz="1900" b="0" i="0">
                <a:solidFill>
                  <a:srgbClr val="F5B759"/>
                </a:solidFill>
                <a:latin typeface="Consolas"/>
              </a:rPr>
              <a:t>str</a:t>
            </a:r>
            <a:r>
              <a:rPr lang="en-US" sz="1900" b="0" i="0">
                <a:solidFill>
                  <a:srgbClr val="E9EAEE"/>
                </a:solidFill>
                <a:latin typeface="Consolas"/>
              </a:rPr>
              <a:t>(6) + "5")</a:t>
            </a:r>
          </a:p>
          <a:p>
            <a:pPr algn="l"/>
            <a:r>
              <a:rPr lang="en-US" sz="1900" b="0" i="0">
                <a:solidFill>
                  <a:srgbClr val="F5B759"/>
                </a:solidFill>
                <a:latin typeface="Consolas"/>
              </a:rPr>
              <a:t>print</a:t>
            </a:r>
            <a:r>
              <a:rPr lang="en-US" sz="1900" b="0" i="0">
                <a:solidFill>
                  <a:srgbClr val="E9EAEE"/>
                </a:solidFill>
                <a:latin typeface="Consolas"/>
              </a:rPr>
              <a:t>(</a:t>
            </a:r>
            <a:r>
              <a:rPr lang="en-US" sz="1900" b="0" i="0">
                <a:solidFill>
                  <a:srgbClr val="F5B759"/>
                </a:solidFill>
                <a:latin typeface="Consolas"/>
              </a:rPr>
              <a:t>float</a:t>
            </a:r>
            <a:r>
              <a:rPr lang="en-US" sz="1900" b="0" i="0">
                <a:solidFill>
                  <a:srgbClr val="E9EAEE"/>
                </a:solidFill>
                <a:latin typeface="Consolas"/>
              </a:rPr>
              <a:t>("6"))</a:t>
            </a:r>
          </a:p>
          <a:p>
            <a:pPr algn="l"/>
            <a:r>
              <a:rPr lang="en-US" sz="1900" b="0" i="0">
                <a:solidFill>
                  <a:srgbClr val="F5B759"/>
                </a:solidFill>
                <a:latin typeface="Consolas"/>
              </a:rPr>
              <a:t>print</a:t>
            </a:r>
            <a:r>
              <a:rPr lang="en-US" sz="1900" b="0" i="0">
                <a:solidFill>
                  <a:srgbClr val="E9EAEE"/>
                </a:solidFill>
                <a:latin typeface="Consolas"/>
              </a:rPr>
              <a:t>(</a:t>
            </a:r>
            <a:r>
              <a:rPr lang="en-US" sz="1900" b="0" i="0">
                <a:solidFill>
                  <a:srgbClr val="F5B759"/>
                </a:solidFill>
                <a:latin typeface="Consolas"/>
              </a:rPr>
              <a:t>bool</a:t>
            </a:r>
            <a:r>
              <a:rPr lang="en-US" sz="1900" b="0" i="0">
                <a:solidFill>
                  <a:srgbClr val="E9EAEE"/>
                </a:solidFill>
                <a:latin typeface="Consolas"/>
              </a:rPr>
              <a:t>(0), </a:t>
            </a:r>
            <a:r>
              <a:rPr lang="en-US" sz="1900" b="0" i="0">
                <a:solidFill>
                  <a:srgbClr val="F5B759"/>
                </a:solidFill>
                <a:latin typeface="Consolas"/>
              </a:rPr>
              <a:t>bool</a:t>
            </a:r>
            <a:r>
              <a:rPr lang="en-US" sz="1900" b="0" i="0">
                <a:solidFill>
                  <a:srgbClr val="E9EAEE"/>
                </a:solidFill>
                <a:latin typeface="Consolas"/>
              </a:rPr>
              <a:t>("0"))</a:t>
            </a:r>
          </a:p>
          <a:p>
            <a:pPr algn="l"/>
            <a:r>
              <a:rPr lang="en-US" sz="1900" b="0" i="0">
                <a:solidFill>
                  <a:srgbClr val="F5B759"/>
                </a:solidFill>
                <a:latin typeface="Consolas"/>
              </a:rPr>
              <a:t>print</a:t>
            </a:r>
            <a:r>
              <a:rPr lang="en-US" sz="1900" b="0" i="0">
                <a:solidFill>
                  <a:srgbClr val="E9EAEE"/>
                </a:solidFill>
                <a:latin typeface="Consolas"/>
              </a:rPr>
              <a:t>("6" + 5)</a:t>
            </a:r>
          </a:p>
        </p:txBody>
      </p:sp>
      <p:sp>
        <p:nvSpPr>
          <p:cNvPr id="14" name="Answers"/>
          <p:cNvSpPr/>
          <p:nvPr/>
        </p:nvSpPr>
        <p:spPr>
          <a:xfrm>
            <a:off x="5577840" y="1847088"/>
            <a:ext cx="5971032" cy="3749039"/>
          </a:xfrm>
          <a:prstGeom prst="roundRect">
            <a:avLst>
              <a:gd name="adj" fmla="val 6000"/>
            </a:avLst>
          </a:prstGeom>
          <a:solidFill>
            <a:srgbClr val="F2F3F5"/>
          </a:solidFill>
          <a:ln w="12700">
            <a:solidFill>
              <a:srgbClr val="D8DBE0"/>
            </a:solidFill>
          </a:ln>
        </p:spPr>
        <p:txBody>
          <a:bodyPr rtlCol="0" anchor="ctr"/>
          <a:lstStyle/>
          <a:p>
            <a:endParaRPr/>
          </a:p>
        </p:txBody>
      </p:sp>
      <p:sp>
        <p:nvSpPr>
          <p:cNvPr id="15" name="Answers text"/>
          <p:cNvSpPr txBox="1"/>
          <p:nvPr/>
        </p:nvSpPr>
        <p:spPr>
          <a:xfrm>
            <a:off x="5760720" y="1956816"/>
            <a:ext cx="5605272" cy="3529583"/>
          </a:xfrm>
          <a:prstGeom prst="rect">
            <a:avLst/>
          </a:prstGeom>
          <a:noFill/>
        </p:spPr>
        <p:txBody>
          <a:bodyPr wrap="square" lIns="0" tIns="0" rIns="0" bIns="0" anchor="t">
            <a:noAutofit/>
          </a:bodyPr>
          <a:lstStyle/>
          <a:p>
            <a:pPr algn="l">
              <a:spcAft>
                <a:spcPts val="800"/>
              </a:spcAft>
            </a:pPr>
            <a:r>
              <a:rPr lang="en-US" sz="2200" b="0" i="0">
                <a:solidFill>
                  <a:srgbClr val="A64B00"/>
                </a:solidFill>
                <a:latin typeface="Raleway"/>
              </a:rPr>
              <a:t>The answers</a:t>
            </a:r>
          </a:p>
          <a:p>
            <a:pPr algn="l">
              <a:spcAft>
                <a:spcPts val="600"/>
              </a:spcAft>
            </a:pPr>
            <a:r>
              <a:rPr lang="en-US" sz="1800" b="0" i="0">
                <a:solidFill>
                  <a:srgbClr val="1D2433"/>
                </a:solidFill>
                <a:latin typeface="Consolas"/>
              </a:rPr>
              <a:t>65</a:t>
            </a:r>
          </a:p>
          <a:p>
            <a:pPr algn="l">
              <a:spcAft>
                <a:spcPts val="600"/>
              </a:spcAft>
            </a:pPr>
            <a:r>
              <a:rPr lang="en-US" sz="1800" b="0" i="0">
                <a:solidFill>
                  <a:srgbClr val="1D2433"/>
                </a:solidFill>
                <a:latin typeface="Consolas"/>
              </a:rPr>
              <a:t>666</a:t>
            </a:r>
          </a:p>
          <a:p>
            <a:pPr algn="l">
              <a:spcAft>
                <a:spcPts val="600"/>
              </a:spcAft>
            </a:pPr>
            <a:r>
              <a:rPr lang="en-US" sz="1800" b="0" i="0">
                <a:solidFill>
                  <a:srgbClr val="1D2433"/>
                </a:solidFill>
                <a:latin typeface="Consolas"/>
              </a:rPr>
              <a:t>555</a:t>
            </a:r>
          </a:p>
          <a:p>
            <a:pPr algn="l">
              <a:spcAft>
                <a:spcPts val="600"/>
              </a:spcAft>
            </a:pPr>
            <a:r>
              <a:rPr lang="en-US" sz="1800" b="0" i="0">
                <a:solidFill>
                  <a:srgbClr val="1D2433"/>
                </a:solidFill>
                <a:latin typeface="Consolas"/>
              </a:rPr>
              <a:t>11</a:t>
            </a:r>
          </a:p>
          <a:p>
            <a:pPr algn="l">
              <a:spcAft>
                <a:spcPts val="600"/>
              </a:spcAft>
            </a:pPr>
            <a:r>
              <a:rPr lang="en-US" sz="1800" b="0" i="0">
                <a:solidFill>
                  <a:srgbClr val="1D2433"/>
                </a:solidFill>
                <a:latin typeface="Consolas"/>
              </a:rPr>
              <a:t>65</a:t>
            </a:r>
          </a:p>
          <a:p>
            <a:pPr algn="l">
              <a:spcAft>
                <a:spcPts val="600"/>
              </a:spcAft>
            </a:pPr>
            <a:r>
              <a:rPr lang="en-US" sz="1800" b="0" i="0">
                <a:solidFill>
                  <a:srgbClr val="1D2433"/>
                </a:solidFill>
                <a:latin typeface="Consolas"/>
              </a:rPr>
              <a:t>6.0</a:t>
            </a:r>
          </a:p>
          <a:p>
            <a:pPr algn="l">
              <a:spcAft>
                <a:spcPts val="600"/>
              </a:spcAft>
            </a:pPr>
            <a:r>
              <a:rPr lang="en-US" sz="1800" b="0" i="0">
                <a:solidFill>
                  <a:srgbClr val="1D2433"/>
                </a:solidFill>
                <a:latin typeface="Consolas"/>
              </a:rPr>
              <a:t>False True</a:t>
            </a:r>
          </a:p>
          <a:p>
            <a:pPr algn="l">
              <a:spcAft>
                <a:spcPts val="600"/>
              </a:spcAft>
            </a:pPr>
            <a:r>
              <a:rPr lang="en-US" sz="1800" b="0" i="0">
                <a:solidFill>
                  <a:srgbClr val="1D2433"/>
                </a:solidFill>
                <a:latin typeface="Consolas"/>
              </a:rPr>
              <a:t>TypeError - and the program stops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07 - Exercise - Exercise 1: The receipt">
    <p:spTree>
      <p:nvGrpSpPr>
        <p:cNvPr id="1" name=""/>
        <p:cNvGrpSpPr/>
        <p:nvPr/>
      </p:nvGrpSpPr>
      <p:grpSpPr>
        <a:xfrm>
          <a:off x="0" y="0"/>
          <a:ext cx="0" cy="0"/>
          <a:chOff x="0" y="0"/>
          <a:chExt cx="0" cy="0"/>
        </a:xfrm>
      </p:grpSpPr>
      <p:sp>
        <p:nvSpPr>
          <p:cNvPr id="2" name="Slide number"/>
          <p:cNvSpPr txBox="1"/>
          <p:nvPr/>
        </p:nvSpPr>
        <p:spPr>
          <a:xfrm>
            <a:off x="11430000" y="6446520"/>
            <a:ext cx="548640" cy="320040"/>
          </a:xfrm>
          <a:prstGeom prst="rect">
            <a:avLst/>
          </a:prstGeom>
          <a:noFill/>
        </p:spPr>
        <p:txBody>
          <a:bodyPr wrap="none" lIns="0" tIns="0" rIns="0" bIns="0" anchor="ctr">
            <a:spAutoFit/>
          </a:bodyPr>
          <a:lstStyle/>
          <a:p>
            <a:pPr algn="r"/>
            <a:fld id="{007A6A40-1A7B-4A1B-9D78-D7D11C5A8472}" type="slidenum">
              <a:rPr lang="en-US" sz="1200">
                <a:solidFill>
                  <a:srgbClr val="1B3A5C"/>
                </a:solidFill>
                <a:latin typeface="Raleway"/>
              </a:rPr>
              <a:t>9</a:t>
            </a:fld>
            <a:endParaRPr lang="en-US" sz="1200">
              <a:solidFill>
                <a:srgbClr val="1B3A5C"/>
              </a:solidFill>
              <a:latin typeface="Raleway"/>
            </a:endParaRPr>
          </a:p>
        </p:txBody>
      </p:sp>
      <p:sp>
        <p:nvSpPr>
          <p:cNvPr id="3" name="Title"/>
          <p:cNvSpPr txBox="1"/>
          <p:nvPr/>
        </p:nvSpPr>
        <p:spPr>
          <a:xfrm>
            <a:off x="640080" y="502920"/>
            <a:ext cx="11411712" cy="822960"/>
          </a:xfrm>
          <a:prstGeom prst="rect">
            <a:avLst/>
          </a:prstGeom>
          <a:noFill/>
        </p:spPr>
        <p:txBody>
          <a:bodyPr wrap="square" lIns="0" tIns="0" rIns="0" bIns="0" anchor="ctr">
            <a:noAutofit/>
          </a:bodyPr>
          <a:lstStyle/>
          <a:p>
            <a:pPr algn="l"/>
            <a:r>
              <a:rPr lang="en-US" sz="4000" b="1" i="0">
                <a:solidFill>
                  <a:srgbClr val="1F4E79"/>
                </a:solidFill>
                <a:latin typeface="Raleway"/>
              </a:rPr>
              <a:t>Exercise 1: The receipt</a:t>
            </a:r>
          </a:p>
        </p:txBody>
      </p:sp>
      <p:sp>
        <p:nvSpPr>
          <p:cNvPr id="4" name="Strip Warm-up"/>
          <p:cNvSpPr/>
          <p:nvPr/>
        </p:nvSpPr>
        <p:spPr>
          <a:xfrm>
            <a:off x="640080" y="1389888"/>
            <a:ext cx="928116"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Warm-up</a:t>
            </a:r>
          </a:p>
        </p:txBody>
      </p:sp>
      <p:sp>
        <p:nvSpPr>
          <p:cNvPr id="5" name="Strip Receipt &amp; time"/>
          <p:cNvSpPr/>
          <p:nvPr/>
        </p:nvSpPr>
        <p:spPr>
          <a:xfrm>
            <a:off x="1677924" y="1389888"/>
            <a:ext cx="1472184" cy="310896"/>
          </a:xfrm>
          <a:prstGeom prst="roundRect">
            <a:avLst>
              <a:gd name="adj" fmla="val 50000"/>
            </a:avLst>
          </a:prstGeom>
          <a:solidFill>
            <a:srgbClr val="A64B00"/>
          </a:solidFill>
          <a:ln w="12700">
            <a:solidFill>
              <a:srgbClr val="A64B00"/>
            </a:solidFill>
          </a:ln>
        </p:spPr>
        <p:txBody>
          <a:bodyPr lIns="45720" tIns="0" rIns="45720" bIns="0" rtlCol="0" anchor="ctr"/>
          <a:lstStyle/>
          <a:p>
            <a:pPr algn="ctr"/>
            <a:r>
              <a:rPr lang="en-US" sz="1100" b="0" i="0">
                <a:solidFill>
                  <a:srgbClr val="FFFFFF"/>
                </a:solidFill>
                <a:latin typeface="Raleway"/>
              </a:rPr>
              <a:t>Receipt &amp; time</a:t>
            </a:r>
          </a:p>
        </p:txBody>
      </p:sp>
      <p:sp>
        <p:nvSpPr>
          <p:cNvPr id="6" name="Strip Bugs"/>
          <p:cNvSpPr/>
          <p:nvPr/>
        </p:nvSpPr>
        <p:spPr>
          <a:xfrm>
            <a:off x="3259836" y="1389888"/>
            <a:ext cx="694944"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Bugs</a:t>
            </a:r>
          </a:p>
        </p:txBody>
      </p:sp>
      <p:sp>
        <p:nvSpPr>
          <p:cNvPr id="7" name="Strip Booleans"/>
          <p:cNvSpPr/>
          <p:nvPr/>
        </p:nvSpPr>
        <p:spPr>
          <a:xfrm>
            <a:off x="4064508" y="1389888"/>
            <a:ext cx="1005840"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Booleans</a:t>
            </a:r>
          </a:p>
        </p:txBody>
      </p:sp>
      <p:sp>
        <p:nvSpPr>
          <p:cNvPr id="8" name="Strip Randomness"/>
          <p:cNvSpPr/>
          <p:nvPr/>
        </p:nvSpPr>
        <p:spPr>
          <a:xfrm>
            <a:off x="5180076" y="1389888"/>
            <a:ext cx="1161288"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Randomness</a:t>
            </a:r>
          </a:p>
        </p:txBody>
      </p:sp>
      <p:sp>
        <p:nvSpPr>
          <p:cNvPr id="9" name="Strip Extra"/>
          <p:cNvSpPr/>
          <p:nvPr/>
        </p:nvSpPr>
        <p:spPr>
          <a:xfrm>
            <a:off x="6451092" y="1389888"/>
            <a:ext cx="772668"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Extra</a:t>
            </a:r>
          </a:p>
        </p:txBody>
      </p:sp>
      <p:sp>
        <p:nvSpPr>
          <p:cNvPr id="10" name="Strip Wrap-up"/>
          <p:cNvSpPr/>
          <p:nvPr/>
        </p:nvSpPr>
        <p:spPr>
          <a:xfrm>
            <a:off x="7333488" y="1389888"/>
            <a:ext cx="928116"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Wrap-up</a:t>
            </a:r>
          </a:p>
        </p:txBody>
      </p:sp>
      <p:sp>
        <p:nvSpPr>
          <p:cNvPr id="11" name="Level"/>
          <p:cNvSpPr/>
          <p:nvPr/>
        </p:nvSpPr>
        <p:spPr>
          <a:xfrm>
            <a:off x="9400032" y="1362456"/>
            <a:ext cx="2651760" cy="365760"/>
          </a:xfrm>
          <a:prstGeom prst="roundRect">
            <a:avLst>
              <a:gd name="adj" fmla="val 50000"/>
            </a:avLst>
          </a:prstGeom>
          <a:solidFill>
            <a:srgbClr val="F2F3F5"/>
          </a:solidFill>
          <a:ln w="12700">
            <a:solidFill>
              <a:srgbClr val="1B3A5C"/>
            </a:solidFill>
          </a:ln>
        </p:spPr>
        <p:txBody>
          <a:bodyPr lIns="73152" tIns="0" rIns="73152" bIns="0" rtlCol="0" anchor="ctr"/>
          <a:lstStyle/>
          <a:p>
            <a:pPr algn="ctr"/>
            <a:r>
              <a:rPr lang="en-US" sz="1200" b="0" i="0" spc="100">
                <a:solidFill>
                  <a:srgbClr val="1B3A5C"/>
                </a:solidFill>
                <a:latin typeface="Raleway"/>
              </a:rPr>
              <a:t>EASY · 7 MIN ON YOUR OWN</a:t>
            </a:r>
          </a:p>
        </p:txBody>
      </p:sp>
      <p:sp>
        <p:nvSpPr>
          <p:cNvPr id="12" name="Lead"/>
          <p:cNvSpPr txBox="1"/>
          <p:nvPr/>
        </p:nvSpPr>
        <p:spPr>
          <a:xfrm>
            <a:off x="640080" y="1965960"/>
            <a:ext cx="6035040" cy="1325880"/>
          </a:xfrm>
          <a:prstGeom prst="rect">
            <a:avLst/>
          </a:prstGeom>
          <a:noFill/>
        </p:spPr>
        <p:txBody>
          <a:bodyPr wrap="square" lIns="0" tIns="0" rIns="0" bIns="0" anchor="t">
            <a:noAutofit/>
          </a:bodyPr>
          <a:lstStyle/>
          <a:p>
            <a:pPr algn="l">
              <a:lnSpc>
                <a:spcPct val="110000"/>
              </a:lnSpc>
            </a:pPr>
            <a:r>
              <a:rPr lang="en-US" sz="2400" b="0" i="0">
                <a:solidFill>
                  <a:srgbClr val="A64B00"/>
                </a:solidFill>
                <a:latin typeface="Raleway"/>
              </a:rPr>
              <a:t>Task: a cashier types an item, a quantity and a unit price. Print the receipt.</a:t>
            </a:r>
          </a:p>
        </p:txBody>
      </p:sp>
      <p:sp>
        <p:nvSpPr>
          <p:cNvPr id="13" name="Task bullets"/>
          <p:cNvSpPr txBox="1"/>
          <p:nvPr/>
        </p:nvSpPr>
        <p:spPr>
          <a:xfrm>
            <a:off x="640080" y="3383280"/>
            <a:ext cx="6035040" cy="2788920"/>
          </a:xfrm>
          <a:prstGeom prst="rect">
            <a:avLst/>
          </a:prstGeom>
          <a:noFill/>
        </p:spPr>
        <p:txBody>
          <a:bodyPr wrap="square" lIns="0" tIns="0" rIns="0" bIns="0" anchor="t">
            <a:noAutofit/>
          </a:bodyPr>
          <a:lstStyle/>
          <a:p>
            <a:pPr marL="274320" indent="-274320" algn="l">
              <a:lnSpc>
                <a:spcPct val="114999"/>
              </a:lnSpc>
              <a:spcAft>
                <a:spcPts val="800"/>
              </a:spcAft>
              <a:buClr>
                <a:srgbClr val="A64B00"/>
              </a:buClr>
              <a:buSzPct val="65000"/>
              <a:buFont typeface="Arial" panose="020B0604020202020204" pitchFamily="34" charset="0"/>
              <a:buChar char="•"/>
            </a:pPr>
            <a:r>
              <a:rPr lang="en-US" sz="2200" b="0" i="0">
                <a:solidFill>
                  <a:srgbClr val="1D2433"/>
                </a:solidFill>
                <a:latin typeface="Raleway"/>
              </a:rPr>
              <a:t>Read the item name, the quantity (whole) and the unit price</a:t>
            </a:r>
          </a:p>
          <a:p>
            <a:pPr marL="274320" indent="-274320" algn="l">
              <a:lnSpc>
                <a:spcPct val="114999"/>
              </a:lnSpc>
              <a:spcAft>
                <a:spcPts val="800"/>
              </a:spcAft>
              <a:buClr>
                <a:srgbClr val="A64B00"/>
              </a:buClr>
              <a:buSzPct val="65000"/>
              <a:buFont typeface="Arial" panose="020B0604020202020204" pitchFamily="34" charset="0"/>
              <a:buChar char="•"/>
            </a:pPr>
            <a:r>
              <a:rPr lang="en-US" sz="2200" b="0" i="0">
                <a:solidFill>
                  <a:srgbClr val="1D2433"/>
                </a:solidFill>
                <a:latin typeface="Raleway"/>
              </a:rPr>
              <a:t>VAT is 18% of the subtotal; the total is subtotal plus VAT</a:t>
            </a:r>
          </a:p>
          <a:p>
            <a:pPr marL="274320" indent="-274320" algn="l">
              <a:lnSpc>
                <a:spcPct val="114999"/>
              </a:lnSpc>
              <a:spcAft>
                <a:spcPts val="800"/>
              </a:spcAft>
              <a:buClr>
                <a:srgbClr val="A64B00"/>
              </a:buClr>
              <a:buSzPct val="65000"/>
              <a:buFont typeface="Arial" panose="020B0604020202020204" pitchFamily="34" charset="0"/>
              <a:buChar char="•"/>
            </a:pPr>
            <a:r>
              <a:rPr lang="en-US" sz="2200" b="0" i="0">
                <a:solidFill>
                  <a:srgbClr val="1D2433"/>
                </a:solidFill>
                <a:latin typeface="Raleway"/>
              </a:rPr>
              <a:t>Three lines of output, built with f-strings, rounded to 2 digits</a:t>
            </a:r>
          </a:p>
        </p:txBody>
      </p:sp>
      <p:sp>
        <p:nvSpPr>
          <p:cNvPr id="14" name="Terminal"/>
          <p:cNvSpPr/>
          <p:nvPr/>
        </p:nvSpPr>
        <p:spPr>
          <a:xfrm>
            <a:off x="7040880" y="1965960"/>
            <a:ext cx="4507992" cy="2157984"/>
          </a:xfrm>
          <a:prstGeom prst="roundRect">
            <a:avLst>
              <a:gd name="adj" fmla="val 4000"/>
            </a:avLst>
          </a:prstGeom>
          <a:solidFill>
            <a:srgbClr val="111318"/>
          </a:solidFill>
          <a:ln w="12700">
            <a:solidFill>
              <a:srgbClr val="D8DBE0"/>
            </a:solidFill>
          </a:ln>
        </p:spPr>
        <p:txBody>
          <a:bodyPr rtlCol="0" anchor="ctr"/>
          <a:lstStyle/>
          <a:p>
            <a:endParaRPr/>
          </a:p>
        </p:txBody>
      </p:sp>
      <p:sp>
        <p:nvSpPr>
          <p:cNvPr id="15" name="Terminal header"/>
          <p:cNvSpPr/>
          <p:nvPr/>
        </p:nvSpPr>
        <p:spPr>
          <a:xfrm>
            <a:off x="7040880" y="1965960"/>
            <a:ext cx="4507992" cy="384048"/>
          </a:xfrm>
          <a:prstGeom prst="roundRect">
            <a:avLst>
              <a:gd name="adj" fmla="val 10000"/>
            </a:avLst>
          </a:prstGeom>
          <a:solidFill>
            <a:srgbClr val="1B1E26"/>
          </a:solidFill>
          <a:ln w="12700">
            <a:solidFill>
              <a:srgbClr val="D8DBE0"/>
            </a:solidFill>
          </a:ln>
        </p:spPr>
        <p:txBody>
          <a:bodyPr rtlCol="0" anchor="ctr"/>
          <a:lstStyle/>
          <a:p>
            <a:endParaRPr/>
          </a:p>
        </p:txBody>
      </p:sp>
      <p:sp>
        <p:nvSpPr>
          <p:cNvPr id="16" name="Terminal header fill"/>
          <p:cNvSpPr/>
          <p:nvPr/>
        </p:nvSpPr>
        <p:spPr>
          <a:xfrm>
            <a:off x="7059168" y="2157984"/>
            <a:ext cx="4471416" cy="192024"/>
          </a:xfrm>
          <a:prstGeom prst="rect">
            <a:avLst/>
          </a:prstGeom>
          <a:solidFill>
            <a:srgbClr val="1B1E26"/>
          </a:solidFill>
          <a:ln>
            <a:noFill/>
          </a:ln>
        </p:spPr>
        <p:txBody>
          <a:bodyPr rtlCol="0" anchor="ctr"/>
          <a:lstStyle/>
          <a:p>
            <a:endParaRPr/>
          </a:p>
        </p:txBody>
      </p:sp>
      <p:sp>
        <p:nvSpPr>
          <p:cNvPr id="17" name="Terminal label"/>
          <p:cNvSpPr txBox="1"/>
          <p:nvPr/>
        </p:nvSpPr>
        <p:spPr>
          <a:xfrm>
            <a:off x="7315200" y="1965960"/>
            <a:ext cx="4050792" cy="384048"/>
          </a:xfrm>
          <a:prstGeom prst="rect">
            <a:avLst/>
          </a:prstGeom>
          <a:noFill/>
        </p:spPr>
        <p:txBody>
          <a:bodyPr wrap="square" lIns="0" tIns="0" rIns="0" bIns="0" anchor="ctr">
            <a:noAutofit/>
          </a:bodyPr>
          <a:lstStyle/>
          <a:p>
            <a:pPr algn="l"/>
            <a:r>
              <a:rPr lang="en-US" sz="1200" b="0" i="0">
                <a:solidFill>
                  <a:srgbClr val="E9EAEE"/>
                </a:solidFill>
                <a:latin typeface="Consolas"/>
              </a:rPr>
              <a:t>terminal</a:t>
            </a:r>
          </a:p>
        </p:txBody>
      </p:sp>
      <p:sp>
        <p:nvSpPr>
          <p:cNvPr id="18" name="Output"/>
          <p:cNvSpPr txBox="1"/>
          <p:nvPr/>
        </p:nvSpPr>
        <p:spPr>
          <a:xfrm>
            <a:off x="7315200" y="2478024"/>
            <a:ext cx="4050792" cy="1554480"/>
          </a:xfrm>
          <a:prstGeom prst="rect">
            <a:avLst/>
          </a:prstGeom>
          <a:noFill/>
        </p:spPr>
        <p:txBody>
          <a:bodyPr wrap="none" lIns="0" tIns="0" rIns="0" bIns="0" anchor="t">
            <a:noAutofit/>
          </a:bodyPr>
          <a:lstStyle/>
          <a:p>
            <a:pPr algn="l"/>
            <a:r>
              <a:rPr lang="en-US" sz="1600" b="0" i="0">
                <a:solidFill>
                  <a:srgbClr val="E9EAEE"/>
                </a:solidFill>
                <a:latin typeface="Consolas"/>
              </a:rPr>
              <a:t>Item: notebook</a:t>
            </a:r>
          </a:p>
          <a:p>
            <a:pPr algn="l"/>
            <a:r>
              <a:rPr lang="en-US" sz="1600" b="0" i="0">
                <a:solidFill>
                  <a:srgbClr val="E9EAEE"/>
                </a:solidFill>
                <a:latin typeface="Consolas"/>
              </a:rPr>
              <a:t>Quantity: 3</a:t>
            </a:r>
          </a:p>
          <a:p>
            <a:pPr algn="l"/>
            <a:r>
              <a:rPr lang="en-US" sz="1600" b="0" i="0">
                <a:solidFill>
                  <a:srgbClr val="E9EAEE"/>
                </a:solidFill>
                <a:latin typeface="Consolas"/>
              </a:rPr>
              <a:t>Unit price: 12.5</a:t>
            </a:r>
          </a:p>
          <a:p>
            <a:pPr algn="l"/>
            <a:r>
              <a:rPr lang="en-US" sz="1600" b="0" i="0">
                <a:solidFill>
                  <a:srgbClr val="E9EAEE"/>
                </a:solidFill>
                <a:latin typeface="Consolas"/>
              </a:rPr>
              <a:t>notebook x 3 = 37.5</a:t>
            </a:r>
          </a:p>
          <a:p>
            <a:pPr algn="l"/>
            <a:r>
              <a:rPr lang="en-US" sz="1600" b="0" i="0">
                <a:solidFill>
                  <a:srgbClr val="E9EAEE"/>
                </a:solidFill>
                <a:latin typeface="Consolas"/>
              </a:rPr>
              <a:t>VAT (18%): 6.75</a:t>
            </a:r>
          </a:p>
          <a:p>
            <a:pPr algn="l"/>
            <a:r>
              <a:rPr lang="en-US" sz="1600" b="0" i="0">
                <a:solidFill>
                  <a:srgbClr val="E9EAEE"/>
                </a:solidFill>
                <a:latin typeface="Consolas"/>
              </a:rPr>
              <a:t>Total: 44.25</a:t>
            </a:r>
          </a:p>
        </p:txBody>
      </p:sp>
      <p:sp>
        <p:nvSpPr>
          <p:cNvPr id="19" name="Panel"/>
          <p:cNvSpPr/>
          <p:nvPr/>
        </p:nvSpPr>
        <p:spPr>
          <a:xfrm>
            <a:off x="7040880" y="4352544"/>
            <a:ext cx="4507992" cy="1844040"/>
          </a:xfrm>
          <a:prstGeom prst="roundRect">
            <a:avLst>
              <a:gd name="adj" fmla="val 6000"/>
            </a:avLst>
          </a:prstGeom>
          <a:solidFill>
            <a:srgbClr val="F2F3F5"/>
          </a:solidFill>
          <a:ln w="12700">
            <a:solidFill>
              <a:srgbClr val="D8DBE0"/>
            </a:solidFill>
          </a:ln>
        </p:spPr>
        <p:txBody>
          <a:bodyPr rtlCol="0" anchor="ctr"/>
          <a:lstStyle/>
          <a:p>
            <a:endParaRPr/>
          </a:p>
        </p:txBody>
      </p:sp>
      <p:sp>
        <p:nvSpPr>
          <p:cNvPr id="20" name="Panel text"/>
          <p:cNvSpPr txBox="1"/>
          <p:nvPr/>
        </p:nvSpPr>
        <p:spPr>
          <a:xfrm>
            <a:off x="7178040" y="4462272"/>
            <a:ext cx="4233672" cy="1624584"/>
          </a:xfrm>
          <a:prstGeom prst="rect">
            <a:avLst/>
          </a:prstGeom>
          <a:noFill/>
        </p:spPr>
        <p:txBody>
          <a:bodyPr wrap="square" lIns="0" tIns="0" rIns="0" bIns="0" anchor="t">
            <a:noAutofit/>
          </a:bodyPr>
          <a:lstStyle/>
          <a:p>
            <a:pPr algn="l">
              <a:spcAft>
                <a:spcPts val="600"/>
              </a:spcAft>
            </a:pPr>
            <a:r>
              <a:rPr lang="en-US" sz="2200" b="0" i="0">
                <a:solidFill>
                  <a:srgbClr val="A64B00"/>
                </a:solidFill>
                <a:latin typeface="Raleway"/>
              </a:rPr>
              <a:t>Think about</a:t>
            </a:r>
          </a:p>
          <a:p>
            <a:pPr marL="201168" indent="-201168" algn="l">
              <a:spcAft>
                <a:spcPts val="600"/>
              </a:spcAft>
              <a:buSzPct val="65000"/>
              <a:buFont typeface="Arial" panose="020B0604020202020204" pitchFamily="34" charset="0"/>
              <a:buChar char="•"/>
            </a:pPr>
            <a:r>
              <a:rPr lang="en-US" sz="1600" b="0" i="0">
                <a:solidFill>
                  <a:srgbClr val="A64B00"/>
                </a:solidFill>
                <a:latin typeface="Raleway"/>
              </a:rPr>
              <a:t>Input is text:</a:t>
            </a:r>
            <a:r>
              <a:rPr lang="en-US" sz="1600" b="0" i="0">
                <a:solidFill>
                  <a:srgbClr val="1D2433"/>
                </a:solidFill>
                <a:latin typeface="Raleway"/>
              </a:rPr>
              <a:t> wrap </a:t>
            </a:r>
            <a:r>
              <a:rPr lang="en-US" sz="1600" b="0" i="0">
                <a:solidFill>
                  <a:srgbClr val="1D2433"/>
                </a:solidFill>
                <a:latin typeface="Consolas"/>
              </a:rPr>
              <a:t>input()</a:t>
            </a:r>
            <a:r>
              <a:rPr lang="en-US" sz="1600" b="0" i="0">
                <a:solidFill>
                  <a:srgbClr val="1D2433"/>
                </a:solidFill>
                <a:latin typeface="Raleway"/>
              </a:rPr>
              <a:t> in </a:t>
            </a:r>
            <a:r>
              <a:rPr lang="en-US" sz="1600" b="0" i="0">
                <a:solidFill>
                  <a:srgbClr val="1D2433"/>
                </a:solidFill>
                <a:latin typeface="Consolas"/>
              </a:rPr>
              <a:t>int()</a:t>
            </a:r>
            <a:r>
              <a:rPr lang="en-US" sz="1600" b="0" i="0">
                <a:solidFill>
                  <a:srgbClr val="1D2433"/>
                </a:solidFill>
                <a:latin typeface="Raleway"/>
              </a:rPr>
              <a:t> or </a:t>
            </a:r>
            <a:r>
              <a:rPr lang="en-US" sz="1600" b="0" i="0">
                <a:solidFill>
                  <a:srgbClr val="1D2433"/>
                </a:solidFill>
                <a:latin typeface="Consolas"/>
              </a:rPr>
              <a:t>float()</a:t>
            </a:r>
          </a:p>
          <a:p>
            <a:pPr marL="201168" indent="-201168" algn="l">
              <a:spcAft>
                <a:spcPts val="600"/>
              </a:spcAft>
              <a:buSzPct val="65000"/>
              <a:buFont typeface="Arial" panose="020B0604020202020204" pitchFamily="34" charset="0"/>
              <a:buChar char="•"/>
            </a:pPr>
            <a:r>
              <a:rPr lang="en-US" sz="1600" b="0" i="0">
                <a:solidFill>
                  <a:srgbClr val="1D2433"/>
                </a:solidFill>
                <a:latin typeface="Consolas"/>
              </a:rPr>
              <a:t>round(x, 2)</a:t>
            </a:r>
            <a:r>
              <a:rPr lang="en-US" sz="1600" b="0" i="0">
                <a:solidFill>
                  <a:srgbClr val="1D2433"/>
                </a:solidFill>
                <a:latin typeface="Raleway"/>
              </a:rPr>
              <a:t> rounds x to two decimal places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08 - Solution - Exercise 1: one solution">
    <p:spTree>
      <p:nvGrpSpPr>
        <p:cNvPr id="1" name=""/>
        <p:cNvGrpSpPr/>
        <p:nvPr/>
      </p:nvGrpSpPr>
      <p:grpSpPr>
        <a:xfrm>
          <a:off x="0" y="0"/>
          <a:ext cx="0" cy="0"/>
          <a:chOff x="0" y="0"/>
          <a:chExt cx="0" cy="0"/>
        </a:xfrm>
      </p:grpSpPr>
      <p:sp>
        <p:nvSpPr>
          <p:cNvPr id="2" name="Slide number"/>
          <p:cNvSpPr txBox="1"/>
          <p:nvPr/>
        </p:nvSpPr>
        <p:spPr>
          <a:xfrm>
            <a:off x="11430000" y="6446520"/>
            <a:ext cx="548640" cy="320040"/>
          </a:xfrm>
          <a:prstGeom prst="rect">
            <a:avLst/>
          </a:prstGeom>
          <a:noFill/>
        </p:spPr>
        <p:txBody>
          <a:bodyPr wrap="none" lIns="0" tIns="0" rIns="0" bIns="0" anchor="ctr">
            <a:spAutoFit/>
          </a:bodyPr>
          <a:lstStyle/>
          <a:p>
            <a:pPr algn="r"/>
            <a:fld id="{007A6A40-1A7B-4A1B-9D78-D7D11C5A8472}" type="slidenum">
              <a:rPr lang="en-US" sz="1200">
                <a:solidFill>
                  <a:srgbClr val="1B3A5C"/>
                </a:solidFill>
                <a:latin typeface="Raleway"/>
              </a:rPr>
              <a:t>10</a:t>
            </a:fld>
            <a:endParaRPr lang="en-US" sz="1200">
              <a:solidFill>
                <a:srgbClr val="1B3A5C"/>
              </a:solidFill>
              <a:latin typeface="Raleway"/>
            </a:endParaRPr>
          </a:p>
        </p:txBody>
      </p:sp>
      <p:sp>
        <p:nvSpPr>
          <p:cNvPr id="3" name="Title"/>
          <p:cNvSpPr txBox="1"/>
          <p:nvPr/>
        </p:nvSpPr>
        <p:spPr>
          <a:xfrm>
            <a:off x="640080" y="502920"/>
            <a:ext cx="11411712" cy="822960"/>
          </a:xfrm>
          <a:prstGeom prst="rect">
            <a:avLst/>
          </a:prstGeom>
          <a:noFill/>
        </p:spPr>
        <p:txBody>
          <a:bodyPr wrap="square" lIns="0" tIns="0" rIns="0" bIns="0" anchor="ctr">
            <a:noAutofit/>
          </a:bodyPr>
          <a:lstStyle/>
          <a:p>
            <a:pPr algn="l"/>
            <a:r>
              <a:rPr lang="en-US" sz="4000" b="1" i="0">
                <a:solidFill>
                  <a:srgbClr val="1F4E79"/>
                </a:solidFill>
                <a:latin typeface="Raleway"/>
              </a:rPr>
              <a:t>Exercise 1: one solution</a:t>
            </a:r>
          </a:p>
        </p:txBody>
      </p:sp>
      <p:sp>
        <p:nvSpPr>
          <p:cNvPr id="4" name="Code card"/>
          <p:cNvSpPr/>
          <p:nvPr/>
        </p:nvSpPr>
        <p:spPr>
          <a:xfrm>
            <a:off x="640080" y="1508760"/>
            <a:ext cx="6766560" cy="3712463"/>
          </a:xfrm>
          <a:prstGeom prst="roundRect">
            <a:avLst>
              <a:gd name="adj" fmla="val 4000"/>
            </a:avLst>
          </a:prstGeom>
          <a:solidFill>
            <a:srgbClr val="111318"/>
          </a:solidFill>
          <a:ln w="12700">
            <a:solidFill>
              <a:srgbClr val="D8DBE0"/>
            </a:solidFill>
          </a:ln>
        </p:spPr>
        <p:txBody>
          <a:bodyPr rtlCol="0" anchor="ctr"/>
          <a:lstStyle/>
          <a:p>
            <a:endParaRPr/>
          </a:p>
        </p:txBody>
      </p:sp>
      <p:sp>
        <p:nvSpPr>
          <p:cNvPr id="5" name="Code card header"/>
          <p:cNvSpPr/>
          <p:nvPr/>
        </p:nvSpPr>
        <p:spPr>
          <a:xfrm>
            <a:off x="640080" y="1508760"/>
            <a:ext cx="6766560" cy="384048"/>
          </a:xfrm>
          <a:prstGeom prst="roundRect">
            <a:avLst>
              <a:gd name="adj" fmla="val 10000"/>
            </a:avLst>
          </a:prstGeom>
          <a:solidFill>
            <a:srgbClr val="1B1E26"/>
          </a:solidFill>
          <a:ln w="12700">
            <a:solidFill>
              <a:srgbClr val="D8DBE0"/>
            </a:solidFill>
          </a:ln>
        </p:spPr>
        <p:txBody>
          <a:bodyPr rtlCol="0" anchor="ctr"/>
          <a:lstStyle/>
          <a:p>
            <a:endParaRPr/>
          </a:p>
        </p:txBody>
      </p:sp>
      <p:sp>
        <p:nvSpPr>
          <p:cNvPr id="6" name="Code card header fill"/>
          <p:cNvSpPr/>
          <p:nvPr/>
        </p:nvSpPr>
        <p:spPr>
          <a:xfrm>
            <a:off x="658368" y="1700784"/>
            <a:ext cx="6729984" cy="192024"/>
          </a:xfrm>
          <a:prstGeom prst="rect">
            <a:avLst/>
          </a:prstGeom>
          <a:solidFill>
            <a:srgbClr val="1B1E26"/>
          </a:solidFill>
          <a:ln>
            <a:noFill/>
          </a:ln>
        </p:spPr>
        <p:txBody>
          <a:bodyPr rtlCol="0" anchor="ctr"/>
          <a:lstStyle/>
          <a:p>
            <a:endParaRPr/>
          </a:p>
        </p:txBody>
      </p:sp>
      <p:sp>
        <p:nvSpPr>
          <p:cNvPr id="7" name="Oval 6"/>
          <p:cNvSpPr/>
          <p:nvPr/>
        </p:nvSpPr>
        <p:spPr>
          <a:xfrm>
            <a:off x="868680" y="1645919"/>
            <a:ext cx="118872" cy="118872"/>
          </a:xfrm>
          <a:prstGeom prst="ellipse">
            <a:avLst/>
          </a:prstGeom>
          <a:solidFill>
            <a:srgbClr val="FF6B6B"/>
          </a:solidFill>
          <a:ln>
            <a:noFill/>
          </a:ln>
        </p:spPr>
        <p:txBody>
          <a:bodyPr rtlCol="0" anchor="ctr"/>
          <a:lstStyle/>
          <a:p>
            <a:pPr algn="ctr"/>
            <a:endParaRPr/>
          </a:p>
        </p:txBody>
      </p:sp>
      <p:sp>
        <p:nvSpPr>
          <p:cNvPr id="8" name="Oval 7"/>
          <p:cNvSpPr/>
          <p:nvPr/>
        </p:nvSpPr>
        <p:spPr>
          <a:xfrm>
            <a:off x="1143000" y="1645919"/>
            <a:ext cx="118872" cy="118872"/>
          </a:xfrm>
          <a:prstGeom prst="ellipse">
            <a:avLst/>
          </a:prstGeom>
          <a:solidFill>
            <a:srgbClr val="FFD94A"/>
          </a:solidFill>
          <a:ln>
            <a:noFill/>
          </a:ln>
        </p:spPr>
        <p:txBody>
          <a:bodyPr rtlCol="0" anchor="ctr"/>
          <a:lstStyle/>
          <a:p>
            <a:pPr algn="ctr"/>
            <a:endParaRPr/>
          </a:p>
        </p:txBody>
      </p:sp>
      <p:sp>
        <p:nvSpPr>
          <p:cNvPr id="9" name="Oval 8"/>
          <p:cNvSpPr/>
          <p:nvPr/>
        </p:nvSpPr>
        <p:spPr>
          <a:xfrm>
            <a:off x="1417319" y="1645919"/>
            <a:ext cx="118872" cy="118872"/>
          </a:xfrm>
          <a:prstGeom prst="ellipse">
            <a:avLst/>
          </a:prstGeom>
          <a:solidFill>
            <a:srgbClr val="8FE3AB"/>
          </a:solidFill>
          <a:ln>
            <a:noFill/>
          </a:ln>
        </p:spPr>
        <p:txBody>
          <a:bodyPr rtlCol="0" anchor="ctr"/>
          <a:lstStyle/>
          <a:p>
            <a:pPr algn="ctr"/>
            <a:endParaRPr/>
          </a:p>
        </p:txBody>
      </p:sp>
      <p:sp>
        <p:nvSpPr>
          <p:cNvPr id="10" name="Filename"/>
          <p:cNvSpPr txBox="1"/>
          <p:nvPr/>
        </p:nvSpPr>
        <p:spPr>
          <a:xfrm>
            <a:off x="1828800" y="1508760"/>
            <a:ext cx="5394960" cy="384048"/>
          </a:xfrm>
          <a:prstGeom prst="rect">
            <a:avLst/>
          </a:prstGeom>
          <a:noFill/>
        </p:spPr>
        <p:txBody>
          <a:bodyPr wrap="square" lIns="0" tIns="0" rIns="0" bIns="0" anchor="ctr">
            <a:noAutofit/>
          </a:bodyPr>
          <a:lstStyle/>
          <a:p>
            <a:pPr algn="l"/>
            <a:r>
              <a:rPr lang="en-US" sz="1200" b="0" i="0">
                <a:solidFill>
                  <a:srgbClr val="E9EAEE"/>
                </a:solidFill>
                <a:latin typeface="Consolas"/>
              </a:rPr>
              <a:t>receipt.py</a:t>
            </a:r>
          </a:p>
        </p:txBody>
      </p:sp>
      <p:sp>
        <p:nvSpPr>
          <p:cNvPr id="11" name="Code"/>
          <p:cNvSpPr txBox="1"/>
          <p:nvPr/>
        </p:nvSpPr>
        <p:spPr>
          <a:xfrm>
            <a:off x="1005840" y="2002536"/>
            <a:ext cx="6126480" cy="3127247"/>
          </a:xfrm>
          <a:prstGeom prst="rect">
            <a:avLst/>
          </a:prstGeom>
          <a:noFill/>
        </p:spPr>
        <p:txBody>
          <a:bodyPr wrap="none" lIns="0" tIns="0" rIns="0" bIns="0" anchor="t">
            <a:noAutofit/>
          </a:bodyPr>
          <a:lstStyle/>
          <a:p>
            <a:pPr algn="l"/>
            <a:r>
              <a:rPr lang="en-US" sz="1800" b="0" i="0">
                <a:solidFill>
                  <a:srgbClr val="E9EAEE"/>
                </a:solidFill>
                <a:latin typeface="Consolas"/>
              </a:rPr>
              <a:t>item = </a:t>
            </a:r>
            <a:r>
              <a:rPr lang="en-US" sz="1800" b="0" i="0">
                <a:solidFill>
                  <a:srgbClr val="F5B759"/>
                </a:solidFill>
                <a:latin typeface="Consolas"/>
              </a:rPr>
              <a:t>input</a:t>
            </a:r>
            <a:r>
              <a:rPr lang="en-US" sz="1800" b="0" i="0">
                <a:solidFill>
                  <a:srgbClr val="E9EAEE"/>
                </a:solidFill>
                <a:latin typeface="Consolas"/>
              </a:rPr>
              <a:t>("Item: ")</a:t>
            </a:r>
          </a:p>
          <a:p>
            <a:pPr algn="l"/>
            <a:r>
              <a:rPr lang="en-US" sz="1800" b="0" i="0">
                <a:solidFill>
                  <a:srgbClr val="E9EAEE"/>
                </a:solidFill>
                <a:latin typeface="Consolas"/>
              </a:rPr>
              <a:t>quantity = </a:t>
            </a:r>
            <a:r>
              <a:rPr lang="en-US" sz="1800" b="0" i="0">
                <a:solidFill>
                  <a:srgbClr val="F5B759"/>
                </a:solidFill>
                <a:latin typeface="Consolas"/>
              </a:rPr>
              <a:t>int</a:t>
            </a:r>
            <a:r>
              <a:rPr lang="en-US" sz="1800" b="0" i="0">
                <a:solidFill>
                  <a:srgbClr val="E9EAEE"/>
                </a:solidFill>
                <a:latin typeface="Consolas"/>
              </a:rPr>
              <a:t>(</a:t>
            </a:r>
            <a:r>
              <a:rPr lang="en-US" sz="1800" b="0" i="0">
                <a:solidFill>
                  <a:srgbClr val="F5B759"/>
                </a:solidFill>
                <a:latin typeface="Consolas"/>
              </a:rPr>
              <a:t>input</a:t>
            </a:r>
            <a:r>
              <a:rPr lang="en-US" sz="1800" b="0" i="0">
                <a:solidFill>
                  <a:srgbClr val="E9EAEE"/>
                </a:solidFill>
                <a:latin typeface="Consolas"/>
              </a:rPr>
              <a:t>("Quantity: "))</a:t>
            </a:r>
          </a:p>
          <a:p>
            <a:pPr algn="l"/>
            <a:r>
              <a:rPr lang="en-US" sz="1800" b="0" i="0">
                <a:solidFill>
                  <a:srgbClr val="E9EAEE"/>
                </a:solidFill>
                <a:latin typeface="Consolas"/>
              </a:rPr>
              <a:t>price = </a:t>
            </a:r>
            <a:r>
              <a:rPr lang="en-US" sz="1800" b="0" i="0">
                <a:solidFill>
                  <a:srgbClr val="F5B759"/>
                </a:solidFill>
                <a:latin typeface="Consolas"/>
              </a:rPr>
              <a:t>float</a:t>
            </a:r>
            <a:r>
              <a:rPr lang="en-US" sz="1800" b="0" i="0">
                <a:solidFill>
                  <a:srgbClr val="E9EAEE"/>
                </a:solidFill>
                <a:latin typeface="Consolas"/>
              </a:rPr>
              <a:t>(</a:t>
            </a:r>
            <a:r>
              <a:rPr lang="en-US" sz="1800" b="0" i="0">
                <a:solidFill>
                  <a:srgbClr val="F5B759"/>
                </a:solidFill>
                <a:latin typeface="Consolas"/>
              </a:rPr>
              <a:t>input</a:t>
            </a:r>
            <a:r>
              <a:rPr lang="en-US" sz="1800" b="0" i="0">
                <a:solidFill>
                  <a:srgbClr val="E9EAEE"/>
                </a:solidFill>
                <a:latin typeface="Consolas"/>
              </a:rPr>
              <a:t>("Unit price: "))</a:t>
            </a:r>
          </a:p>
          <a:p>
            <a:pPr algn="l"/>
            <a:endParaRPr lang="en-US" sz="1800" b="0" i="0">
              <a:solidFill>
                <a:srgbClr val="E9EAEE"/>
              </a:solidFill>
              <a:latin typeface="Consolas"/>
            </a:endParaRPr>
          </a:p>
          <a:p>
            <a:pPr algn="l"/>
            <a:r>
              <a:rPr lang="en-US" sz="1800" b="0" i="0">
                <a:solidFill>
                  <a:srgbClr val="E9EAEE"/>
                </a:solidFill>
                <a:latin typeface="Consolas"/>
              </a:rPr>
              <a:t>subtotal = quantity * price</a:t>
            </a:r>
          </a:p>
          <a:p>
            <a:pPr algn="l"/>
            <a:r>
              <a:rPr lang="en-US" sz="1800" b="0" i="0">
                <a:solidFill>
                  <a:srgbClr val="E9EAEE"/>
                </a:solidFill>
                <a:latin typeface="Consolas"/>
              </a:rPr>
              <a:t>vat = subtotal * 0.18</a:t>
            </a:r>
          </a:p>
          <a:p>
            <a:pPr algn="l"/>
            <a:r>
              <a:rPr lang="en-US" sz="1800" b="0" i="0">
                <a:solidFill>
                  <a:srgbClr val="E9EAEE"/>
                </a:solidFill>
                <a:latin typeface="Consolas"/>
              </a:rPr>
              <a:t>total = subtotal + vat</a:t>
            </a:r>
          </a:p>
          <a:p>
            <a:pPr algn="l"/>
            <a:endParaRPr lang="en-US" sz="1800" b="0" i="0">
              <a:solidFill>
                <a:srgbClr val="E9EAEE"/>
              </a:solidFill>
              <a:latin typeface="Consolas"/>
            </a:endParaRPr>
          </a:p>
          <a:p>
            <a:pPr algn="l"/>
            <a:r>
              <a:rPr lang="en-US" sz="1800" b="0" i="0">
                <a:solidFill>
                  <a:srgbClr val="F5B759"/>
                </a:solidFill>
                <a:latin typeface="Consolas"/>
              </a:rPr>
              <a:t>print</a:t>
            </a:r>
            <a:r>
              <a:rPr lang="en-US" sz="1800" b="0" i="0">
                <a:solidFill>
                  <a:srgbClr val="E9EAEE"/>
                </a:solidFill>
                <a:latin typeface="Consolas"/>
              </a:rPr>
              <a:t>(f"{item} x {quantity} = {subtotal}")</a:t>
            </a:r>
          </a:p>
          <a:p>
            <a:pPr algn="l"/>
            <a:r>
              <a:rPr lang="en-US" sz="1800" b="0" i="0">
                <a:solidFill>
                  <a:srgbClr val="F5B759"/>
                </a:solidFill>
                <a:latin typeface="Consolas"/>
              </a:rPr>
              <a:t>print</a:t>
            </a:r>
            <a:r>
              <a:rPr lang="en-US" sz="1800" b="0" i="0">
                <a:solidFill>
                  <a:srgbClr val="E9EAEE"/>
                </a:solidFill>
                <a:latin typeface="Consolas"/>
              </a:rPr>
              <a:t>(f"VAT (18%): {round(vat, 2)}")</a:t>
            </a:r>
          </a:p>
          <a:p>
            <a:pPr algn="l"/>
            <a:r>
              <a:rPr lang="en-US" sz="1800" b="0" i="0">
                <a:solidFill>
                  <a:srgbClr val="F5B759"/>
                </a:solidFill>
                <a:latin typeface="Consolas"/>
              </a:rPr>
              <a:t>print</a:t>
            </a:r>
            <a:r>
              <a:rPr lang="en-US" sz="1800" b="0" i="0">
                <a:solidFill>
                  <a:srgbClr val="E9EAEE"/>
                </a:solidFill>
                <a:latin typeface="Consolas"/>
              </a:rPr>
              <a:t>(f"Total: {round(total, 2)}")</a:t>
            </a:r>
          </a:p>
        </p:txBody>
      </p:sp>
      <p:sp>
        <p:nvSpPr>
          <p:cNvPr id="12" name="Panel"/>
          <p:cNvSpPr/>
          <p:nvPr/>
        </p:nvSpPr>
        <p:spPr>
          <a:xfrm>
            <a:off x="7772400" y="1508760"/>
            <a:ext cx="3776472" cy="3108960"/>
          </a:xfrm>
          <a:prstGeom prst="roundRect">
            <a:avLst>
              <a:gd name="adj" fmla="val 6000"/>
            </a:avLst>
          </a:prstGeom>
          <a:solidFill>
            <a:srgbClr val="F2F3F5"/>
          </a:solidFill>
          <a:ln w="12700">
            <a:solidFill>
              <a:srgbClr val="D8DBE0"/>
            </a:solidFill>
          </a:ln>
        </p:spPr>
        <p:txBody>
          <a:bodyPr rtlCol="0" anchor="ctr"/>
          <a:lstStyle/>
          <a:p>
            <a:endParaRPr/>
          </a:p>
        </p:txBody>
      </p:sp>
      <p:sp>
        <p:nvSpPr>
          <p:cNvPr id="13" name="Panel text"/>
          <p:cNvSpPr txBox="1"/>
          <p:nvPr/>
        </p:nvSpPr>
        <p:spPr>
          <a:xfrm>
            <a:off x="7909560" y="1618488"/>
            <a:ext cx="3502152" cy="2889504"/>
          </a:xfrm>
          <a:prstGeom prst="rect">
            <a:avLst/>
          </a:prstGeom>
          <a:noFill/>
        </p:spPr>
        <p:txBody>
          <a:bodyPr wrap="square" lIns="0" tIns="0" rIns="0" bIns="0" anchor="t">
            <a:noAutofit/>
          </a:bodyPr>
          <a:lstStyle/>
          <a:p>
            <a:pPr algn="l">
              <a:spcAft>
                <a:spcPts val="600"/>
              </a:spcAft>
            </a:pPr>
            <a:r>
              <a:rPr lang="en-US" sz="2200" b="0" i="0">
                <a:solidFill>
                  <a:srgbClr val="A64B00"/>
                </a:solidFill>
                <a:latin typeface="Raleway"/>
              </a:rPr>
              <a:t>Three things to notice</a:t>
            </a:r>
          </a:p>
          <a:p>
            <a:pPr marL="201168" indent="-201168" algn="l">
              <a:spcAft>
                <a:spcPts val="600"/>
              </a:spcAft>
              <a:buSzPct val="65000"/>
              <a:buFont typeface="Arial" panose="020B0604020202020204" pitchFamily="34" charset="0"/>
              <a:buChar char="•"/>
            </a:pPr>
            <a:r>
              <a:rPr lang="en-US" sz="1600" b="0" i="0">
                <a:solidFill>
                  <a:srgbClr val="A64B00"/>
                </a:solidFill>
                <a:latin typeface="Raleway"/>
              </a:rPr>
              <a:t>Casting:</a:t>
            </a:r>
            <a:r>
              <a:rPr lang="en-US" sz="1600" b="0" i="0">
                <a:solidFill>
                  <a:srgbClr val="1D2433"/>
                </a:solidFill>
                <a:latin typeface="Raleway"/>
              </a:rPr>
              <a:t> </a:t>
            </a:r>
            <a:r>
              <a:rPr lang="en-US" sz="1600" b="0" i="0">
                <a:solidFill>
                  <a:srgbClr val="1D2433"/>
                </a:solidFill>
                <a:latin typeface="Consolas"/>
              </a:rPr>
              <a:t>int()</a:t>
            </a:r>
            <a:r>
              <a:rPr lang="en-US" sz="1600" b="0" i="0">
                <a:solidFill>
                  <a:srgbClr val="1D2433"/>
                </a:solidFill>
                <a:latin typeface="Raleway"/>
              </a:rPr>
              <a:t> for a count, </a:t>
            </a:r>
            <a:r>
              <a:rPr lang="en-US" sz="1600" b="0" i="0">
                <a:solidFill>
                  <a:srgbClr val="1D2433"/>
                </a:solidFill>
                <a:latin typeface="Consolas"/>
              </a:rPr>
              <a:t>float()</a:t>
            </a:r>
            <a:r>
              <a:rPr lang="en-US" sz="1600" b="0" i="0">
                <a:solidFill>
                  <a:srgbClr val="1D2433"/>
                </a:solidFill>
                <a:latin typeface="Raleway"/>
              </a:rPr>
              <a:t> for a price - the type says what the value is</a:t>
            </a:r>
          </a:p>
          <a:p>
            <a:pPr marL="201168" indent="-201168" algn="l">
              <a:spcAft>
                <a:spcPts val="600"/>
              </a:spcAft>
              <a:buSzPct val="65000"/>
              <a:buFont typeface="Arial" panose="020B0604020202020204" pitchFamily="34" charset="0"/>
              <a:buChar char="•"/>
            </a:pPr>
            <a:r>
              <a:rPr lang="en-US" sz="1600" b="0" i="0">
                <a:solidFill>
                  <a:srgbClr val="A64B00"/>
                </a:solidFill>
                <a:latin typeface="Raleway"/>
              </a:rPr>
              <a:t>f-strings:</a:t>
            </a:r>
            <a:r>
              <a:rPr lang="en-US" sz="1600" b="0" i="0">
                <a:solidFill>
                  <a:srgbClr val="1D2433"/>
                </a:solidFill>
                <a:latin typeface="Raleway"/>
              </a:rPr>
              <a:t> anything inside the braces is evaluated and turned into text</a:t>
            </a:r>
          </a:p>
          <a:p>
            <a:pPr marL="201168" indent="-201168" algn="l">
              <a:spcAft>
                <a:spcPts val="600"/>
              </a:spcAft>
              <a:buSzPct val="65000"/>
              <a:buFont typeface="Arial" panose="020B0604020202020204" pitchFamily="34" charset="0"/>
              <a:buChar char="•"/>
            </a:pPr>
            <a:r>
              <a:rPr lang="en-US" sz="1600" b="0" i="0">
                <a:solidFill>
                  <a:srgbClr val="A64B00"/>
                </a:solidFill>
                <a:latin typeface="Raleway"/>
              </a:rPr>
              <a:t>round():</a:t>
            </a:r>
            <a:r>
              <a:rPr lang="en-US" sz="1600" b="0" i="0">
                <a:solidFill>
                  <a:srgbClr val="1D2433"/>
                </a:solidFill>
                <a:latin typeface="Raleway"/>
              </a:rPr>
              <a:t> only the printed value is rounded; the arithmetic is exact as it can be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09 - Run - Exercise 1: the run">
    <p:spTree>
      <p:nvGrpSpPr>
        <p:cNvPr id="1" name=""/>
        <p:cNvGrpSpPr/>
        <p:nvPr/>
      </p:nvGrpSpPr>
      <p:grpSpPr>
        <a:xfrm>
          <a:off x="0" y="0"/>
          <a:ext cx="0" cy="0"/>
          <a:chOff x="0" y="0"/>
          <a:chExt cx="0" cy="0"/>
        </a:xfrm>
      </p:grpSpPr>
      <p:sp>
        <p:nvSpPr>
          <p:cNvPr id="2" name="Slide number"/>
          <p:cNvSpPr txBox="1"/>
          <p:nvPr/>
        </p:nvSpPr>
        <p:spPr>
          <a:xfrm>
            <a:off x="11430000" y="6446520"/>
            <a:ext cx="548640" cy="320040"/>
          </a:xfrm>
          <a:prstGeom prst="rect">
            <a:avLst/>
          </a:prstGeom>
          <a:noFill/>
        </p:spPr>
        <p:txBody>
          <a:bodyPr wrap="none" lIns="0" tIns="0" rIns="0" bIns="0" anchor="ctr">
            <a:spAutoFit/>
          </a:bodyPr>
          <a:lstStyle/>
          <a:p>
            <a:pPr algn="r"/>
            <a:fld id="{007A6A40-1A7B-4A1B-9D78-D7D11C5A8472}" type="slidenum">
              <a:rPr lang="en-US" sz="1200">
                <a:solidFill>
                  <a:srgbClr val="1B3A5C"/>
                </a:solidFill>
                <a:latin typeface="Raleway"/>
              </a:rPr>
              <a:t>11</a:t>
            </a:fld>
            <a:endParaRPr lang="en-US" sz="1200">
              <a:solidFill>
                <a:srgbClr val="1B3A5C"/>
              </a:solidFill>
              <a:latin typeface="Raleway"/>
            </a:endParaRPr>
          </a:p>
        </p:txBody>
      </p:sp>
      <p:sp>
        <p:nvSpPr>
          <p:cNvPr id="3" name="Title"/>
          <p:cNvSpPr txBox="1"/>
          <p:nvPr/>
        </p:nvSpPr>
        <p:spPr>
          <a:xfrm>
            <a:off x="640080" y="502920"/>
            <a:ext cx="11411712" cy="822960"/>
          </a:xfrm>
          <a:prstGeom prst="rect">
            <a:avLst/>
          </a:prstGeom>
          <a:noFill/>
        </p:spPr>
        <p:txBody>
          <a:bodyPr wrap="square" lIns="0" tIns="0" rIns="0" bIns="0" anchor="ctr">
            <a:noAutofit/>
          </a:bodyPr>
          <a:lstStyle/>
          <a:p>
            <a:pPr algn="l"/>
            <a:r>
              <a:rPr lang="en-US" sz="4000" b="1" i="0">
                <a:solidFill>
                  <a:srgbClr val="1F4E79"/>
                </a:solidFill>
                <a:latin typeface="Raleway"/>
              </a:rPr>
              <a:t>Exercise 1: the run</a:t>
            </a:r>
          </a:p>
        </p:txBody>
      </p:sp>
      <p:sp>
        <p:nvSpPr>
          <p:cNvPr id="4" name="Code card"/>
          <p:cNvSpPr/>
          <p:nvPr/>
        </p:nvSpPr>
        <p:spPr>
          <a:xfrm>
            <a:off x="640080" y="1508760"/>
            <a:ext cx="6035040" cy="3377184"/>
          </a:xfrm>
          <a:prstGeom prst="roundRect">
            <a:avLst>
              <a:gd name="adj" fmla="val 4000"/>
            </a:avLst>
          </a:prstGeom>
          <a:solidFill>
            <a:srgbClr val="111318"/>
          </a:solidFill>
          <a:ln w="12700">
            <a:solidFill>
              <a:srgbClr val="D8DBE0"/>
            </a:solidFill>
          </a:ln>
        </p:spPr>
        <p:txBody>
          <a:bodyPr rtlCol="0" anchor="ctr"/>
          <a:lstStyle/>
          <a:p>
            <a:endParaRPr/>
          </a:p>
        </p:txBody>
      </p:sp>
      <p:sp>
        <p:nvSpPr>
          <p:cNvPr id="5" name="Code card header"/>
          <p:cNvSpPr/>
          <p:nvPr/>
        </p:nvSpPr>
        <p:spPr>
          <a:xfrm>
            <a:off x="640080" y="1508760"/>
            <a:ext cx="6035040" cy="384048"/>
          </a:xfrm>
          <a:prstGeom prst="roundRect">
            <a:avLst>
              <a:gd name="adj" fmla="val 10000"/>
            </a:avLst>
          </a:prstGeom>
          <a:solidFill>
            <a:srgbClr val="1B1E26"/>
          </a:solidFill>
          <a:ln w="12700">
            <a:solidFill>
              <a:srgbClr val="D8DBE0"/>
            </a:solidFill>
          </a:ln>
        </p:spPr>
        <p:txBody>
          <a:bodyPr rtlCol="0" anchor="ctr"/>
          <a:lstStyle/>
          <a:p>
            <a:endParaRPr/>
          </a:p>
        </p:txBody>
      </p:sp>
      <p:sp>
        <p:nvSpPr>
          <p:cNvPr id="6" name="Code card header fill"/>
          <p:cNvSpPr/>
          <p:nvPr/>
        </p:nvSpPr>
        <p:spPr>
          <a:xfrm>
            <a:off x="658368" y="1700784"/>
            <a:ext cx="5998464" cy="192024"/>
          </a:xfrm>
          <a:prstGeom prst="rect">
            <a:avLst/>
          </a:prstGeom>
          <a:solidFill>
            <a:srgbClr val="1B1E26"/>
          </a:solidFill>
          <a:ln>
            <a:noFill/>
          </a:ln>
        </p:spPr>
        <p:txBody>
          <a:bodyPr rtlCol="0" anchor="ctr"/>
          <a:lstStyle/>
          <a:p>
            <a:endParaRPr/>
          </a:p>
        </p:txBody>
      </p:sp>
      <p:sp>
        <p:nvSpPr>
          <p:cNvPr id="7" name="Oval 6"/>
          <p:cNvSpPr/>
          <p:nvPr/>
        </p:nvSpPr>
        <p:spPr>
          <a:xfrm>
            <a:off x="868680" y="1645919"/>
            <a:ext cx="118872" cy="118872"/>
          </a:xfrm>
          <a:prstGeom prst="ellipse">
            <a:avLst/>
          </a:prstGeom>
          <a:solidFill>
            <a:srgbClr val="FF6B6B"/>
          </a:solidFill>
          <a:ln>
            <a:noFill/>
          </a:ln>
        </p:spPr>
        <p:txBody>
          <a:bodyPr rtlCol="0" anchor="ctr"/>
          <a:lstStyle/>
          <a:p>
            <a:pPr algn="ctr"/>
            <a:endParaRPr/>
          </a:p>
        </p:txBody>
      </p:sp>
      <p:sp>
        <p:nvSpPr>
          <p:cNvPr id="8" name="Oval 7"/>
          <p:cNvSpPr/>
          <p:nvPr/>
        </p:nvSpPr>
        <p:spPr>
          <a:xfrm>
            <a:off x="1143000" y="1645919"/>
            <a:ext cx="118872" cy="118872"/>
          </a:xfrm>
          <a:prstGeom prst="ellipse">
            <a:avLst/>
          </a:prstGeom>
          <a:solidFill>
            <a:srgbClr val="FFD94A"/>
          </a:solidFill>
          <a:ln>
            <a:noFill/>
          </a:ln>
        </p:spPr>
        <p:txBody>
          <a:bodyPr rtlCol="0" anchor="ctr"/>
          <a:lstStyle/>
          <a:p>
            <a:pPr algn="ctr"/>
            <a:endParaRPr/>
          </a:p>
        </p:txBody>
      </p:sp>
      <p:sp>
        <p:nvSpPr>
          <p:cNvPr id="9" name="Oval 8"/>
          <p:cNvSpPr/>
          <p:nvPr/>
        </p:nvSpPr>
        <p:spPr>
          <a:xfrm>
            <a:off x="1417319" y="1645919"/>
            <a:ext cx="118872" cy="118872"/>
          </a:xfrm>
          <a:prstGeom prst="ellipse">
            <a:avLst/>
          </a:prstGeom>
          <a:solidFill>
            <a:srgbClr val="8FE3AB"/>
          </a:solidFill>
          <a:ln>
            <a:noFill/>
          </a:ln>
        </p:spPr>
        <p:txBody>
          <a:bodyPr rtlCol="0" anchor="ctr"/>
          <a:lstStyle/>
          <a:p>
            <a:pPr algn="ctr"/>
            <a:endParaRPr/>
          </a:p>
        </p:txBody>
      </p:sp>
      <p:sp>
        <p:nvSpPr>
          <p:cNvPr id="10" name="Filename"/>
          <p:cNvSpPr txBox="1"/>
          <p:nvPr/>
        </p:nvSpPr>
        <p:spPr>
          <a:xfrm>
            <a:off x="1828800" y="1508760"/>
            <a:ext cx="4663440" cy="384048"/>
          </a:xfrm>
          <a:prstGeom prst="rect">
            <a:avLst/>
          </a:prstGeom>
          <a:noFill/>
        </p:spPr>
        <p:txBody>
          <a:bodyPr wrap="square" lIns="0" tIns="0" rIns="0" bIns="0" anchor="ctr">
            <a:noAutofit/>
          </a:bodyPr>
          <a:lstStyle/>
          <a:p>
            <a:pPr algn="l"/>
            <a:r>
              <a:rPr lang="en-US" sz="1200" b="0" i="0">
                <a:solidFill>
                  <a:srgbClr val="E9EAEE"/>
                </a:solidFill>
                <a:latin typeface="Consolas"/>
              </a:rPr>
              <a:t>receipt.py</a:t>
            </a:r>
          </a:p>
        </p:txBody>
      </p:sp>
      <p:sp>
        <p:nvSpPr>
          <p:cNvPr id="11" name="Code"/>
          <p:cNvSpPr txBox="1"/>
          <p:nvPr/>
        </p:nvSpPr>
        <p:spPr>
          <a:xfrm>
            <a:off x="1005840" y="2002536"/>
            <a:ext cx="5394959" cy="2791968"/>
          </a:xfrm>
          <a:prstGeom prst="rect">
            <a:avLst/>
          </a:prstGeom>
          <a:noFill/>
        </p:spPr>
        <p:txBody>
          <a:bodyPr wrap="none" lIns="0" tIns="0" rIns="0" bIns="0" anchor="t">
            <a:noAutofit/>
          </a:bodyPr>
          <a:lstStyle/>
          <a:p>
            <a:pPr algn="l"/>
            <a:r>
              <a:rPr lang="en-US" sz="1600" b="0" i="0">
                <a:solidFill>
                  <a:srgbClr val="E9EAEE"/>
                </a:solidFill>
                <a:latin typeface="Consolas"/>
              </a:rPr>
              <a:t>item = </a:t>
            </a:r>
            <a:r>
              <a:rPr lang="en-US" sz="1600" b="0" i="0">
                <a:solidFill>
                  <a:srgbClr val="F5B759"/>
                </a:solidFill>
                <a:latin typeface="Consolas"/>
              </a:rPr>
              <a:t>input</a:t>
            </a:r>
            <a:r>
              <a:rPr lang="en-US" sz="1600" b="0" i="0">
                <a:solidFill>
                  <a:srgbClr val="E9EAEE"/>
                </a:solidFill>
                <a:latin typeface="Consolas"/>
              </a:rPr>
              <a:t>("Item: ")</a:t>
            </a:r>
          </a:p>
          <a:p>
            <a:pPr algn="l"/>
            <a:r>
              <a:rPr lang="en-US" sz="1600" b="0" i="0">
                <a:solidFill>
                  <a:srgbClr val="E9EAEE"/>
                </a:solidFill>
                <a:latin typeface="Consolas"/>
              </a:rPr>
              <a:t>quantity = </a:t>
            </a:r>
            <a:r>
              <a:rPr lang="en-US" sz="1600" b="0" i="0">
                <a:solidFill>
                  <a:srgbClr val="F5B759"/>
                </a:solidFill>
                <a:latin typeface="Consolas"/>
              </a:rPr>
              <a:t>int</a:t>
            </a:r>
            <a:r>
              <a:rPr lang="en-US" sz="1600" b="0" i="0">
                <a:solidFill>
                  <a:srgbClr val="E9EAEE"/>
                </a:solidFill>
                <a:latin typeface="Consolas"/>
              </a:rPr>
              <a:t>(</a:t>
            </a:r>
            <a:r>
              <a:rPr lang="en-US" sz="1600" b="0" i="0">
                <a:solidFill>
                  <a:srgbClr val="F5B759"/>
                </a:solidFill>
                <a:latin typeface="Consolas"/>
              </a:rPr>
              <a:t>input</a:t>
            </a:r>
            <a:r>
              <a:rPr lang="en-US" sz="1600" b="0" i="0">
                <a:solidFill>
                  <a:srgbClr val="E9EAEE"/>
                </a:solidFill>
                <a:latin typeface="Consolas"/>
              </a:rPr>
              <a:t>("Quantity: "))</a:t>
            </a:r>
          </a:p>
          <a:p>
            <a:pPr algn="l"/>
            <a:r>
              <a:rPr lang="en-US" sz="1600" b="0" i="0">
                <a:solidFill>
                  <a:srgbClr val="E9EAEE"/>
                </a:solidFill>
                <a:latin typeface="Consolas"/>
              </a:rPr>
              <a:t>price = </a:t>
            </a:r>
            <a:r>
              <a:rPr lang="en-US" sz="1600" b="0" i="0">
                <a:solidFill>
                  <a:srgbClr val="F5B759"/>
                </a:solidFill>
                <a:latin typeface="Consolas"/>
              </a:rPr>
              <a:t>float</a:t>
            </a:r>
            <a:r>
              <a:rPr lang="en-US" sz="1600" b="0" i="0">
                <a:solidFill>
                  <a:srgbClr val="E9EAEE"/>
                </a:solidFill>
                <a:latin typeface="Consolas"/>
              </a:rPr>
              <a:t>(</a:t>
            </a:r>
            <a:r>
              <a:rPr lang="en-US" sz="1600" b="0" i="0">
                <a:solidFill>
                  <a:srgbClr val="F5B759"/>
                </a:solidFill>
                <a:latin typeface="Consolas"/>
              </a:rPr>
              <a:t>input</a:t>
            </a:r>
            <a:r>
              <a:rPr lang="en-US" sz="1600" b="0" i="0">
                <a:solidFill>
                  <a:srgbClr val="E9EAEE"/>
                </a:solidFill>
                <a:latin typeface="Consolas"/>
              </a:rPr>
              <a:t>("Unit price: "))</a:t>
            </a:r>
          </a:p>
          <a:p>
            <a:pPr algn="l"/>
            <a:endParaRPr lang="en-US" sz="1600" b="0" i="0">
              <a:solidFill>
                <a:srgbClr val="E9EAEE"/>
              </a:solidFill>
              <a:latin typeface="Consolas"/>
            </a:endParaRPr>
          </a:p>
          <a:p>
            <a:pPr algn="l"/>
            <a:r>
              <a:rPr lang="en-US" sz="1600" b="0" i="0">
                <a:solidFill>
                  <a:srgbClr val="E9EAEE"/>
                </a:solidFill>
                <a:latin typeface="Consolas"/>
              </a:rPr>
              <a:t>subtotal = quantity * price</a:t>
            </a:r>
          </a:p>
          <a:p>
            <a:pPr algn="l"/>
            <a:r>
              <a:rPr lang="en-US" sz="1600" b="0" i="0">
                <a:solidFill>
                  <a:srgbClr val="E9EAEE"/>
                </a:solidFill>
                <a:latin typeface="Consolas"/>
              </a:rPr>
              <a:t>vat = subtotal * 0.18</a:t>
            </a:r>
          </a:p>
          <a:p>
            <a:pPr algn="l"/>
            <a:r>
              <a:rPr lang="en-US" sz="1600" b="0" i="0">
                <a:solidFill>
                  <a:srgbClr val="E9EAEE"/>
                </a:solidFill>
                <a:latin typeface="Consolas"/>
              </a:rPr>
              <a:t>total = subtotal + vat</a:t>
            </a:r>
          </a:p>
          <a:p>
            <a:pPr algn="l"/>
            <a:endParaRPr lang="en-US" sz="1600" b="0" i="0">
              <a:solidFill>
                <a:srgbClr val="E9EAEE"/>
              </a:solidFill>
              <a:latin typeface="Consolas"/>
            </a:endParaRPr>
          </a:p>
          <a:p>
            <a:pPr algn="l"/>
            <a:r>
              <a:rPr lang="en-US" sz="1600" b="0" i="0">
                <a:solidFill>
                  <a:srgbClr val="F5B759"/>
                </a:solidFill>
                <a:latin typeface="Consolas"/>
              </a:rPr>
              <a:t>print</a:t>
            </a:r>
            <a:r>
              <a:rPr lang="en-US" sz="1600" b="0" i="0">
                <a:solidFill>
                  <a:srgbClr val="E9EAEE"/>
                </a:solidFill>
                <a:latin typeface="Consolas"/>
              </a:rPr>
              <a:t>(f"{item} x {quantity} = {subtotal}")</a:t>
            </a:r>
          </a:p>
          <a:p>
            <a:pPr algn="l"/>
            <a:r>
              <a:rPr lang="en-US" sz="1600" b="0" i="0">
                <a:solidFill>
                  <a:srgbClr val="F5B759"/>
                </a:solidFill>
                <a:latin typeface="Consolas"/>
              </a:rPr>
              <a:t>print</a:t>
            </a:r>
            <a:r>
              <a:rPr lang="en-US" sz="1600" b="0" i="0">
                <a:solidFill>
                  <a:srgbClr val="E9EAEE"/>
                </a:solidFill>
                <a:latin typeface="Consolas"/>
              </a:rPr>
              <a:t>(f"VAT (18%): {round(vat, 2)}")</a:t>
            </a:r>
          </a:p>
          <a:p>
            <a:pPr algn="l"/>
            <a:r>
              <a:rPr lang="en-US" sz="1600" b="0" i="0">
                <a:solidFill>
                  <a:srgbClr val="F5B759"/>
                </a:solidFill>
                <a:latin typeface="Consolas"/>
              </a:rPr>
              <a:t>print</a:t>
            </a:r>
            <a:r>
              <a:rPr lang="en-US" sz="1600" b="0" i="0">
                <a:solidFill>
                  <a:srgbClr val="E9EAEE"/>
                </a:solidFill>
                <a:latin typeface="Consolas"/>
              </a:rPr>
              <a:t>(f"Total: {round(total, 2)}")</a:t>
            </a:r>
          </a:p>
        </p:txBody>
      </p:sp>
      <p:sp>
        <p:nvSpPr>
          <p:cNvPr id="12" name="Terminal"/>
          <p:cNvSpPr/>
          <p:nvPr/>
        </p:nvSpPr>
        <p:spPr>
          <a:xfrm>
            <a:off x="6949440" y="1508760"/>
            <a:ext cx="4599432" cy="2340864"/>
          </a:xfrm>
          <a:prstGeom prst="roundRect">
            <a:avLst>
              <a:gd name="adj" fmla="val 4000"/>
            </a:avLst>
          </a:prstGeom>
          <a:solidFill>
            <a:srgbClr val="111318"/>
          </a:solidFill>
          <a:ln w="12700">
            <a:solidFill>
              <a:srgbClr val="D8DBE0"/>
            </a:solidFill>
          </a:ln>
        </p:spPr>
        <p:txBody>
          <a:bodyPr rtlCol="0" anchor="ctr"/>
          <a:lstStyle/>
          <a:p>
            <a:endParaRPr/>
          </a:p>
        </p:txBody>
      </p:sp>
      <p:sp>
        <p:nvSpPr>
          <p:cNvPr id="13" name="Terminal header"/>
          <p:cNvSpPr/>
          <p:nvPr/>
        </p:nvSpPr>
        <p:spPr>
          <a:xfrm>
            <a:off x="6949440" y="1508760"/>
            <a:ext cx="4599432" cy="384048"/>
          </a:xfrm>
          <a:prstGeom prst="roundRect">
            <a:avLst>
              <a:gd name="adj" fmla="val 10000"/>
            </a:avLst>
          </a:prstGeom>
          <a:solidFill>
            <a:srgbClr val="1B1E26"/>
          </a:solidFill>
          <a:ln w="12700">
            <a:solidFill>
              <a:srgbClr val="D8DBE0"/>
            </a:solidFill>
          </a:ln>
        </p:spPr>
        <p:txBody>
          <a:bodyPr rtlCol="0" anchor="ctr"/>
          <a:lstStyle/>
          <a:p>
            <a:endParaRPr/>
          </a:p>
        </p:txBody>
      </p:sp>
      <p:sp>
        <p:nvSpPr>
          <p:cNvPr id="14" name="Terminal header fill"/>
          <p:cNvSpPr/>
          <p:nvPr/>
        </p:nvSpPr>
        <p:spPr>
          <a:xfrm>
            <a:off x="6967727" y="1700784"/>
            <a:ext cx="4562856" cy="192024"/>
          </a:xfrm>
          <a:prstGeom prst="rect">
            <a:avLst/>
          </a:prstGeom>
          <a:solidFill>
            <a:srgbClr val="1B1E26"/>
          </a:solidFill>
          <a:ln>
            <a:noFill/>
          </a:ln>
        </p:spPr>
        <p:txBody>
          <a:bodyPr rtlCol="0" anchor="ctr"/>
          <a:lstStyle/>
          <a:p>
            <a:endParaRPr/>
          </a:p>
        </p:txBody>
      </p:sp>
      <p:sp>
        <p:nvSpPr>
          <p:cNvPr id="15" name="Terminal label"/>
          <p:cNvSpPr txBox="1"/>
          <p:nvPr/>
        </p:nvSpPr>
        <p:spPr>
          <a:xfrm>
            <a:off x="7223759" y="1508760"/>
            <a:ext cx="4142232" cy="384048"/>
          </a:xfrm>
          <a:prstGeom prst="rect">
            <a:avLst/>
          </a:prstGeom>
          <a:noFill/>
        </p:spPr>
        <p:txBody>
          <a:bodyPr wrap="square" lIns="0" tIns="0" rIns="0" bIns="0" anchor="ctr">
            <a:noAutofit/>
          </a:bodyPr>
          <a:lstStyle/>
          <a:p>
            <a:pPr algn="l"/>
            <a:r>
              <a:rPr lang="en-US" sz="1200" b="0" i="0">
                <a:solidFill>
                  <a:srgbClr val="E9EAEE"/>
                </a:solidFill>
                <a:latin typeface="Consolas"/>
              </a:rPr>
              <a:t>python receipt.py</a:t>
            </a:r>
          </a:p>
        </p:txBody>
      </p:sp>
      <p:sp>
        <p:nvSpPr>
          <p:cNvPr id="16" name="Output"/>
          <p:cNvSpPr txBox="1"/>
          <p:nvPr/>
        </p:nvSpPr>
        <p:spPr>
          <a:xfrm>
            <a:off x="7223759" y="2020824"/>
            <a:ext cx="4142232" cy="1737360"/>
          </a:xfrm>
          <a:prstGeom prst="rect">
            <a:avLst/>
          </a:prstGeom>
          <a:noFill/>
        </p:spPr>
        <p:txBody>
          <a:bodyPr wrap="none" lIns="0" tIns="0" rIns="0" bIns="0" anchor="t">
            <a:noAutofit/>
          </a:bodyPr>
          <a:lstStyle/>
          <a:p>
            <a:pPr algn="l"/>
            <a:r>
              <a:rPr lang="en-US" sz="1800" b="0" i="0">
                <a:solidFill>
                  <a:srgbClr val="E9EAEE"/>
                </a:solidFill>
                <a:latin typeface="Consolas"/>
              </a:rPr>
              <a:t>Item: notebook</a:t>
            </a:r>
          </a:p>
          <a:p>
            <a:pPr algn="l"/>
            <a:r>
              <a:rPr lang="en-US" sz="1800" b="0" i="0">
                <a:solidFill>
                  <a:srgbClr val="E9EAEE"/>
                </a:solidFill>
                <a:latin typeface="Consolas"/>
              </a:rPr>
              <a:t>Quantity: 3</a:t>
            </a:r>
          </a:p>
          <a:p>
            <a:pPr algn="l"/>
            <a:r>
              <a:rPr lang="en-US" sz="1800" b="0" i="0">
                <a:solidFill>
                  <a:srgbClr val="E9EAEE"/>
                </a:solidFill>
                <a:latin typeface="Consolas"/>
              </a:rPr>
              <a:t>Unit price: 12.5</a:t>
            </a:r>
          </a:p>
          <a:p>
            <a:pPr algn="l"/>
            <a:r>
              <a:rPr lang="en-US" sz="1800" b="0" i="0">
                <a:solidFill>
                  <a:srgbClr val="E9EAEE"/>
                </a:solidFill>
                <a:latin typeface="Consolas"/>
              </a:rPr>
              <a:t>notebook x 3 = 37.5</a:t>
            </a:r>
          </a:p>
          <a:p>
            <a:pPr algn="l"/>
            <a:r>
              <a:rPr lang="en-US" sz="1800" b="0" i="0">
                <a:solidFill>
                  <a:srgbClr val="E9EAEE"/>
                </a:solidFill>
                <a:latin typeface="Consolas"/>
              </a:rPr>
              <a:t>VAT (18%): 6.75</a:t>
            </a:r>
          </a:p>
          <a:p>
            <a:pPr algn="l"/>
            <a:r>
              <a:rPr lang="en-US" sz="1800" b="0" i="0">
                <a:solidFill>
                  <a:srgbClr val="E9EAEE"/>
                </a:solidFill>
                <a:latin typeface="Consolas"/>
              </a:rPr>
              <a:t>Total: 44.25</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10 - Solution - Exercise 1, expansion: a discount">
    <p:spTree>
      <p:nvGrpSpPr>
        <p:cNvPr id="1" name=""/>
        <p:cNvGrpSpPr/>
        <p:nvPr/>
      </p:nvGrpSpPr>
      <p:grpSpPr>
        <a:xfrm>
          <a:off x="0" y="0"/>
          <a:ext cx="0" cy="0"/>
          <a:chOff x="0" y="0"/>
          <a:chExt cx="0" cy="0"/>
        </a:xfrm>
      </p:grpSpPr>
      <p:sp>
        <p:nvSpPr>
          <p:cNvPr id="2" name="Slide number"/>
          <p:cNvSpPr txBox="1"/>
          <p:nvPr/>
        </p:nvSpPr>
        <p:spPr>
          <a:xfrm>
            <a:off x="11430000" y="6446520"/>
            <a:ext cx="548640" cy="320040"/>
          </a:xfrm>
          <a:prstGeom prst="rect">
            <a:avLst/>
          </a:prstGeom>
          <a:noFill/>
        </p:spPr>
        <p:txBody>
          <a:bodyPr wrap="none" lIns="0" tIns="0" rIns="0" bIns="0" anchor="ctr">
            <a:spAutoFit/>
          </a:bodyPr>
          <a:lstStyle/>
          <a:p>
            <a:pPr algn="r"/>
            <a:fld id="{007A6A40-1A7B-4A1B-9D78-D7D11C5A8472}" type="slidenum">
              <a:rPr lang="en-US" sz="1200">
                <a:solidFill>
                  <a:srgbClr val="1B3A5C"/>
                </a:solidFill>
                <a:latin typeface="Raleway"/>
              </a:rPr>
              <a:t>12</a:t>
            </a:fld>
            <a:endParaRPr lang="en-US" sz="1200">
              <a:solidFill>
                <a:srgbClr val="1B3A5C"/>
              </a:solidFill>
              <a:latin typeface="Raleway"/>
            </a:endParaRPr>
          </a:p>
        </p:txBody>
      </p:sp>
      <p:sp>
        <p:nvSpPr>
          <p:cNvPr id="3" name="Title"/>
          <p:cNvSpPr txBox="1"/>
          <p:nvPr/>
        </p:nvSpPr>
        <p:spPr>
          <a:xfrm>
            <a:off x="640080" y="502920"/>
            <a:ext cx="11411712" cy="822960"/>
          </a:xfrm>
          <a:prstGeom prst="rect">
            <a:avLst/>
          </a:prstGeom>
          <a:noFill/>
        </p:spPr>
        <p:txBody>
          <a:bodyPr wrap="square" lIns="0" tIns="0" rIns="0" bIns="0" anchor="ctr">
            <a:noAutofit/>
          </a:bodyPr>
          <a:lstStyle/>
          <a:p>
            <a:pPr algn="l"/>
            <a:r>
              <a:rPr lang="en-US" sz="4000" b="1" i="0">
                <a:solidFill>
                  <a:srgbClr val="1F4E79"/>
                </a:solidFill>
                <a:latin typeface="Raleway"/>
              </a:rPr>
              <a:t>Exercise 1, expansion: a discount</a:t>
            </a:r>
          </a:p>
        </p:txBody>
      </p:sp>
      <p:sp>
        <p:nvSpPr>
          <p:cNvPr id="4" name="Code card"/>
          <p:cNvSpPr/>
          <p:nvPr/>
        </p:nvSpPr>
        <p:spPr>
          <a:xfrm>
            <a:off x="640080" y="1508760"/>
            <a:ext cx="6766560" cy="3986783"/>
          </a:xfrm>
          <a:prstGeom prst="roundRect">
            <a:avLst>
              <a:gd name="adj" fmla="val 4000"/>
            </a:avLst>
          </a:prstGeom>
          <a:solidFill>
            <a:srgbClr val="111318"/>
          </a:solidFill>
          <a:ln w="12700">
            <a:solidFill>
              <a:srgbClr val="D8DBE0"/>
            </a:solidFill>
          </a:ln>
        </p:spPr>
        <p:txBody>
          <a:bodyPr rtlCol="0" anchor="ctr"/>
          <a:lstStyle/>
          <a:p>
            <a:endParaRPr/>
          </a:p>
        </p:txBody>
      </p:sp>
      <p:sp>
        <p:nvSpPr>
          <p:cNvPr id="5" name="Code card header"/>
          <p:cNvSpPr/>
          <p:nvPr/>
        </p:nvSpPr>
        <p:spPr>
          <a:xfrm>
            <a:off x="640080" y="1508760"/>
            <a:ext cx="6766560" cy="384048"/>
          </a:xfrm>
          <a:prstGeom prst="roundRect">
            <a:avLst>
              <a:gd name="adj" fmla="val 10000"/>
            </a:avLst>
          </a:prstGeom>
          <a:solidFill>
            <a:srgbClr val="1B1E26"/>
          </a:solidFill>
          <a:ln w="12700">
            <a:solidFill>
              <a:srgbClr val="D8DBE0"/>
            </a:solidFill>
          </a:ln>
        </p:spPr>
        <p:txBody>
          <a:bodyPr rtlCol="0" anchor="ctr"/>
          <a:lstStyle/>
          <a:p>
            <a:endParaRPr/>
          </a:p>
        </p:txBody>
      </p:sp>
      <p:sp>
        <p:nvSpPr>
          <p:cNvPr id="6" name="Code card header fill"/>
          <p:cNvSpPr/>
          <p:nvPr/>
        </p:nvSpPr>
        <p:spPr>
          <a:xfrm>
            <a:off x="658368" y="1700784"/>
            <a:ext cx="6729984" cy="192024"/>
          </a:xfrm>
          <a:prstGeom prst="rect">
            <a:avLst/>
          </a:prstGeom>
          <a:solidFill>
            <a:srgbClr val="1B1E26"/>
          </a:solidFill>
          <a:ln>
            <a:noFill/>
          </a:ln>
        </p:spPr>
        <p:txBody>
          <a:bodyPr rtlCol="0" anchor="ctr"/>
          <a:lstStyle/>
          <a:p>
            <a:endParaRPr/>
          </a:p>
        </p:txBody>
      </p:sp>
      <p:sp>
        <p:nvSpPr>
          <p:cNvPr id="7" name="Oval 6"/>
          <p:cNvSpPr/>
          <p:nvPr/>
        </p:nvSpPr>
        <p:spPr>
          <a:xfrm>
            <a:off x="868680" y="1645919"/>
            <a:ext cx="118872" cy="118872"/>
          </a:xfrm>
          <a:prstGeom prst="ellipse">
            <a:avLst/>
          </a:prstGeom>
          <a:solidFill>
            <a:srgbClr val="FF6B6B"/>
          </a:solidFill>
          <a:ln>
            <a:noFill/>
          </a:ln>
        </p:spPr>
        <p:txBody>
          <a:bodyPr rtlCol="0" anchor="ctr"/>
          <a:lstStyle/>
          <a:p>
            <a:pPr algn="ctr"/>
            <a:endParaRPr/>
          </a:p>
        </p:txBody>
      </p:sp>
      <p:sp>
        <p:nvSpPr>
          <p:cNvPr id="8" name="Oval 7"/>
          <p:cNvSpPr/>
          <p:nvPr/>
        </p:nvSpPr>
        <p:spPr>
          <a:xfrm>
            <a:off x="1143000" y="1645919"/>
            <a:ext cx="118872" cy="118872"/>
          </a:xfrm>
          <a:prstGeom prst="ellipse">
            <a:avLst/>
          </a:prstGeom>
          <a:solidFill>
            <a:srgbClr val="FFD94A"/>
          </a:solidFill>
          <a:ln>
            <a:noFill/>
          </a:ln>
        </p:spPr>
        <p:txBody>
          <a:bodyPr rtlCol="0" anchor="ctr"/>
          <a:lstStyle/>
          <a:p>
            <a:pPr algn="ctr"/>
            <a:endParaRPr/>
          </a:p>
        </p:txBody>
      </p:sp>
      <p:sp>
        <p:nvSpPr>
          <p:cNvPr id="9" name="Oval 8"/>
          <p:cNvSpPr/>
          <p:nvPr/>
        </p:nvSpPr>
        <p:spPr>
          <a:xfrm>
            <a:off x="1417319" y="1645919"/>
            <a:ext cx="118872" cy="118872"/>
          </a:xfrm>
          <a:prstGeom prst="ellipse">
            <a:avLst/>
          </a:prstGeom>
          <a:solidFill>
            <a:srgbClr val="8FE3AB"/>
          </a:solidFill>
          <a:ln>
            <a:noFill/>
          </a:ln>
        </p:spPr>
        <p:txBody>
          <a:bodyPr rtlCol="0" anchor="ctr"/>
          <a:lstStyle/>
          <a:p>
            <a:pPr algn="ctr"/>
            <a:endParaRPr/>
          </a:p>
        </p:txBody>
      </p:sp>
      <p:sp>
        <p:nvSpPr>
          <p:cNvPr id="10" name="Filename"/>
          <p:cNvSpPr txBox="1"/>
          <p:nvPr/>
        </p:nvSpPr>
        <p:spPr>
          <a:xfrm>
            <a:off x="1828800" y="1508760"/>
            <a:ext cx="5394960" cy="384048"/>
          </a:xfrm>
          <a:prstGeom prst="rect">
            <a:avLst/>
          </a:prstGeom>
          <a:noFill/>
        </p:spPr>
        <p:txBody>
          <a:bodyPr wrap="square" lIns="0" tIns="0" rIns="0" bIns="0" anchor="ctr">
            <a:noAutofit/>
          </a:bodyPr>
          <a:lstStyle/>
          <a:p>
            <a:pPr algn="l"/>
            <a:r>
              <a:rPr lang="en-US" sz="1200" b="0" i="0">
                <a:solidFill>
                  <a:srgbClr val="E9EAEE"/>
                </a:solidFill>
                <a:latin typeface="Consolas"/>
              </a:rPr>
              <a:t>receipt_discount.py</a:t>
            </a:r>
          </a:p>
        </p:txBody>
      </p:sp>
      <p:sp>
        <p:nvSpPr>
          <p:cNvPr id="11" name="Code"/>
          <p:cNvSpPr txBox="1"/>
          <p:nvPr/>
        </p:nvSpPr>
        <p:spPr>
          <a:xfrm>
            <a:off x="1005840" y="2002536"/>
            <a:ext cx="6126480" cy="3401567"/>
          </a:xfrm>
          <a:prstGeom prst="rect">
            <a:avLst/>
          </a:prstGeom>
          <a:noFill/>
        </p:spPr>
        <p:txBody>
          <a:bodyPr wrap="none" lIns="0" tIns="0" rIns="0" bIns="0" anchor="t">
            <a:noAutofit/>
          </a:bodyPr>
          <a:lstStyle/>
          <a:p>
            <a:pPr algn="l"/>
            <a:r>
              <a:rPr lang="en-US" sz="1800" b="0" i="0">
                <a:solidFill>
                  <a:srgbClr val="E9EAEE"/>
                </a:solidFill>
                <a:latin typeface="Consolas"/>
              </a:rPr>
              <a:t>item = </a:t>
            </a:r>
            <a:r>
              <a:rPr lang="en-US" sz="1800" b="0" i="0">
                <a:solidFill>
                  <a:srgbClr val="F5B759"/>
                </a:solidFill>
                <a:latin typeface="Consolas"/>
              </a:rPr>
              <a:t>input</a:t>
            </a:r>
            <a:r>
              <a:rPr lang="en-US" sz="1800" b="0" i="0">
                <a:solidFill>
                  <a:srgbClr val="E9EAEE"/>
                </a:solidFill>
                <a:latin typeface="Consolas"/>
              </a:rPr>
              <a:t>("Item: ")</a:t>
            </a:r>
          </a:p>
          <a:p>
            <a:pPr algn="l"/>
            <a:r>
              <a:rPr lang="en-US" sz="1800" b="0" i="0">
                <a:solidFill>
                  <a:srgbClr val="E9EAEE"/>
                </a:solidFill>
                <a:latin typeface="Consolas"/>
              </a:rPr>
              <a:t>quantity = </a:t>
            </a:r>
            <a:r>
              <a:rPr lang="en-US" sz="1800" b="0" i="0">
                <a:solidFill>
                  <a:srgbClr val="F5B759"/>
                </a:solidFill>
                <a:latin typeface="Consolas"/>
              </a:rPr>
              <a:t>int</a:t>
            </a:r>
            <a:r>
              <a:rPr lang="en-US" sz="1800" b="0" i="0">
                <a:solidFill>
                  <a:srgbClr val="E9EAEE"/>
                </a:solidFill>
                <a:latin typeface="Consolas"/>
              </a:rPr>
              <a:t>(</a:t>
            </a:r>
            <a:r>
              <a:rPr lang="en-US" sz="1800" b="0" i="0">
                <a:solidFill>
                  <a:srgbClr val="F5B759"/>
                </a:solidFill>
                <a:latin typeface="Consolas"/>
              </a:rPr>
              <a:t>input</a:t>
            </a:r>
            <a:r>
              <a:rPr lang="en-US" sz="1800" b="0" i="0">
                <a:solidFill>
                  <a:srgbClr val="E9EAEE"/>
                </a:solidFill>
                <a:latin typeface="Consolas"/>
              </a:rPr>
              <a:t>("Quantity: "))</a:t>
            </a:r>
          </a:p>
          <a:p>
            <a:pPr algn="l"/>
            <a:r>
              <a:rPr lang="en-US" sz="1800" b="0" i="0">
                <a:solidFill>
                  <a:srgbClr val="E9EAEE"/>
                </a:solidFill>
                <a:latin typeface="Consolas"/>
              </a:rPr>
              <a:t>price = </a:t>
            </a:r>
            <a:r>
              <a:rPr lang="en-US" sz="1800" b="0" i="0">
                <a:solidFill>
                  <a:srgbClr val="F5B759"/>
                </a:solidFill>
                <a:latin typeface="Consolas"/>
              </a:rPr>
              <a:t>float</a:t>
            </a:r>
            <a:r>
              <a:rPr lang="en-US" sz="1800" b="0" i="0">
                <a:solidFill>
                  <a:srgbClr val="E9EAEE"/>
                </a:solidFill>
                <a:latin typeface="Consolas"/>
              </a:rPr>
              <a:t>(</a:t>
            </a:r>
            <a:r>
              <a:rPr lang="en-US" sz="1800" b="0" i="0">
                <a:solidFill>
                  <a:srgbClr val="F5B759"/>
                </a:solidFill>
                <a:latin typeface="Consolas"/>
              </a:rPr>
              <a:t>input</a:t>
            </a:r>
            <a:r>
              <a:rPr lang="en-US" sz="1800" b="0" i="0">
                <a:solidFill>
                  <a:srgbClr val="E9EAEE"/>
                </a:solidFill>
                <a:latin typeface="Consolas"/>
              </a:rPr>
              <a:t>("Unit price: "))</a:t>
            </a:r>
          </a:p>
          <a:p>
            <a:pPr algn="l"/>
            <a:r>
              <a:rPr lang="en-US" sz="1800" b="0" i="0">
                <a:solidFill>
                  <a:srgbClr val="E9EAEE"/>
                </a:solidFill>
                <a:latin typeface="Consolas"/>
              </a:rPr>
              <a:t>discount = </a:t>
            </a:r>
            <a:r>
              <a:rPr lang="en-US" sz="1800" b="0" i="0">
                <a:solidFill>
                  <a:srgbClr val="F5B759"/>
                </a:solidFill>
                <a:latin typeface="Consolas"/>
              </a:rPr>
              <a:t>float</a:t>
            </a:r>
            <a:r>
              <a:rPr lang="en-US" sz="1800" b="0" i="0">
                <a:solidFill>
                  <a:srgbClr val="E9EAEE"/>
                </a:solidFill>
                <a:latin typeface="Consolas"/>
              </a:rPr>
              <a:t>(</a:t>
            </a:r>
            <a:r>
              <a:rPr lang="en-US" sz="1800" b="0" i="0">
                <a:solidFill>
                  <a:srgbClr val="F5B759"/>
                </a:solidFill>
                <a:latin typeface="Consolas"/>
              </a:rPr>
              <a:t>input</a:t>
            </a:r>
            <a:r>
              <a:rPr lang="en-US" sz="1800" b="0" i="0">
                <a:solidFill>
                  <a:srgbClr val="E9EAEE"/>
                </a:solidFill>
                <a:latin typeface="Consolas"/>
              </a:rPr>
              <a:t>("Discount (%): "))</a:t>
            </a:r>
          </a:p>
          <a:p>
            <a:pPr algn="l"/>
            <a:r>
              <a:rPr lang="en-US" sz="1800" b="0" i="0">
                <a:solidFill>
                  <a:srgbClr val="E9EAEE"/>
                </a:solidFill>
                <a:latin typeface="Consolas"/>
              </a:rPr>
              <a:t>subtotal = quantity * price</a:t>
            </a:r>
          </a:p>
          <a:p>
            <a:pPr algn="l"/>
            <a:r>
              <a:rPr lang="en-US" sz="1800" b="0" i="0">
                <a:solidFill>
                  <a:srgbClr val="E9EAEE"/>
                </a:solidFill>
                <a:latin typeface="Consolas"/>
              </a:rPr>
              <a:t>paid = subtotal * (1 - discount / 100)</a:t>
            </a:r>
          </a:p>
          <a:p>
            <a:pPr algn="l"/>
            <a:r>
              <a:rPr lang="en-US" sz="1800" b="0" i="0">
                <a:solidFill>
                  <a:srgbClr val="E9EAEE"/>
                </a:solidFill>
                <a:latin typeface="Consolas"/>
              </a:rPr>
              <a:t>vat = paid * 0.18</a:t>
            </a:r>
          </a:p>
          <a:p>
            <a:pPr algn="l"/>
            <a:r>
              <a:rPr lang="en-US" sz="1800" b="0" i="0">
                <a:solidFill>
                  <a:srgbClr val="E9EAEE"/>
                </a:solidFill>
                <a:latin typeface="Consolas"/>
              </a:rPr>
              <a:t>total = paid + vat</a:t>
            </a:r>
          </a:p>
          <a:p>
            <a:pPr algn="l"/>
            <a:r>
              <a:rPr lang="en-US" sz="1800" b="0" i="0">
                <a:solidFill>
                  <a:srgbClr val="F5B759"/>
                </a:solidFill>
                <a:latin typeface="Consolas"/>
              </a:rPr>
              <a:t>print</a:t>
            </a:r>
            <a:r>
              <a:rPr lang="en-US" sz="1800" b="0" i="0">
                <a:solidFill>
                  <a:srgbClr val="E9EAEE"/>
                </a:solidFill>
                <a:latin typeface="Consolas"/>
              </a:rPr>
              <a:t>(f"{item} x {quantity} = {subtotal}")</a:t>
            </a:r>
          </a:p>
          <a:p>
            <a:pPr algn="l"/>
            <a:r>
              <a:rPr lang="en-US" sz="1800" b="0" i="0">
                <a:solidFill>
                  <a:srgbClr val="F5B759"/>
                </a:solidFill>
                <a:latin typeface="Consolas"/>
              </a:rPr>
              <a:t>print</a:t>
            </a:r>
            <a:r>
              <a:rPr lang="en-US" sz="1800" b="0" i="0">
                <a:solidFill>
                  <a:srgbClr val="E9EAEE"/>
                </a:solidFill>
                <a:latin typeface="Consolas"/>
              </a:rPr>
              <a:t>(f"After discount: {round(paid, 2)}")</a:t>
            </a:r>
          </a:p>
          <a:p>
            <a:pPr algn="l"/>
            <a:r>
              <a:rPr lang="en-US" sz="1800" b="0" i="0">
                <a:solidFill>
                  <a:srgbClr val="F5B759"/>
                </a:solidFill>
                <a:latin typeface="Consolas"/>
              </a:rPr>
              <a:t>print</a:t>
            </a:r>
            <a:r>
              <a:rPr lang="en-US" sz="1800" b="0" i="0">
                <a:solidFill>
                  <a:srgbClr val="E9EAEE"/>
                </a:solidFill>
                <a:latin typeface="Consolas"/>
              </a:rPr>
              <a:t>(f"VAT (18%): {round(vat, 2)}")</a:t>
            </a:r>
          </a:p>
          <a:p>
            <a:pPr algn="l"/>
            <a:r>
              <a:rPr lang="en-US" sz="1800" b="0" i="0">
                <a:solidFill>
                  <a:srgbClr val="F5B759"/>
                </a:solidFill>
                <a:latin typeface="Consolas"/>
              </a:rPr>
              <a:t>print</a:t>
            </a:r>
            <a:r>
              <a:rPr lang="en-US" sz="1800" b="0" i="0">
                <a:solidFill>
                  <a:srgbClr val="E9EAEE"/>
                </a:solidFill>
                <a:latin typeface="Consolas"/>
              </a:rPr>
              <a:t>(f"Total: {round(total, 2)}")</a:t>
            </a:r>
          </a:p>
        </p:txBody>
      </p:sp>
      <p:sp>
        <p:nvSpPr>
          <p:cNvPr id="12" name="Panel"/>
          <p:cNvSpPr/>
          <p:nvPr/>
        </p:nvSpPr>
        <p:spPr>
          <a:xfrm>
            <a:off x="7772400" y="1508760"/>
            <a:ext cx="3776472" cy="3987545"/>
          </a:xfrm>
          <a:prstGeom prst="roundRect">
            <a:avLst>
              <a:gd name="adj" fmla="val 6000"/>
            </a:avLst>
          </a:prstGeom>
          <a:solidFill>
            <a:srgbClr val="F2F3F5"/>
          </a:solidFill>
          <a:ln w="12700">
            <a:solidFill>
              <a:srgbClr val="D8DBE0"/>
            </a:solidFill>
          </a:ln>
        </p:spPr>
        <p:txBody>
          <a:bodyPr rtlCol="0" anchor="ctr"/>
          <a:lstStyle/>
          <a:p>
            <a:endParaRPr/>
          </a:p>
        </p:txBody>
      </p:sp>
      <p:sp>
        <p:nvSpPr>
          <p:cNvPr id="13" name="Panel text"/>
          <p:cNvSpPr txBox="1"/>
          <p:nvPr/>
        </p:nvSpPr>
        <p:spPr>
          <a:xfrm>
            <a:off x="7909560" y="1618488"/>
            <a:ext cx="3502152" cy="3768089"/>
          </a:xfrm>
          <a:prstGeom prst="rect">
            <a:avLst/>
          </a:prstGeom>
          <a:noFill/>
        </p:spPr>
        <p:txBody>
          <a:bodyPr wrap="square" lIns="0" tIns="0" rIns="0" bIns="0" anchor="t">
            <a:noAutofit/>
          </a:bodyPr>
          <a:lstStyle/>
          <a:p>
            <a:pPr algn="l">
              <a:spcAft>
                <a:spcPts val="600"/>
              </a:spcAft>
            </a:pPr>
            <a:r>
              <a:rPr lang="en-US" sz="2200" b="0" i="0">
                <a:solidFill>
                  <a:srgbClr val="A64B00"/>
                </a:solidFill>
                <a:latin typeface="Raleway"/>
              </a:rPr>
              <a:t>What changed</a:t>
            </a:r>
          </a:p>
          <a:p>
            <a:pPr marL="201168" indent="-201168" algn="l">
              <a:spcAft>
                <a:spcPts val="600"/>
              </a:spcAft>
              <a:buSzPct val="65000"/>
              <a:buFont typeface="Arial" panose="020B0604020202020204" pitchFamily="34" charset="0"/>
              <a:buChar char="•"/>
            </a:pPr>
            <a:r>
              <a:rPr lang="en-US" sz="1800" b="0" i="0">
                <a:solidFill>
                  <a:srgbClr val="A64B00"/>
                </a:solidFill>
                <a:latin typeface="Raleway"/>
              </a:rPr>
              <a:t>One more input:</a:t>
            </a:r>
            <a:r>
              <a:rPr lang="en-US" sz="1800" b="0" i="0">
                <a:solidFill>
                  <a:srgbClr val="1D2433"/>
                </a:solidFill>
                <a:latin typeface="Raleway"/>
              </a:rPr>
              <a:t> the discount, as a percentage</a:t>
            </a:r>
          </a:p>
          <a:p>
            <a:pPr marL="201168" indent="-201168" algn="l">
              <a:spcAft>
                <a:spcPts val="600"/>
              </a:spcAft>
              <a:buSzPct val="65000"/>
              <a:buFont typeface="Arial" panose="020B0604020202020204" pitchFamily="34" charset="0"/>
              <a:buChar char="•"/>
            </a:pPr>
            <a:r>
              <a:rPr lang="en-US" sz="1800" b="0" i="0">
                <a:solidFill>
                  <a:srgbClr val="A64B00"/>
                </a:solidFill>
                <a:latin typeface="Raleway"/>
              </a:rPr>
              <a:t>One more line:</a:t>
            </a:r>
            <a:r>
              <a:rPr lang="en-US" sz="1800" b="0" i="0">
                <a:solidFill>
                  <a:srgbClr val="1D2433"/>
                </a:solidFill>
                <a:latin typeface="Raleway"/>
              </a:rPr>
              <a:t> </a:t>
            </a:r>
            <a:r>
              <a:rPr lang="en-US" sz="1800" b="0" i="0">
                <a:solidFill>
                  <a:srgbClr val="1D2433"/>
                </a:solidFill>
                <a:latin typeface="Consolas"/>
              </a:rPr>
              <a:t>1 - discount / 100</a:t>
            </a:r>
            <a:r>
              <a:rPr lang="en-US" sz="1800" b="0" i="0">
                <a:solidFill>
                  <a:srgbClr val="1D2433"/>
                </a:solidFill>
                <a:latin typeface="Raleway"/>
              </a:rPr>
              <a:t> is the part the customer pays</a:t>
            </a:r>
          </a:p>
          <a:p>
            <a:pPr marL="201168" indent="-201168" algn="l">
              <a:spcAft>
                <a:spcPts val="600"/>
              </a:spcAft>
              <a:buSzPct val="65000"/>
              <a:buFont typeface="Arial" panose="020B0604020202020204" pitchFamily="34" charset="0"/>
              <a:buChar char="•"/>
            </a:pPr>
            <a:r>
              <a:rPr lang="en-US" sz="1800" b="0" i="0">
                <a:solidFill>
                  <a:srgbClr val="A64B00"/>
                </a:solidFill>
                <a:latin typeface="Raleway"/>
              </a:rPr>
              <a:t>Order matters:</a:t>
            </a:r>
            <a:r>
              <a:rPr lang="en-US" sz="1800" b="0" i="0">
                <a:solidFill>
                  <a:srgbClr val="1D2433"/>
                </a:solidFill>
                <a:latin typeface="Raleway"/>
              </a:rPr>
              <a:t> the discount first, then VAT on the reduced price</a:t>
            </a:r>
          </a:p>
          <a:p>
            <a:pPr marL="201168" indent="-201168" algn="l">
              <a:spcAft>
                <a:spcPts val="600"/>
              </a:spcAft>
              <a:buSzPct val="65000"/>
              <a:buFont typeface="Arial" panose="020B0604020202020204" pitchFamily="34" charset="0"/>
              <a:buChar char="•"/>
            </a:pPr>
            <a:r>
              <a:rPr lang="en-US" sz="1800" b="0" i="0">
                <a:solidFill>
                  <a:srgbClr val="A64B00"/>
                </a:solidFill>
                <a:latin typeface="Raleway"/>
              </a:rPr>
              <a:t>Try it:</a:t>
            </a:r>
            <a:r>
              <a:rPr lang="en-US" sz="1800" b="0" i="0">
                <a:solidFill>
                  <a:srgbClr val="1D2433"/>
                </a:solidFill>
                <a:latin typeface="Raleway"/>
              </a:rPr>
              <a:t> notebook, 3, 12.5, 10 gives 33.75, 6.08 and 39.83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11 - Exercise - Exercise 2: Seconds to h:m:s">
    <p:spTree>
      <p:nvGrpSpPr>
        <p:cNvPr id="1" name=""/>
        <p:cNvGrpSpPr/>
        <p:nvPr/>
      </p:nvGrpSpPr>
      <p:grpSpPr>
        <a:xfrm>
          <a:off x="0" y="0"/>
          <a:ext cx="0" cy="0"/>
          <a:chOff x="0" y="0"/>
          <a:chExt cx="0" cy="0"/>
        </a:xfrm>
      </p:grpSpPr>
      <p:sp>
        <p:nvSpPr>
          <p:cNvPr id="2" name="Slide number"/>
          <p:cNvSpPr txBox="1"/>
          <p:nvPr/>
        </p:nvSpPr>
        <p:spPr>
          <a:xfrm>
            <a:off x="11430000" y="6446520"/>
            <a:ext cx="548640" cy="320040"/>
          </a:xfrm>
          <a:prstGeom prst="rect">
            <a:avLst/>
          </a:prstGeom>
          <a:noFill/>
        </p:spPr>
        <p:txBody>
          <a:bodyPr wrap="none" lIns="0" tIns="0" rIns="0" bIns="0" anchor="ctr">
            <a:spAutoFit/>
          </a:bodyPr>
          <a:lstStyle/>
          <a:p>
            <a:pPr algn="r"/>
            <a:fld id="{007A6A40-1A7B-4A1B-9D78-D7D11C5A8472}" type="slidenum">
              <a:rPr lang="en-US" sz="1200">
                <a:solidFill>
                  <a:srgbClr val="1B3A5C"/>
                </a:solidFill>
                <a:latin typeface="Raleway"/>
              </a:rPr>
              <a:t>13</a:t>
            </a:fld>
            <a:endParaRPr lang="en-US" sz="1200">
              <a:solidFill>
                <a:srgbClr val="1B3A5C"/>
              </a:solidFill>
              <a:latin typeface="Raleway"/>
            </a:endParaRPr>
          </a:p>
        </p:txBody>
      </p:sp>
      <p:sp>
        <p:nvSpPr>
          <p:cNvPr id="3" name="Title"/>
          <p:cNvSpPr txBox="1"/>
          <p:nvPr/>
        </p:nvSpPr>
        <p:spPr>
          <a:xfrm>
            <a:off x="640080" y="502920"/>
            <a:ext cx="11411712" cy="822960"/>
          </a:xfrm>
          <a:prstGeom prst="rect">
            <a:avLst/>
          </a:prstGeom>
          <a:noFill/>
        </p:spPr>
        <p:txBody>
          <a:bodyPr wrap="square" lIns="0" tIns="0" rIns="0" bIns="0" anchor="ctr">
            <a:noAutofit/>
          </a:bodyPr>
          <a:lstStyle/>
          <a:p>
            <a:pPr algn="l"/>
            <a:r>
              <a:rPr lang="en-US" sz="4000" b="1" i="0">
                <a:solidFill>
                  <a:srgbClr val="1F4E79"/>
                </a:solidFill>
                <a:latin typeface="Raleway"/>
              </a:rPr>
              <a:t>Exercise 2: Seconds to h:m:s</a:t>
            </a:r>
          </a:p>
        </p:txBody>
      </p:sp>
      <p:sp>
        <p:nvSpPr>
          <p:cNvPr id="4" name="Strip Warm-up"/>
          <p:cNvSpPr/>
          <p:nvPr/>
        </p:nvSpPr>
        <p:spPr>
          <a:xfrm>
            <a:off x="640080" y="1389888"/>
            <a:ext cx="928116"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Warm-up</a:t>
            </a:r>
          </a:p>
        </p:txBody>
      </p:sp>
      <p:sp>
        <p:nvSpPr>
          <p:cNvPr id="5" name="Strip Receipt &amp; time"/>
          <p:cNvSpPr/>
          <p:nvPr/>
        </p:nvSpPr>
        <p:spPr>
          <a:xfrm>
            <a:off x="1677924" y="1389888"/>
            <a:ext cx="1472184" cy="310896"/>
          </a:xfrm>
          <a:prstGeom prst="roundRect">
            <a:avLst>
              <a:gd name="adj" fmla="val 50000"/>
            </a:avLst>
          </a:prstGeom>
          <a:solidFill>
            <a:srgbClr val="A64B00"/>
          </a:solidFill>
          <a:ln w="12700">
            <a:solidFill>
              <a:srgbClr val="A64B00"/>
            </a:solidFill>
          </a:ln>
        </p:spPr>
        <p:txBody>
          <a:bodyPr lIns="45720" tIns="0" rIns="45720" bIns="0" rtlCol="0" anchor="ctr"/>
          <a:lstStyle/>
          <a:p>
            <a:pPr algn="ctr"/>
            <a:r>
              <a:rPr lang="en-US" sz="1100" b="0" i="0">
                <a:solidFill>
                  <a:srgbClr val="FFFFFF"/>
                </a:solidFill>
                <a:latin typeface="Raleway"/>
              </a:rPr>
              <a:t>Receipt &amp; time</a:t>
            </a:r>
          </a:p>
        </p:txBody>
      </p:sp>
      <p:sp>
        <p:nvSpPr>
          <p:cNvPr id="6" name="Strip Bugs"/>
          <p:cNvSpPr/>
          <p:nvPr/>
        </p:nvSpPr>
        <p:spPr>
          <a:xfrm>
            <a:off x="3259836" y="1389888"/>
            <a:ext cx="694944"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Bugs</a:t>
            </a:r>
          </a:p>
        </p:txBody>
      </p:sp>
      <p:sp>
        <p:nvSpPr>
          <p:cNvPr id="7" name="Strip Booleans"/>
          <p:cNvSpPr/>
          <p:nvPr/>
        </p:nvSpPr>
        <p:spPr>
          <a:xfrm>
            <a:off x="4064508" y="1389888"/>
            <a:ext cx="1005840"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Booleans</a:t>
            </a:r>
          </a:p>
        </p:txBody>
      </p:sp>
      <p:sp>
        <p:nvSpPr>
          <p:cNvPr id="8" name="Strip Randomness"/>
          <p:cNvSpPr/>
          <p:nvPr/>
        </p:nvSpPr>
        <p:spPr>
          <a:xfrm>
            <a:off x="5180076" y="1389888"/>
            <a:ext cx="1161288"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Randomness</a:t>
            </a:r>
          </a:p>
        </p:txBody>
      </p:sp>
      <p:sp>
        <p:nvSpPr>
          <p:cNvPr id="9" name="Strip Extra"/>
          <p:cNvSpPr/>
          <p:nvPr/>
        </p:nvSpPr>
        <p:spPr>
          <a:xfrm>
            <a:off x="6451092" y="1389888"/>
            <a:ext cx="772668"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Extra</a:t>
            </a:r>
          </a:p>
        </p:txBody>
      </p:sp>
      <p:sp>
        <p:nvSpPr>
          <p:cNvPr id="10" name="Strip Wrap-up"/>
          <p:cNvSpPr/>
          <p:nvPr/>
        </p:nvSpPr>
        <p:spPr>
          <a:xfrm>
            <a:off x="7333488" y="1389888"/>
            <a:ext cx="928116"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Wrap-up</a:t>
            </a:r>
          </a:p>
        </p:txBody>
      </p:sp>
      <p:sp>
        <p:nvSpPr>
          <p:cNvPr id="11" name="Level"/>
          <p:cNvSpPr/>
          <p:nvPr/>
        </p:nvSpPr>
        <p:spPr>
          <a:xfrm>
            <a:off x="9400032" y="1362456"/>
            <a:ext cx="2651760" cy="365760"/>
          </a:xfrm>
          <a:prstGeom prst="roundRect">
            <a:avLst>
              <a:gd name="adj" fmla="val 50000"/>
            </a:avLst>
          </a:prstGeom>
          <a:solidFill>
            <a:srgbClr val="F2F3F5"/>
          </a:solidFill>
          <a:ln w="12700">
            <a:solidFill>
              <a:srgbClr val="1B3A5C"/>
            </a:solidFill>
          </a:ln>
        </p:spPr>
        <p:txBody>
          <a:bodyPr lIns="73152" tIns="0" rIns="73152" bIns="0" rtlCol="0" anchor="ctr"/>
          <a:lstStyle/>
          <a:p>
            <a:pPr algn="ctr"/>
            <a:r>
              <a:rPr lang="en-US" sz="1200" b="0" i="0" spc="100">
                <a:solidFill>
                  <a:srgbClr val="1B3A5C"/>
                </a:solidFill>
                <a:latin typeface="Raleway"/>
              </a:rPr>
              <a:t>EASY · 8 MIN ON YOUR OWN</a:t>
            </a:r>
          </a:p>
        </p:txBody>
      </p:sp>
      <p:sp>
        <p:nvSpPr>
          <p:cNvPr id="12" name="Lead"/>
          <p:cNvSpPr txBox="1"/>
          <p:nvPr/>
        </p:nvSpPr>
        <p:spPr>
          <a:xfrm>
            <a:off x="640080" y="1965960"/>
            <a:ext cx="6035040" cy="914400"/>
          </a:xfrm>
          <a:prstGeom prst="rect">
            <a:avLst/>
          </a:prstGeom>
          <a:noFill/>
        </p:spPr>
        <p:txBody>
          <a:bodyPr wrap="square" lIns="0" tIns="0" rIns="0" bIns="0" anchor="t">
            <a:noAutofit/>
          </a:bodyPr>
          <a:lstStyle/>
          <a:p>
            <a:pPr algn="l">
              <a:lnSpc>
                <a:spcPct val="110000"/>
              </a:lnSpc>
            </a:pPr>
            <a:r>
              <a:rPr lang="en-US" sz="2400" b="0" i="0">
                <a:solidFill>
                  <a:srgbClr val="A64B00"/>
                </a:solidFill>
                <a:latin typeface="Raleway"/>
              </a:rPr>
              <a:t>Task: read a number of seconds and print it as hours, minutes and seconds.</a:t>
            </a:r>
          </a:p>
        </p:txBody>
      </p:sp>
      <p:sp>
        <p:nvSpPr>
          <p:cNvPr id="13" name="Task bullets"/>
          <p:cNvSpPr txBox="1"/>
          <p:nvPr/>
        </p:nvSpPr>
        <p:spPr>
          <a:xfrm>
            <a:off x="640080" y="2971800"/>
            <a:ext cx="6035040" cy="3200400"/>
          </a:xfrm>
          <a:prstGeom prst="rect">
            <a:avLst/>
          </a:prstGeom>
          <a:noFill/>
        </p:spPr>
        <p:txBody>
          <a:bodyPr wrap="square" lIns="0" tIns="0" rIns="0" bIns="0" anchor="t">
            <a:noAutofit/>
          </a:bodyPr>
          <a:lstStyle/>
          <a:p>
            <a:pPr marL="274320" indent="-274320" algn="l">
              <a:lnSpc>
                <a:spcPct val="114999"/>
              </a:lnSpc>
              <a:spcAft>
                <a:spcPts val="800"/>
              </a:spcAft>
              <a:buClr>
                <a:srgbClr val="A64B00"/>
              </a:buClr>
              <a:buSzPct val="65000"/>
              <a:buFont typeface="Arial" panose="020B0604020202020204" pitchFamily="34" charset="0"/>
              <a:buChar char="•"/>
            </a:pPr>
            <a:r>
              <a:rPr lang="en-US" sz="2200" b="0" i="0">
                <a:solidFill>
                  <a:srgbClr val="1D2433"/>
                </a:solidFill>
                <a:latin typeface="Raleway"/>
              </a:rPr>
              <a:t>3725 seconds is 1 hour, 2 minutes and 5 seconds</a:t>
            </a:r>
          </a:p>
          <a:p>
            <a:pPr marL="274320" indent="-274320" algn="l">
              <a:lnSpc>
                <a:spcPct val="114999"/>
              </a:lnSpc>
              <a:spcAft>
                <a:spcPts val="800"/>
              </a:spcAft>
              <a:buClr>
                <a:srgbClr val="A64B00"/>
              </a:buClr>
              <a:buSzPct val="65000"/>
              <a:buFont typeface="Arial" panose="020B0604020202020204" pitchFamily="34" charset="0"/>
              <a:buChar char="•"/>
            </a:pPr>
            <a:r>
              <a:rPr lang="en-US" sz="2200" b="0" i="0">
                <a:solidFill>
                  <a:srgbClr val="1D2433"/>
                </a:solidFill>
                <a:latin typeface="Raleway"/>
              </a:rPr>
              <a:t>Use only whole numbers: no decimal point anywhere in the output</a:t>
            </a:r>
          </a:p>
          <a:p>
            <a:pPr marL="274320" indent="-274320" algn="l">
              <a:lnSpc>
                <a:spcPct val="114999"/>
              </a:lnSpc>
              <a:spcAft>
                <a:spcPts val="800"/>
              </a:spcAft>
              <a:buClr>
                <a:srgbClr val="A64B00"/>
              </a:buClr>
              <a:buSzPct val="65000"/>
              <a:buFont typeface="Arial" panose="020B0604020202020204" pitchFamily="34" charset="0"/>
              <a:buChar char="•"/>
            </a:pPr>
            <a:r>
              <a:rPr lang="en-US" sz="2200" b="0" i="0">
                <a:solidFill>
                  <a:srgbClr val="1D2433"/>
                </a:solidFill>
                <a:latin typeface="Raleway"/>
              </a:rPr>
              <a:t>Two operators do all the work - which two?</a:t>
            </a:r>
          </a:p>
        </p:txBody>
      </p:sp>
      <p:sp>
        <p:nvSpPr>
          <p:cNvPr id="14" name="Terminal"/>
          <p:cNvSpPr/>
          <p:nvPr/>
        </p:nvSpPr>
        <p:spPr>
          <a:xfrm>
            <a:off x="7040880" y="1965960"/>
            <a:ext cx="4507992" cy="1792224"/>
          </a:xfrm>
          <a:prstGeom prst="roundRect">
            <a:avLst>
              <a:gd name="adj" fmla="val 4000"/>
            </a:avLst>
          </a:prstGeom>
          <a:solidFill>
            <a:srgbClr val="111318"/>
          </a:solidFill>
          <a:ln w="12700">
            <a:solidFill>
              <a:srgbClr val="D8DBE0"/>
            </a:solidFill>
          </a:ln>
        </p:spPr>
        <p:txBody>
          <a:bodyPr rtlCol="0" anchor="ctr"/>
          <a:lstStyle/>
          <a:p>
            <a:endParaRPr/>
          </a:p>
        </p:txBody>
      </p:sp>
      <p:sp>
        <p:nvSpPr>
          <p:cNvPr id="15" name="Terminal header"/>
          <p:cNvSpPr/>
          <p:nvPr/>
        </p:nvSpPr>
        <p:spPr>
          <a:xfrm>
            <a:off x="7040880" y="1965960"/>
            <a:ext cx="4507992" cy="384048"/>
          </a:xfrm>
          <a:prstGeom prst="roundRect">
            <a:avLst>
              <a:gd name="adj" fmla="val 10000"/>
            </a:avLst>
          </a:prstGeom>
          <a:solidFill>
            <a:srgbClr val="1B1E26"/>
          </a:solidFill>
          <a:ln w="12700">
            <a:solidFill>
              <a:srgbClr val="D8DBE0"/>
            </a:solidFill>
          </a:ln>
        </p:spPr>
        <p:txBody>
          <a:bodyPr rtlCol="0" anchor="ctr"/>
          <a:lstStyle/>
          <a:p>
            <a:endParaRPr/>
          </a:p>
        </p:txBody>
      </p:sp>
      <p:sp>
        <p:nvSpPr>
          <p:cNvPr id="16" name="Terminal header fill"/>
          <p:cNvSpPr/>
          <p:nvPr/>
        </p:nvSpPr>
        <p:spPr>
          <a:xfrm>
            <a:off x="7059168" y="2157984"/>
            <a:ext cx="4471416" cy="192024"/>
          </a:xfrm>
          <a:prstGeom prst="rect">
            <a:avLst/>
          </a:prstGeom>
          <a:solidFill>
            <a:srgbClr val="1B1E26"/>
          </a:solidFill>
          <a:ln>
            <a:noFill/>
          </a:ln>
        </p:spPr>
        <p:txBody>
          <a:bodyPr rtlCol="0" anchor="ctr"/>
          <a:lstStyle/>
          <a:p>
            <a:endParaRPr/>
          </a:p>
        </p:txBody>
      </p:sp>
      <p:sp>
        <p:nvSpPr>
          <p:cNvPr id="17" name="Terminal label"/>
          <p:cNvSpPr txBox="1"/>
          <p:nvPr/>
        </p:nvSpPr>
        <p:spPr>
          <a:xfrm>
            <a:off x="7315200" y="1965960"/>
            <a:ext cx="4050792" cy="384048"/>
          </a:xfrm>
          <a:prstGeom prst="rect">
            <a:avLst/>
          </a:prstGeom>
          <a:noFill/>
        </p:spPr>
        <p:txBody>
          <a:bodyPr wrap="square" lIns="0" tIns="0" rIns="0" bIns="0" anchor="ctr">
            <a:noAutofit/>
          </a:bodyPr>
          <a:lstStyle/>
          <a:p>
            <a:pPr algn="l"/>
            <a:r>
              <a:rPr lang="en-US" sz="1200" b="0" i="0">
                <a:solidFill>
                  <a:srgbClr val="E9EAEE"/>
                </a:solidFill>
                <a:latin typeface="Consolas"/>
              </a:rPr>
              <a:t>terminal</a:t>
            </a:r>
          </a:p>
        </p:txBody>
      </p:sp>
      <p:sp>
        <p:nvSpPr>
          <p:cNvPr id="18" name="Output"/>
          <p:cNvSpPr txBox="1"/>
          <p:nvPr/>
        </p:nvSpPr>
        <p:spPr>
          <a:xfrm>
            <a:off x="7315200" y="2478024"/>
            <a:ext cx="4050792" cy="1188719"/>
          </a:xfrm>
          <a:prstGeom prst="rect">
            <a:avLst/>
          </a:prstGeom>
          <a:noFill/>
        </p:spPr>
        <p:txBody>
          <a:bodyPr wrap="none" lIns="0" tIns="0" rIns="0" bIns="0" anchor="t">
            <a:noAutofit/>
          </a:bodyPr>
          <a:lstStyle/>
          <a:p>
            <a:pPr algn="l"/>
            <a:r>
              <a:rPr lang="en-US" sz="1800" b="0" i="0">
                <a:solidFill>
                  <a:srgbClr val="E9EAEE"/>
                </a:solidFill>
                <a:latin typeface="Consolas"/>
              </a:rPr>
              <a:t>Seconds: 3725</a:t>
            </a:r>
          </a:p>
          <a:p>
            <a:pPr algn="l"/>
            <a:r>
              <a:rPr lang="en-US" sz="1800" b="0" i="0">
                <a:solidFill>
                  <a:srgbClr val="E9EAEE"/>
                </a:solidFill>
                <a:latin typeface="Consolas"/>
              </a:rPr>
              <a:t>1 hours</a:t>
            </a:r>
          </a:p>
          <a:p>
            <a:pPr algn="l"/>
            <a:r>
              <a:rPr lang="en-US" sz="1800" b="0" i="0">
                <a:solidFill>
                  <a:srgbClr val="E9EAEE"/>
                </a:solidFill>
                <a:latin typeface="Consolas"/>
              </a:rPr>
              <a:t>2 minutes</a:t>
            </a:r>
          </a:p>
          <a:p>
            <a:pPr algn="l"/>
            <a:r>
              <a:rPr lang="en-US" sz="1800" b="0" i="0">
                <a:solidFill>
                  <a:srgbClr val="E9EAEE"/>
                </a:solidFill>
                <a:latin typeface="Consolas"/>
              </a:rPr>
              <a:t>5 seconds</a:t>
            </a:r>
          </a:p>
        </p:txBody>
      </p:sp>
      <p:sp>
        <p:nvSpPr>
          <p:cNvPr id="19" name="Panel"/>
          <p:cNvSpPr/>
          <p:nvPr/>
        </p:nvSpPr>
        <p:spPr>
          <a:xfrm>
            <a:off x="7040880" y="3986783"/>
            <a:ext cx="4507992" cy="2306574"/>
          </a:xfrm>
          <a:prstGeom prst="roundRect">
            <a:avLst>
              <a:gd name="adj" fmla="val 6000"/>
            </a:avLst>
          </a:prstGeom>
          <a:solidFill>
            <a:srgbClr val="F2F3F5"/>
          </a:solidFill>
          <a:ln w="12700">
            <a:solidFill>
              <a:srgbClr val="D8DBE0"/>
            </a:solidFill>
          </a:ln>
        </p:spPr>
        <p:txBody>
          <a:bodyPr rtlCol="0" anchor="ctr"/>
          <a:lstStyle/>
          <a:p>
            <a:endParaRPr/>
          </a:p>
        </p:txBody>
      </p:sp>
      <p:sp>
        <p:nvSpPr>
          <p:cNvPr id="20" name="Panel text"/>
          <p:cNvSpPr txBox="1"/>
          <p:nvPr/>
        </p:nvSpPr>
        <p:spPr>
          <a:xfrm>
            <a:off x="7178040" y="4096511"/>
            <a:ext cx="4233672" cy="2087117"/>
          </a:xfrm>
          <a:prstGeom prst="rect">
            <a:avLst/>
          </a:prstGeom>
          <a:noFill/>
        </p:spPr>
        <p:txBody>
          <a:bodyPr wrap="square" lIns="0" tIns="0" rIns="0" bIns="0" anchor="t">
            <a:noAutofit/>
          </a:bodyPr>
          <a:lstStyle/>
          <a:p>
            <a:pPr algn="l">
              <a:spcAft>
                <a:spcPts val="600"/>
              </a:spcAft>
            </a:pPr>
            <a:r>
              <a:rPr lang="en-US" sz="2200" b="0" i="0">
                <a:solidFill>
                  <a:srgbClr val="A64B00"/>
                </a:solidFill>
                <a:latin typeface="Raleway"/>
              </a:rPr>
              <a:t>Think about</a:t>
            </a:r>
          </a:p>
          <a:p>
            <a:pPr marL="201168" indent="-201168" algn="l">
              <a:spcAft>
                <a:spcPts val="600"/>
              </a:spcAft>
              <a:buSzPct val="65000"/>
              <a:buFont typeface="Arial" panose="020B0604020202020204" pitchFamily="34" charset="0"/>
              <a:buChar char="•"/>
            </a:pPr>
            <a:r>
              <a:rPr lang="en-US" sz="1800" b="0" i="0">
                <a:solidFill>
                  <a:srgbClr val="1D2433"/>
                </a:solidFill>
                <a:latin typeface="Consolas"/>
              </a:rPr>
              <a:t>//</a:t>
            </a:r>
            <a:r>
              <a:rPr lang="en-US" sz="1800" b="0" i="0">
                <a:solidFill>
                  <a:srgbClr val="1D2433"/>
                </a:solidFill>
                <a:latin typeface="Raleway"/>
              </a:rPr>
              <a:t> answers 'how many whole units fit?'</a:t>
            </a:r>
          </a:p>
          <a:p>
            <a:pPr marL="201168" indent="-201168" algn="l">
              <a:spcAft>
                <a:spcPts val="600"/>
              </a:spcAft>
              <a:buSzPct val="65000"/>
              <a:buFont typeface="Arial" panose="020B0604020202020204" pitchFamily="34" charset="0"/>
              <a:buChar char="•"/>
            </a:pPr>
            <a:r>
              <a:rPr lang="en-US" sz="1800" b="0" i="0">
                <a:solidFill>
                  <a:srgbClr val="1D2433"/>
                </a:solidFill>
                <a:latin typeface="Consolas"/>
              </a:rPr>
              <a:t>%</a:t>
            </a:r>
            <a:r>
              <a:rPr lang="en-US" sz="1800" b="0" i="0">
                <a:solidFill>
                  <a:srgbClr val="1D2433"/>
                </a:solidFill>
                <a:latin typeface="Raleway"/>
              </a:rPr>
              <a:t> answers 'what is left over?'</a:t>
            </a:r>
          </a:p>
          <a:p>
            <a:pPr marL="201168" indent="-201168" algn="l">
              <a:spcAft>
                <a:spcPts val="600"/>
              </a:spcAft>
              <a:buSzPct val="65000"/>
              <a:buFont typeface="Arial" panose="020B0604020202020204" pitchFamily="34" charset="0"/>
              <a:buChar char="•"/>
            </a:pPr>
            <a:r>
              <a:rPr lang="en-US" sz="1800" b="0" i="0">
                <a:solidFill>
                  <a:srgbClr val="1D2433"/>
                </a:solidFill>
                <a:latin typeface="Raleway"/>
              </a:rPr>
              <a:t>An hour is 3600 seconds, a minute is 60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12 - Idea - The idea: peel off the units">
    <p:spTree>
      <p:nvGrpSpPr>
        <p:cNvPr id="1" name=""/>
        <p:cNvGrpSpPr/>
        <p:nvPr/>
      </p:nvGrpSpPr>
      <p:grpSpPr>
        <a:xfrm>
          <a:off x="0" y="0"/>
          <a:ext cx="0" cy="0"/>
          <a:chOff x="0" y="0"/>
          <a:chExt cx="0" cy="0"/>
        </a:xfrm>
      </p:grpSpPr>
      <p:sp>
        <p:nvSpPr>
          <p:cNvPr id="2" name="Slide number"/>
          <p:cNvSpPr txBox="1"/>
          <p:nvPr/>
        </p:nvSpPr>
        <p:spPr>
          <a:xfrm>
            <a:off x="11430000" y="6446520"/>
            <a:ext cx="548640" cy="320040"/>
          </a:xfrm>
          <a:prstGeom prst="rect">
            <a:avLst/>
          </a:prstGeom>
          <a:noFill/>
        </p:spPr>
        <p:txBody>
          <a:bodyPr wrap="none" lIns="0" tIns="0" rIns="0" bIns="0" anchor="ctr">
            <a:spAutoFit/>
          </a:bodyPr>
          <a:lstStyle/>
          <a:p>
            <a:pPr algn="r"/>
            <a:fld id="{007A6A40-1A7B-4A1B-9D78-D7D11C5A8472}" type="slidenum">
              <a:rPr lang="en-US" sz="1200">
                <a:solidFill>
                  <a:srgbClr val="1B3A5C"/>
                </a:solidFill>
                <a:latin typeface="Raleway"/>
              </a:rPr>
              <a:t>14</a:t>
            </a:fld>
            <a:endParaRPr lang="en-US" sz="1200">
              <a:solidFill>
                <a:srgbClr val="1B3A5C"/>
              </a:solidFill>
              <a:latin typeface="Raleway"/>
            </a:endParaRPr>
          </a:p>
        </p:txBody>
      </p:sp>
      <p:sp>
        <p:nvSpPr>
          <p:cNvPr id="3" name="Title"/>
          <p:cNvSpPr txBox="1"/>
          <p:nvPr/>
        </p:nvSpPr>
        <p:spPr>
          <a:xfrm>
            <a:off x="640080" y="502920"/>
            <a:ext cx="11411712" cy="822960"/>
          </a:xfrm>
          <a:prstGeom prst="rect">
            <a:avLst/>
          </a:prstGeom>
          <a:noFill/>
        </p:spPr>
        <p:txBody>
          <a:bodyPr wrap="square" lIns="0" tIns="0" rIns="0" bIns="0" anchor="ctr">
            <a:noAutofit/>
          </a:bodyPr>
          <a:lstStyle/>
          <a:p>
            <a:pPr algn="l"/>
            <a:r>
              <a:rPr lang="en-US" sz="4000" b="1" i="0">
                <a:solidFill>
                  <a:srgbClr val="1F4E79"/>
                </a:solidFill>
                <a:latin typeface="Raleway"/>
              </a:rPr>
              <a:t>The idea: peel off the units</a:t>
            </a:r>
          </a:p>
        </p:txBody>
      </p:sp>
      <p:sp>
        <p:nvSpPr>
          <p:cNvPr id="4" name="Lead"/>
          <p:cNvSpPr txBox="1"/>
          <p:nvPr/>
        </p:nvSpPr>
        <p:spPr>
          <a:xfrm>
            <a:off x="640080" y="1508760"/>
            <a:ext cx="10881360" cy="914400"/>
          </a:xfrm>
          <a:prstGeom prst="rect">
            <a:avLst/>
          </a:prstGeom>
          <a:noFill/>
        </p:spPr>
        <p:txBody>
          <a:bodyPr wrap="square" lIns="0" tIns="0" rIns="0" bIns="0" anchor="t">
            <a:noAutofit/>
          </a:bodyPr>
          <a:lstStyle/>
          <a:p>
            <a:pPr algn="l">
              <a:lnSpc>
                <a:spcPct val="110000"/>
              </a:lnSpc>
            </a:pPr>
            <a:r>
              <a:rPr lang="en-US" sz="2400" b="0" i="0">
                <a:solidFill>
                  <a:srgbClr val="A64B00"/>
                </a:solidFill>
                <a:latin typeface="Raleway"/>
              </a:rPr>
              <a:t>3725 seconds. Take the biggest unit first, then work on what is left.</a:t>
            </a:r>
          </a:p>
        </p:txBody>
      </p:sp>
      <p:sp>
        <p:nvSpPr>
          <p:cNvPr id="5" name="Steps"/>
          <p:cNvSpPr txBox="1"/>
          <p:nvPr/>
        </p:nvSpPr>
        <p:spPr>
          <a:xfrm>
            <a:off x="640080" y="2514600"/>
            <a:ext cx="5852160" cy="3657600"/>
          </a:xfrm>
          <a:prstGeom prst="rect">
            <a:avLst/>
          </a:prstGeom>
          <a:noFill/>
        </p:spPr>
        <p:txBody>
          <a:bodyPr wrap="square" lIns="0" tIns="0" rIns="0" bIns="0" anchor="t">
            <a:noAutofit/>
          </a:bodyPr>
          <a:lstStyle/>
          <a:p>
            <a:pPr marL="411480" indent="-411480" algn="l">
              <a:lnSpc>
                <a:spcPct val="114999"/>
              </a:lnSpc>
              <a:spcAft>
                <a:spcPts val="1000"/>
              </a:spcAft>
            </a:pPr>
            <a:r>
              <a:rPr lang="en-US" sz="2200" b="1" i="0">
                <a:solidFill>
                  <a:srgbClr val="A64B00"/>
                </a:solidFill>
                <a:latin typeface="Raleway"/>
              </a:rPr>
              <a:t>1 · </a:t>
            </a:r>
            <a:r>
              <a:rPr lang="en-US" sz="2200" b="0" i="0">
                <a:solidFill>
                  <a:srgbClr val="1D2433"/>
                </a:solidFill>
                <a:latin typeface="Raleway"/>
              </a:rPr>
              <a:t>Hours - how many whole hours fit: </a:t>
            </a:r>
            <a:r>
              <a:rPr lang="en-US" sz="2200" b="0" i="0">
                <a:solidFill>
                  <a:srgbClr val="1D2433"/>
                </a:solidFill>
                <a:latin typeface="Consolas"/>
              </a:rPr>
              <a:t>3725 // 3600</a:t>
            </a:r>
            <a:r>
              <a:rPr lang="en-US" sz="2200" b="0" i="0">
                <a:solidFill>
                  <a:srgbClr val="1D2433"/>
                </a:solidFill>
                <a:latin typeface="Raleway"/>
              </a:rPr>
              <a:t> is 1</a:t>
            </a:r>
          </a:p>
          <a:p>
            <a:pPr marL="411480" indent="-411480" algn="l">
              <a:lnSpc>
                <a:spcPct val="114999"/>
              </a:lnSpc>
              <a:spcAft>
                <a:spcPts val="1000"/>
              </a:spcAft>
            </a:pPr>
            <a:r>
              <a:rPr lang="en-US" sz="2200" b="1" i="0">
                <a:solidFill>
                  <a:srgbClr val="A64B00"/>
                </a:solidFill>
                <a:latin typeface="Raleway"/>
              </a:rPr>
              <a:t>2 · </a:t>
            </a:r>
            <a:r>
              <a:rPr lang="en-US" sz="2200" b="0" i="0">
                <a:solidFill>
                  <a:srgbClr val="1D2433"/>
                </a:solidFill>
                <a:latin typeface="Raleway"/>
              </a:rPr>
              <a:t>What is left - the remainder: </a:t>
            </a:r>
            <a:r>
              <a:rPr lang="en-US" sz="2200" b="0" i="0">
                <a:solidFill>
                  <a:srgbClr val="1D2433"/>
                </a:solidFill>
                <a:latin typeface="Consolas"/>
              </a:rPr>
              <a:t>3725 % 3600</a:t>
            </a:r>
            <a:r>
              <a:rPr lang="en-US" sz="2200" b="0" i="0">
                <a:solidFill>
                  <a:srgbClr val="1D2433"/>
                </a:solidFill>
                <a:latin typeface="Raleway"/>
              </a:rPr>
              <a:t> is 125</a:t>
            </a:r>
          </a:p>
          <a:p>
            <a:pPr marL="411480" indent="-411480" algn="l">
              <a:lnSpc>
                <a:spcPct val="114999"/>
              </a:lnSpc>
              <a:spcAft>
                <a:spcPts val="1000"/>
              </a:spcAft>
            </a:pPr>
            <a:r>
              <a:rPr lang="en-US" sz="2200" b="1" i="0">
                <a:solidFill>
                  <a:srgbClr val="A64B00"/>
                </a:solidFill>
                <a:latin typeface="Raleway"/>
              </a:rPr>
              <a:t>3 · </a:t>
            </a:r>
            <a:r>
              <a:rPr lang="en-US" sz="2200" b="0" i="0">
                <a:solidFill>
                  <a:srgbClr val="1D2433"/>
                </a:solidFill>
                <a:latin typeface="Raleway"/>
              </a:rPr>
              <a:t>Minutes - the same pair on what is left, with 60: </a:t>
            </a:r>
            <a:r>
              <a:rPr lang="en-US" sz="2200" b="0" i="0">
                <a:solidFill>
                  <a:srgbClr val="1D2433"/>
                </a:solidFill>
                <a:latin typeface="Consolas"/>
              </a:rPr>
              <a:t>125 // 60</a:t>
            </a:r>
            <a:r>
              <a:rPr lang="en-US" sz="2200" b="0" i="0">
                <a:solidFill>
                  <a:srgbClr val="1D2433"/>
                </a:solidFill>
                <a:latin typeface="Raleway"/>
              </a:rPr>
              <a:t> is 2</a:t>
            </a:r>
          </a:p>
          <a:p>
            <a:pPr marL="411480" indent="-411480" algn="l">
              <a:lnSpc>
                <a:spcPct val="114999"/>
              </a:lnSpc>
              <a:spcAft>
                <a:spcPts val="1000"/>
              </a:spcAft>
            </a:pPr>
            <a:r>
              <a:rPr lang="en-US" sz="2200" b="1" i="0">
                <a:solidFill>
                  <a:srgbClr val="A64B00"/>
                </a:solidFill>
                <a:latin typeface="Raleway"/>
              </a:rPr>
              <a:t>4 · </a:t>
            </a:r>
            <a:r>
              <a:rPr lang="en-US" sz="2200" b="0" i="0">
                <a:solidFill>
                  <a:srgbClr val="1D2433"/>
                </a:solidFill>
                <a:latin typeface="Raleway"/>
              </a:rPr>
              <a:t>Seconds - and the remainder of that: </a:t>
            </a:r>
            <a:r>
              <a:rPr lang="en-US" sz="2200" b="0" i="0">
                <a:solidFill>
                  <a:srgbClr val="1D2433"/>
                </a:solidFill>
                <a:latin typeface="Consolas"/>
              </a:rPr>
              <a:t>125 % 60</a:t>
            </a:r>
            <a:r>
              <a:rPr lang="en-US" sz="2200" b="0" i="0">
                <a:solidFill>
                  <a:srgbClr val="1D2433"/>
                </a:solidFill>
                <a:latin typeface="Raleway"/>
              </a:rPr>
              <a:t> is 5</a:t>
            </a:r>
          </a:p>
        </p:txBody>
      </p:sp>
      <p:sp>
        <p:nvSpPr>
          <p:cNvPr id="6" name="Panel label"/>
          <p:cNvSpPr txBox="1"/>
          <p:nvPr/>
        </p:nvSpPr>
        <p:spPr>
          <a:xfrm>
            <a:off x="6858000" y="2514600"/>
            <a:ext cx="4690872" cy="365760"/>
          </a:xfrm>
          <a:prstGeom prst="rect">
            <a:avLst/>
          </a:prstGeom>
          <a:noFill/>
        </p:spPr>
        <p:txBody>
          <a:bodyPr wrap="square" lIns="0" tIns="0" rIns="0" bIns="0" anchor="t">
            <a:noAutofit/>
          </a:bodyPr>
          <a:lstStyle/>
          <a:p>
            <a:pPr algn="l"/>
            <a:r>
              <a:rPr lang="en-US" sz="2200" b="0" i="0">
                <a:solidFill>
                  <a:srgbClr val="843C0B"/>
                </a:solidFill>
                <a:latin typeface="Raleway"/>
              </a:rPr>
              <a:t>In pseudocode</a:t>
            </a:r>
          </a:p>
        </p:txBody>
      </p:sp>
      <p:sp>
        <p:nvSpPr>
          <p:cNvPr id="7" name="Light panel"/>
          <p:cNvSpPr/>
          <p:nvPr/>
        </p:nvSpPr>
        <p:spPr>
          <a:xfrm>
            <a:off x="6858000" y="2971800"/>
            <a:ext cx="4690872" cy="2438400"/>
          </a:xfrm>
          <a:prstGeom prst="roundRect">
            <a:avLst>
              <a:gd name="adj" fmla="val 6000"/>
            </a:avLst>
          </a:prstGeom>
          <a:solidFill>
            <a:srgbClr val="F2F3F5"/>
          </a:solidFill>
          <a:ln w="12700">
            <a:solidFill>
              <a:srgbClr val="D8DBE0"/>
            </a:solidFill>
          </a:ln>
        </p:spPr>
        <p:txBody>
          <a:bodyPr rtlCol="0" anchor="ctr"/>
          <a:lstStyle/>
          <a:p>
            <a:endParaRPr/>
          </a:p>
        </p:txBody>
      </p:sp>
      <p:sp>
        <p:nvSpPr>
          <p:cNvPr id="8" name="Light panel text"/>
          <p:cNvSpPr txBox="1"/>
          <p:nvPr/>
        </p:nvSpPr>
        <p:spPr>
          <a:xfrm>
            <a:off x="7040880" y="3108960"/>
            <a:ext cx="4325112" cy="2164080"/>
          </a:xfrm>
          <a:prstGeom prst="rect">
            <a:avLst/>
          </a:prstGeom>
          <a:noFill/>
        </p:spPr>
        <p:txBody>
          <a:bodyPr wrap="square" lIns="0" tIns="0" rIns="0" bIns="0" anchor="t">
            <a:noAutofit/>
          </a:bodyPr>
          <a:lstStyle/>
          <a:p>
            <a:pPr algn="l"/>
            <a:r>
              <a:rPr lang="en-US" sz="2000" b="0" i="0">
                <a:solidFill>
                  <a:srgbClr val="1D2433"/>
                </a:solidFill>
                <a:latin typeface="Raleway"/>
              </a:rPr>
              <a:t>read the number of seconds</a:t>
            </a:r>
          </a:p>
          <a:p>
            <a:pPr algn="l"/>
            <a:r>
              <a:rPr lang="en-US" sz="2000" b="0" i="0">
                <a:solidFill>
                  <a:srgbClr val="1D2433"/>
                </a:solidFill>
                <a:latin typeface="Raleway"/>
              </a:rPr>
              <a:t>hours = seconds // 3600</a:t>
            </a:r>
          </a:p>
          <a:p>
            <a:pPr algn="l"/>
            <a:r>
              <a:rPr lang="en-US" sz="2000" b="0" i="0">
                <a:solidFill>
                  <a:srgbClr val="1D2433"/>
                </a:solidFill>
                <a:latin typeface="Raleway"/>
              </a:rPr>
              <a:t>rest = seconds % 3600</a:t>
            </a:r>
          </a:p>
          <a:p>
            <a:pPr algn="l"/>
            <a:r>
              <a:rPr lang="en-US" sz="2000" b="0" i="0">
                <a:solidFill>
                  <a:srgbClr val="1D2433"/>
                </a:solidFill>
                <a:latin typeface="Raleway"/>
              </a:rPr>
              <a:t>minutes = rest // 60</a:t>
            </a:r>
          </a:p>
          <a:p>
            <a:pPr algn="l"/>
            <a:r>
              <a:rPr lang="en-US" sz="2000" b="0" i="0">
                <a:solidFill>
                  <a:srgbClr val="1D2433"/>
                </a:solidFill>
                <a:latin typeface="Raleway"/>
              </a:rPr>
              <a:t>seconds = rest % 60</a:t>
            </a:r>
          </a:p>
          <a:p>
            <a:pPr algn="l"/>
            <a:r>
              <a:rPr lang="en-US" sz="2000" b="0" i="0">
                <a:solidFill>
                  <a:srgbClr val="1D2433"/>
                </a:solidFill>
                <a:latin typeface="Raleway"/>
              </a:rPr>
              <a:t>print hours, minutes, seconds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name="13 - Solution - Exercise 2: one solution">
    <p:spTree>
      <p:nvGrpSpPr>
        <p:cNvPr id="1" name=""/>
        <p:cNvGrpSpPr/>
        <p:nvPr/>
      </p:nvGrpSpPr>
      <p:grpSpPr>
        <a:xfrm>
          <a:off x="0" y="0"/>
          <a:ext cx="0" cy="0"/>
          <a:chOff x="0" y="0"/>
          <a:chExt cx="0" cy="0"/>
        </a:xfrm>
      </p:grpSpPr>
      <p:sp>
        <p:nvSpPr>
          <p:cNvPr id="2" name="Slide number"/>
          <p:cNvSpPr txBox="1"/>
          <p:nvPr/>
        </p:nvSpPr>
        <p:spPr>
          <a:xfrm>
            <a:off x="11430000" y="6446520"/>
            <a:ext cx="548640" cy="320040"/>
          </a:xfrm>
          <a:prstGeom prst="rect">
            <a:avLst/>
          </a:prstGeom>
          <a:noFill/>
        </p:spPr>
        <p:txBody>
          <a:bodyPr wrap="none" lIns="0" tIns="0" rIns="0" bIns="0" anchor="ctr">
            <a:spAutoFit/>
          </a:bodyPr>
          <a:lstStyle/>
          <a:p>
            <a:pPr algn="r"/>
            <a:fld id="{007A6A40-1A7B-4A1B-9D78-D7D11C5A8472}" type="slidenum">
              <a:rPr lang="en-US" sz="1200">
                <a:solidFill>
                  <a:srgbClr val="1B3A5C"/>
                </a:solidFill>
                <a:latin typeface="Raleway"/>
              </a:rPr>
              <a:t>15</a:t>
            </a:fld>
            <a:endParaRPr lang="en-US" sz="1200">
              <a:solidFill>
                <a:srgbClr val="1B3A5C"/>
              </a:solidFill>
              <a:latin typeface="Raleway"/>
            </a:endParaRPr>
          </a:p>
        </p:txBody>
      </p:sp>
      <p:sp>
        <p:nvSpPr>
          <p:cNvPr id="3" name="Title"/>
          <p:cNvSpPr txBox="1"/>
          <p:nvPr/>
        </p:nvSpPr>
        <p:spPr>
          <a:xfrm>
            <a:off x="640080" y="502920"/>
            <a:ext cx="11411712" cy="822960"/>
          </a:xfrm>
          <a:prstGeom prst="rect">
            <a:avLst/>
          </a:prstGeom>
          <a:noFill/>
        </p:spPr>
        <p:txBody>
          <a:bodyPr wrap="square" lIns="0" tIns="0" rIns="0" bIns="0" anchor="ctr">
            <a:noAutofit/>
          </a:bodyPr>
          <a:lstStyle/>
          <a:p>
            <a:pPr algn="l"/>
            <a:r>
              <a:rPr lang="en-US" sz="4000" b="1" i="0">
                <a:solidFill>
                  <a:srgbClr val="1F4E79"/>
                </a:solidFill>
                <a:latin typeface="Raleway"/>
              </a:rPr>
              <a:t>Exercise 2: one solution</a:t>
            </a:r>
          </a:p>
        </p:txBody>
      </p:sp>
      <p:sp>
        <p:nvSpPr>
          <p:cNvPr id="4" name="Code card"/>
          <p:cNvSpPr/>
          <p:nvPr/>
        </p:nvSpPr>
        <p:spPr>
          <a:xfrm>
            <a:off x="640080" y="1508760"/>
            <a:ext cx="6766560" cy="3742943"/>
          </a:xfrm>
          <a:prstGeom prst="roundRect">
            <a:avLst>
              <a:gd name="adj" fmla="val 4000"/>
            </a:avLst>
          </a:prstGeom>
          <a:solidFill>
            <a:srgbClr val="111318"/>
          </a:solidFill>
          <a:ln w="12700">
            <a:solidFill>
              <a:srgbClr val="D8DBE0"/>
            </a:solidFill>
          </a:ln>
        </p:spPr>
        <p:txBody>
          <a:bodyPr rtlCol="0" anchor="ctr"/>
          <a:lstStyle/>
          <a:p>
            <a:endParaRPr/>
          </a:p>
        </p:txBody>
      </p:sp>
      <p:sp>
        <p:nvSpPr>
          <p:cNvPr id="5" name="Code card header"/>
          <p:cNvSpPr/>
          <p:nvPr/>
        </p:nvSpPr>
        <p:spPr>
          <a:xfrm>
            <a:off x="640080" y="1508760"/>
            <a:ext cx="6766560" cy="384048"/>
          </a:xfrm>
          <a:prstGeom prst="roundRect">
            <a:avLst>
              <a:gd name="adj" fmla="val 10000"/>
            </a:avLst>
          </a:prstGeom>
          <a:solidFill>
            <a:srgbClr val="1B1E26"/>
          </a:solidFill>
          <a:ln w="12700">
            <a:solidFill>
              <a:srgbClr val="D8DBE0"/>
            </a:solidFill>
          </a:ln>
        </p:spPr>
        <p:txBody>
          <a:bodyPr rtlCol="0" anchor="ctr"/>
          <a:lstStyle/>
          <a:p>
            <a:endParaRPr/>
          </a:p>
        </p:txBody>
      </p:sp>
      <p:sp>
        <p:nvSpPr>
          <p:cNvPr id="6" name="Code card header fill"/>
          <p:cNvSpPr/>
          <p:nvPr/>
        </p:nvSpPr>
        <p:spPr>
          <a:xfrm>
            <a:off x="658368" y="1700784"/>
            <a:ext cx="6729984" cy="192024"/>
          </a:xfrm>
          <a:prstGeom prst="rect">
            <a:avLst/>
          </a:prstGeom>
          <a:solidFill>
            <a:srgbClr val="1B1E26"/>
          </a:solidFill>
          <a:ln>
            <a:noFill/>
          </a:ln>
        </p:spPr>
        <p:txBody>
          <a:bodyPr rtlCol="0" anchor="ctr"/>
          <a:lstStyle/>
          <a:p>
            <a:endParaRPr/>
          </a:p>
        </p:txBody>
      </p:sp>
      <p:sp>
        <p:nvSpPr>
          <p:cNvPr id="7" name="Oval 6"/>
          <p:cNvSpPr/>
          <p:nvPr/>
        </p:nvSpPr>
        <p:spPr>
          <a:xfrm>
            <a:off x="868680" y="1645919"/>
            <a:ext cx="118872" cy="118872"/>
          </a:xfrm>
          <a:prstGeom prst="ellipse">
            <a:avLst/>
          </a:prstGeom>
          <a:solidFill>
            <a:srgbClr val="FF6B6B"/>
          </a:solidFill>
          <a:ln>
            <a:noFill/>
          </a:ln>
        </p:spPr>
        <p:txBody>
          <a:bodyPr rtlCol="0" anchor="ctr"/>
          <a:lstStyle/>
          <a:p>
            <a:pPr algn="ctr"/>
            <a:endParaRPr/>
          </a:p>
        </p:txBody>
      </p:sp>
      <p:sp>
        <p:nvSpPr>
          <p:cNvPr id="8" name="Oval 7"/>
          <p:cNvSpPr/>
          <p:nvPr/>
        </p:nvSpPr>
        <p:spPr>
          <a:xfrm>
            <a:off x="1143000" y="1645919"/>
            <a:ext cx="118872" cy="118872"/>
          </a:xfrm>
          <a:prstGeom prst="ellipse">
            <a:avLst/>
          </a:prstGeom>
          <a:solidFill>
            <a:srgbClr val="FFD94A"/>
          </a:solidFill>
          <a:ln>
            <a:noFill/>
          </a:ln>
        </p:spPr>
        <p:txBody>
          <a:bodyPr rtlCol="0" anchor="ctr"/>
          <a:lstStyle/>
          <a:p>
            <a:pPr algn="ctr"/>
            <a:endParaRPr/>
          </a:p>
        </p:txBody>
      </p:sp>
      <p:sp>
        <p:nvSpPr>
          <p:cNvPr id="9" name="Oval 8"/>
          <p:cNvSpPr/>
          <p:nvPr/>
        </p:nvSpPr>
        <p:spPr>
          <a:xfrm>
            <a:off x="1417319" y="1645919"/>
            <a:ext cx="118872" cy="118872"/>
          </a:xfrm>
          <a:prstGeom prst="ellipse">
            <a:avLst/>
          </a:prstGeom>
          <a:solidFill>
            <a:srgbClr val="8FE3AB"/>
          </a:solidFill>
          <a:ln>
            <a:noFill/>
          </a:ln>
        </p:spPr>
        <p:txBody>
          <a:bodyPr rtlCol="0" anchor="ctr"/>
          <a:lstStyle/>
          <a:p>
            <a:pPr algn="ctr"/>
            <a:endParaRPr/>
          </a:p>
        </p:txBody>
      </p:sp>
      <p:sp>
        <p:nvSpPr>
          <p:cNvPr id="10" name="Filename"/>
          <p:cNvSpPr txBox="1"/>
          <p:nvPr/>
        </p:nvSpPr>
        <p:spPr>
          <a:xfrm>
            <a:off x="1828800" y="1508760"/>
            <a:ext cx="5394960" cy="384048"/>
          </a:xfrm>
          <a:prstGeom prst="rect">
            <a:avLst/>
          </a:prstGeom>
          <a:noFill/>
        </p:spPr>
        <p:txBody>
          <a:bodyPr wrap="square" lIns="0" tIns="0" rIns="0" bIns="0" anchor="ctr">
            <a:noAutofit/>
          </a:bodyPr>
          <a:lstStyle/>
          <a:p>
            <a:pPr algn="l"/>
            <a:r>
              <a:rPr lang="en-US" sz="1200" b="0" i="0">
                <a:solidFill>
                  <a:srgbClr val="E9EAEE"/>
                </a:solidFill>
                <a:latin typeface="Consolas"/>
              </a:rPr>
              <a:t>seconds.py</a:t>
            </a:r>
          </a:p>
        </p:txBody>
      </p:sp>
      <p:sp>
        <p:nvSpPr>
          <p:cNvPr id="11" name="Code"/>
          <p:cNvSpPr txBox="1"/>
          <p:nvPr/>
        </p:nvSpPr>
        <p:spPr>
          <a:xfrm>
            <a:off x="1005840" y="2002536"/>
            <a:ext cx="6126480" cy="3157727"/>
          </a:xfrm>
          <a:prstGeom prst="rect">
            <a:avLst/>
          </a:prstGeom>
          <a:noFill/>
        </p:spPr>
        <p:txBody>
          <a:bodyPr wrap="none" lIns="0" tIns="0" rIns="0" bIns="0" anchor="t">
            <a:noAutofit/>
          </a:bodyPr>
          <a:lstStyle/>
          <a:p>
            <a:pPr algn="l"/>
            <a:r>
              <a:rPr lang="en-US" sz="2000" b="0" i="0">
                <a:solidFill>
                  <a:srgbClr val="E9EAEE"/>
                </a:solidFill>
                <a:latin typeface="Consolas"/>
              </a:rPr>
              <a:t>total = </a:t>
            </a:r>
            <a:r>
              <a:rPr lang="en-US" sz="2000" b="0" i="0">
                <a:solidFill>
                  <a:srgbClr val="F5B759"/>
                </a:solidFill>
                <a:latin typeface="Consolas"/>
              </a:rPr>
              <a:t>int</a:t>
            </a:r>
            <a:r>
              <a:rPr lang="en-US" sz="2000" b="0" i="0">
                <a:solidFill>
                  <a:srgbClr val="E9EAEE"/>
                </a:solidFill>
                <a:latin typeface="Consolas"/>
              </a:rPr>
              <a:t>(</a:t>
            </a:r>
            <a:r>
              <a:rPr lang="en-US" sz="2000" b="0" i="0">
                <a:solidFill>
                  <a:srgbClr val="F5B759"/>
                </a:solidFill>
                <a:latin typeface="Consolas"/>
              </a:rPr>
              <a:t>input</a:t>
            </a:r>
            <a:r>
              <a:rPr lang="en-US" sz="2000" b="0" i="0">
                <a:solidFill>
                  <a:srgbClr val="E9EAEE"/>
                </a:solidFill>
                <a:latin typeface="Consolas"/>
              </a:rPr>
              <a:t>("Seconds: "))</a:t>
            </a:r>
          </a:p>
          <a:p>
            <a:pPr algn="l"/>
            <a:endParaRPr lang="en-US" sz="2000" b="0" i="0">
              <a:solidFill>
                <a:srgbClr val="E9EAEE"/>
              </a:solidFill>
              <a:latin typeface="Consolas"/>
            </a:endParaRPr>
          </a:p>
          <a:p>
            <a:pPr algn="l"/>
            <a:r>
              <a:rPr lang="en-US" sz="2000" b="0" i="0">
                <a:solidFill>
                  <a:srgbClr val="E9EAEE"/>
                </a:solidFill>
                <a:latin typeface="Consolas"/>
              </a:rPr>
              <a:t>hours = total // 3600</a:t>
            </a:r>
          </a:p>
          <a:p>
            <a:pPr algn="l"/>
            <a:r>
              <a:rPr lang="en-US" sz="2000" b="0" i="0">
                <a:solidFill>
                  <a:srgbClr val="E9EAEE"/>
                </a:solidFill>
                <a:latin typeface="Consolas"/>
              </a:rPr>
              <a:t>rest = total % 3600</a:t>
            </a:r>
          </a:p>
          <a:p>
            <a:pPr algn="l"/>
            <a:r>
              <a:rPr lang="en-US" sz="2000" b="0" i="0">
                <a:solidFill>
                  <a:srgbClr val="E9EAEE"/>
                </a:solidFill>
                <a:latin typeface="Consolas"/>
              </a:rPr>
              <a:t>minutes = rest // 60</a:t>
            </a:r>
          </a:p>
          <a:p>
            <a:pPr algn="l"/>
            <a:r>
              <a:rPr lang="en-US" sz="2000" b="0" i="0">
                <a:solidFill>
                  <a:srgbClr val="E9EAEE"/>
                </a:solidFill>
                <a:latin typeface="Consolas"/>
              </a:rPr>
              <a:t>seconds = rest % 60</a:t>
            </a:r>
          </a:p>
          <a:p>
            <a:pPr algn="l"/>
            <a:endParaRPr lang="en-US" sz="2000" b="0" i="0">
              <a:solidFill>
                <a:srgbClr val="E9EAEE"/>
              </a:solidFill>
              <a:latin typeface="Consolas"/>
            </a:endParaRPr>
          </a:p>
          <a:p>
            <a:pPr algn="l"/>
            <a:r>
              <a:rPr lang="en-US" sz="2000" b="0" i="0">
                <a:solidFill>
                  <a:srgbClr val="F5B759"/>
                </a:solidFill>
                <a:latin typeface="Consolas"/>
              </a:rPr>
              <a:t>print</a:t>
            </a:r>
            <a:r>
              <a:rPr lang="en-US" sz="2000" b="0" i="0">
                <a:solidFill>
                  <a:srgbClr val="E9EAEE"/>
                </a:solidFill>
                <a:latin typeface="Consolas"/>
              </a:rPr>
              <a:t>(f"{hours} hours")</a:t>
            </a:r>
          </a:p>
          <a:p>
            <a:pPr algn="l"/>
            <a:r>
              <a:rPr lang="en-US" sz="2000" b="0" i="0">
                <a:solidFill>
                  <a:srgbClr val="F5B759"/>
                </a:solidFill>
                <a:latin typeface="Consolas"/>
              </a:rPr>
              <a:t>print</a:t>
            </a:r>
            <a:r>
              <a:rPr lang="en-US" sz="2000" b="0" i="0">
                <a:solidFill>
                  <a:srgbClr val="E9EAEE"/>
                </a:solidFill>
                <a:latin typeface="Consolas"/>
              </a:rPr>
              <a:t>(f"{minutes} minutes")</a:t>
            </a:r>
          </a:p>
          <a:p>
            <a:pPr algn="l"/>
            <a:r>
              <a:rPr lang="en-US" sz="2000" b="0" i="0">
                <a:solidFill>
                  <a:srgbClr val="F5B759"/>
                </a:solidFill>
                <a:latin typeface="Consolas"/>
              </a:rPr>
              <a:t>print</a:t>
            </a:r>
            <a:r>
              <a:rPr lang="en-US" sz="2000" b="0" i="0">
                <a:solidFill>
                  <a:srgbClr val="E9EAEE"/>
                </a:solidFill>
                <a:latin typeface="Consolas"/>
              </a:rPr>
              <a:t>(f"{seconds} seconds")</a:t>
            </a:r>
          </a:p>
        </p:txBody>
      </p:sp>
      <p:sp>
        <p:nvSpPr>
          <p:cNvPr id="12" name="Panel"/>
          <p:cNvSpPr/>
          <p:nvPr/>
        </p:nvSpPr>
        <p:spPr>
          <a:xfrm>
            <a:off x="7772400" y="1508760"/>
            <a:ext cx="3776472" cy="2737485"/>
          </a:xfrm>
          <a:prstGeom prst="roundRect">
            <a:avLst>
              <a:gd name="adj" fmla="val 6000"/>
            </a:avLst>
          </a:prstGeom>
          <a:solidFill>
            <a:srgbClr val="F2F3F5"/>
          </a:solidFill>
          <a:ln w="12700">
            <a:solidFill>
              <a:srgbClr val="D8DBE0"/>
            </a:solidFill>
          </a:ln>
        </p:spPr>
        <p:txBody>
          <a:bodyPr rtlCol="0" anchor="ctr"/>
          <a:lstStyle/>
          <a:p>
            <a:endParaRPr/>
          </a:p>
        </p:txBody>
      </p:sp>
      <p:sp>
        <p:nvSpPr>
          <p:cNvPr id="13" name="Panel text"/>
          <p:cNvSpPr txBox="1"/>
          <p:nvPr/>
        </p:nvSpPr>
        <p:spPr>
          <a:xfrm>
            <a:off x="7909560" y="1618488"/>
            <a:ext cx="3502152" cy="2518029"/>
          </a:xfrm>
          <a:prstGeom prst="rect">
            <a:avLst/>
          </a:prstGeom>
          <a:noFill/>
        </p:spPr>
        <p:txBody>
          <a:bodyPr wrap="square" lIns="0" tIns="0" rIns="0" bIns="0" anchor="t">
            <a:noAutofit/>
          </a:bodyPr>
          <a:lstStyle/>
          <a:p>
            <a:pPr algn="l">
              <a:spcAft>
                <a:spcPts val="600"/>
              </a:spcAft>
            </a:pPr>
            <a:r>
              <a:rPr lang="en-US" sz="2200" b="0" i="0">
                <a:solidFill>
                  <a:srgbClr val="A64B00"/>
                </a:solidFill>
                <a:latin typeface="Raleway"/>
              </a:rPr>
              <a:t>Why these operators</a:t>
            </a:r>
          </a:p>
          <a:p>
            <a:pPr marL="201168" indent="-201168" algn="l">
              <a:spcAft>
                <a:spcPts val="600"/>
              </a:spcAft>
              <a:buSzPct val="65000"/>
              <a:buFont typeface="Arial" panose="020B0604020202020204" pitchFamily="34" charset="0"/>
              <a:buChar char="•"/>
            </a:pPr>
            <a:r>
              <a:rPr lang="en-US" sz="1700" b="0" i="0">
                <a:solidFill>
                  <a:srgbClr val="A64B00"/>
                </a:solidFill>
                <a:latin typeface="Raleway"/>
              </a:rPr>
              <a:t>Why not /:</a:t>
            </a:r>
            <a:r>
              <a:rPr lang="en-US" sz="1700" b="0" i="0">
                <a:solidFill>
                  <a:srgbClr val="1D2433"/>
                </a:solidFill>
                <a:latin typeface="Raleway"/>
              </a:rPr>
              <a:t> </a:t>
            </a:r>
            <a:r>
              <a:rPr lang="en-US" sz="1700" b="0" i="0">
                <a:solidFill>
                  <a:srgbClr val="1D2433"/>
                </a:solidFill>
                <a:latin typeface="Consolas"/>
              </a:rPr>
              <a:t>3725 / 3600</a:t>
            </a:r>
            <a:r>
              <a:rPr lang="en-US" sz="1700" b="0" i="0">
                <a:solidFill>
                  <a:srgbClr val="1D2433"/>
                </a:solidFill>
                <a:latin typeface="Raleway"/>
              </a:rPr>
              <a:t> is 1.0347..., a float</a:t>
            </a:r>
          </a:p>
          <a:p>
            <a:pPr marL="201168" indent="-201168" algn="l">
              <a:spcAft>
                <a:spcPts val="600"/>
              </a:spcAft>
              <a:buSzPct val="65000"/>
              <a:buFont typeface="Arial" panose="020B0604020202020204" pitchFamily="34" charset="0"/>
              <a:buChar char="•"/>
            </a:pPr>
            <a:r>
              <a:rPr lang="en-US" sz="1700" b="0" i="0">
                <a:solidFill>
                  <a:srgbClr val="A64B00"/>
                </a:solidFill>
                <a:latin typeface="Raleway"/>
              </a:rPr>
              <a:t>The remainder:</a:t>
            </a:r>
            <a:r>
              <a:rPr lang="en-US" sz="1700" b="0" i="0">
                <a:solidFill>
                  <a:srgbClr val="1D2433"/>
                </a:solidFill>
                <a:latin typeface="Raleway"/>
              </a:rPr>
              <a:t> </a:t>
            </a:r>
            <a:r>
              <a:rPr lang="en-US" sz="1700" b="0" i="0">
                <a:solidFill>
                  <a:srgbClr val="1D2433"/>
                </a:solidFill>
                <a:latin typeface="Consolas"/>
              </a:rPr>
              <a:t>%</a:t>
            </a:r>
            <a:r>
              <a:rPr lang="en-US" sz="1700" b="0" i="0">
                <a:solidFill>
                  <a:srgbClr val="1D2433"/>
                </a:solidFill>
                <a:latin typeface="Raleway"/>
              </a:rPr>
              <a:t> keeps the seconds that did not fit into hours</a:t>
            </a:r>
          </a:p>
          <a:p>
            <a:pPr marL="201168" indent="-201168" algn="l">
              <a:spcAft>
                <a:spcPts val="600"/>
              </a:spcAft>
              <a:buSzPct val="65000"/>
              <a:buFont typeface="Arial" panose="020B0604020202020204" pitchFamily="34" charset="0"/>
              <a:buChar char="•"/>
            </a:pPr>
            <a:r>
              <a:rPr lang="en-US" sz="1700" b="0" i="0">
                <a:solidFill>
                  <a:srgbClr val="A64B00"/>
                </a:solidFill>
                <a:latin typeface="Raleway"/>
              </a:rPr>
              <a:t>Naming:</a:t>
            </a:r>
            <a:r>
              <a:rPr lang="en-US" sz="1700" b="0" i="0">
                <a:solidFill>
                  <a:srgbClr val="1D2433"/>
                </a:solidFill>
                <a:latin typeface="Raleway"/>
              </a:rPr>
              <a:t> rest is a variable, computed once and used twice</a:t>
            </a:r>
          </a:p>
        </p:txBody>
      </p:sp>
      <p:sp>
        <p:nvSpPr>
          <p:cNvPr id="14" name="Terminal"/>
          <p:cNvSpPr/>
          <p:nvPr/>
        </p:nvSpPr>
        <p:spPr>
          <a:xfrm>
            <a:off x="7772400" y="4474845"/>
            <a:ext cx="3776472" cy="1670304"/>
          </a:xfrm>
          <a:prstGeom prst="roundRect">
            <a:avLst>
              <a:gd name="adj" fmla="val 4000"/>
            </a:avLst>
          </a:prstGeom>
          <a:solidFill>
            <a:srgbClr val="111318"/>
          </a:solidFill>
          <a:ln w="12700">
            <a:solidFill>
              <a:srgbClr val="D8DBE0"/>
            </a:solidFill>
          </a:ln>
        </p:spPr>
        <p:txBody>
          <a:bodyPr rtlCol="0" anchor="ctr"/>
          <a:lstStyle/>
          <a:p>
            <a:endParaRPr/>
          </a:p>
        </p:txBody>
      </p:sp>
      <p:sp>
        <p:nvSpPr>
          <p:cNvPr id="15" name="Terminal header"/>
          <p:cNvSpPr/>
          <p:nvPr/>
        </p:nvSpPr>
        <p:spPr>
          <a:xfrm>
            <a:off x="7772400" y="4474845"/>
            <a:ext cx="3776472" cy="384048"/>
          </a:xfrm>
          <a:prstGeom prst="roundRect">
            <a:avLst>
              <a:gd name="adj" fmla="val 10000"/>
            </a:avLst>
          </a:prstGeom>
          <a:solidFill>
            <a:srgbClr val="1B1E26"/>
          </a:solidFill>
          <a:ln w="12700">
            <a:solidFill>
              <a:srgbClr val="D8DBE0"/>
            </a:solidFill>
          </a:ln>
        </p:spPr>
        <p:txBody>
          <a:bodyPr rtlCol="0" anchor="ctr"/>
          <a:lstStyle/>
          <a:p>
            <a:endParaRPr/>
          </a:p>
        </p:txBody>
      </p:sp>
      <p:sp>
        <p:nvSpPr>
          <p:cNvPr id="16" name="Terminal header fill"/>
          <p:cNvSpPr/>
          <p:nvPr/>
        </p:nvSpPr>
        <p:spPr>
          <a:xfrm>
            <a:off x="7790688" y="4666869"/>
            <a:ext cx="3739896" cy="192024"/>
          </a:xfrm>
          <a:prstGeom prst="rect">
            <a:avLst/>
          </a:prstGeom>
          <a:solidFill>
            <a:srgbClr val="1B1E26"/>
          </a:solidFill>
          <a:ln>
            <a:noFill/>
          </a:ln>
        </p:spPr>
        <p:txBody>
          <a:bodyPr rtlCol="0" anchor="ctr"/>
          <a:lstStyle/>
          <a:p>
            <a:endParaRPr/>
          </a:p>
        </p:txBody>
      </p:sp>
      <p:sp>
        <p:nvSpPr>
          <p:cNvPr id="17" name="Terminal label"/>
          <p:cNvSpPr txBox="1"/>
          <p:nvPr/>
        </p:nvSpPr>
        <p:spPr>
          <a:xfrm>
            <a:off x="8046720" y="4474845"/>
            <a:ext cx="3319272" cy="384048"/>
          </a:xfrm>
          <a:prstGeom prst="rect">
            <a:avLst/>
          </a:prstGeom>
          <a:noFill/>
        </p:spPr>
        <p:txBody>
          <a:bodyPr wrap="square" lIns="0" tIns="0" rIns="0" bIns="0" anchor="ctr">
            <a:noAutofit/>
          </a:bodyPr>
          <a:lstStyle/>
          <a:p>
            <a:pPr algn="l"/>
            <a:r>
              <a:rPr lang="en-US" sz="1200" b="0" i="0">
                <a:solidFill>
                  <a:srgbClr val="E9EAEE"/>
                </a:solidFill>
                <a:latin typeface="Consolas"/>
              </a:rPr>
              <a:t>python seconds.py</a:t>
            </a:r>
          </a:p>
        </p:txBody>
      </p:sp>
      <p:sp>
        <p:nvSpPr>
          <p:cNvPr id="18" name="Output"/>
          <p:cNvSpPr txBox="1"/>
          <p:nvPr/>
        </p:nvSpPr>
        <p:spPr>
          <a:xfrm>
            <a:off x="8046720" y="4986908"/>
            <a:ext cx="3319272" cy="1066799"/>
          </a:xfrm>
          <a:prstGeom prst="rect">
            <a:avLst/>
          </a:prstGeom>
          <a:noFill/>
        </p:spPr>
        <p:txBody>
          <a:bodyPr wrap="none" lIns="0" tIns="0" rIns="0" bIns="0" anchor="t">
            <a:noAutofit/>
          </a:bodyPr>
          <a:lstStyle/>
          <a:p>
            <a:pPr algn="l"/>
            <a:r>
              <a:rPr lang="en-US" sz="1600" b="0" i="0">
                <a:solidFill>
                  <a:srgbClr val="E9EAEE"/>
                </a:solidFill>
                <a:latin typeface="Consolas"/>
              </a:rPr>
              <a:t>Seconds: 3725</a:t>
            </a:r>
          </a:p>
          <a:p>
            <a:pPr algn="l"/>
            <a:r>
              <a:rPr lang="en-US" sz="1600" b="0" i="0">
                <a:solidFill>
                  <a:srgbClr val="E9EAEE"/>
                </a:solidFill>
                <a:latin typeface="Consolas"/>
              </a:rPr>
              <a:t>1 hours</a:t>
            </a:r>
          </a:p>
          <a:p>
            <a:pPr algn="l"/>
            <a:r>
              <a:rPr lang="en-US" sz="1600" b="0" i="0">
                <a:solidFill>
                  <a:srgbClr val="E9EAEE"/>
                </a:solidFill>
                <a:latin typeface="Consolas"/>
              </a:rPr>
              <a:t>2 minutes</a:t>
            </a:r>
          </a:p>
          <a:p>
            <a:pPr algn="l"/>
            <a:r>
              <a:rPr lang="en-US" sz="1600" b="0" i="0">
                <a:solidFill>
                  <a:srgbClr val="E9EAEE"/>
                </a:solidFill>
                <a:latin typeface="Consolas"/>
              </a:rPr>
              <a:t>5 seconds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14 - Exercise - Exercise 3: Three bugs">
    <p:spTree>
      <p:nvGrpSpPr>
        <p:cNvPr id="1" name=""/>
        <p:cNvGrpSpPr/>
        <p:nvPr/>
      </p:nvGrpSpPr>
      <p:grpSpPr>
        <a:xfrm>
          <a:off x="0" y="0"/>
          <a:ext cx="0" cy="0"/>
          <a:chOff x="0" y="0"/>
          <a:chExt cx="0" cy="0"/>
        </a:xfrm>
      </p:grpSpPr>
      <p:sp>
        <p:nvSpPr>
          <p:cNvPr id="2" name="Slide number"/>
          <p:cNvSpPr txBox="1"/>
          <p:nvPr/>
        </p:nvSpPr>
        <p:spPr>
          <a:xfrm>
            <a:off x="11430000" y="6446520"/>
            <a:ext cx="548640" cy="320040"/>
          </a:xfrm>
          <a:prstGeom prst="rect">
            <a:avLst/>
          </a:prstGeom>
          <a:noFill/>
        </p:spPr>
        <p:txBody>
          <a:bodyPr wrap="none" lIns="0" tIns="0" rIns="0" bIns="0" anchor="ctr">
            <a:spAutoFit/>
          </a:bodyPr>
          <a:lstStyle/>
          <a:p>
            <a:pPr algn="r"/>
            <a:fld id="{007A6A40-1A7B-4A1B-9D78-D7D11C5A8472}" type="slidenum">
              <a:rPr lang="en-US" sz="1200">
                <a:solidFill>
                  <a:srgbClr val="1B3A5C"/>
                </a:solidFill>
                <a:latin typeface="Raleway"/>
              </a:rPr>
              <a:t>16</a:t>
            </a:fld>
            <a:endParaRPr lang="en-US" sz="1200">
              <a:solidFill>
                <a:srgbClr val="1B3A5C"/>
              </a:solidFill>
              <a:latin typeface="Raleway"/>
            </a:endParaRPr>
          </a:p>
        </p:txBody>
      </p:sp>
      <p:sp>
        <p:nvSpPr>
          <p:cNvPr id="3" name="Title"/>
          <p:cNvSpPr txBox="1"/>
          <p:nvPr/>
        </p:nvSpPr>
        <p:spPr>
          <a:xfrm>
            <a:off x="640080" y="502920"/>
            <a:ext cx="11411712" cy="822960"/>
          </a:xfrm>
          <a:prstGeom prst="rect">
            <a:avLst/>
          </a:prstGeom>
          <a:noFill/>
        </p:spPr>
        <p:txBody>
          <a:bodyPr wrap="square" lIns="0" tIns="0" rIns="0" bIns="0" anchor="ctr">
            <a:noAutofit/>
          </a:bodyPr>
          <a:lstStyle/>
          <a:p>
            <a:pPr algn="l"/>
            <a:r>
              <a:rPr lang="en-US" sz="4000" b="1" i="0">
                <a:solidFill>
                  <a:srgbClr val="1F4E79"/>
                </a:solidFill>
                <a:latin typeface="Raleway"/>
              </a:rPr>
              <a:t>Exercise 3: Three bugs</a:t>
            </a:r>
          </a:p>
        </p:txBody>
      </p:sp>
      <p:sp>
        <p:nvSpPr>
          <p:cNvPr id="4" name="Strip Warm-up"/>
          <p:cNvSpPr/>
          <p:nvPr/>
        </p:nvSpPr>
        <p:spPr>
          <a:xfrm>
            <a:off x="640080" y="1389888"/>
            <a:ext cx="928116"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Warm-up</a:t>
            </a:r>
          </a:p>
        </p:txBody>
      </p:sp>
      <p:sp>
        <p:nvSpPr>
          <p:cNvPr id="5" name="Strip Receipt &amp; time"/>
          <p:cNvSpPr/>
          <p:nvPr/>
        </p:nvSpPr>
        <p:spPr>
          <a:xfrm>
            <a:off x="1677924" y="1389888"/>
            <a:ext cx="1472184"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Receipt &amp; time</a:t>
            </a:r>
          </a:p>
        </p:txBody>
      </p:sp>
      <p:sp>
        <p:nvSpPr>
          <p:cNvPr id="6" name="Strip Bugs"/>
          <p:cNvSpPr/>
          <p:nvPr/>
        </p:nvSpPr>
        <p:spPr>
          <a:xfrm>
            <a:off x="3259836" y="1389888"/>
            <a:ext cx="694944" cy="310896"/>
          </a:xfrm>
          <a:prstGeom prst="roundRect">
            <a:avLst>
              <a:gd name="adj" fmla="val 50000"/>
            </a:avLst>
          </a:prstGeom>
          <a:solidFill>
            <a:srgbClr val="A64B00"/>
          </a:solidFill>
          <a:ln w="12700">
            <a:solidFill>
              <a:srgbClr val="A64B00"/>
            </a:solidFill>
          </a:ln>
        </p:spPr>
        <p:txBody>
          <a:bodyPr lIns="45720" tIns="0" rIns="45720" bIns="0" rtlCol="0" anchor="ctr"/>
          <a:lstStyle/>
          <a:p>
            <a:pPr algn="ctr"/>
            <a:r>
              <a:rPr lang="en-US" sz="1100" b="0" i="0">
                <a:solidFill>
                  <a:srgbClr val="FFFFFF"/>
                </a:solidFill>
                <a:latin typeface="Raleway"/>
              </a:rPr>
              <a:t>Bugs</a:t>
            </a:r>
          </a:p>
        </p:txBody>
      </p:sp>
      <p:sp>
        <p:nvSpPr>
          <p:cNvPr id="7" name="Strip Booleans"/>
          <p:cNvSpPr/>
          <p:nvPr/>
        </p:nvSpPr>
        <p:spPr>
          <a:xfrm>
            <a:off x="4064508" y="1389888"/>
            <a:ext cx="1005840"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Booleans</a:t>
            </a:r>
          </a:p>
        </p:txBody>
      </p:sp>
      <p:sp>
        <p:nvSpPr>
          <p:cNvPr id="8" name="Strip Randomness"/>
          <p:cNvSpPr/>
          <p:nvPr/>
        </p:nvSpPr>
        <p:spPr>
          <a:xfrm>
            <a:off x="5180076" y="1389888"/>
            <a:ext cx="1161288"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Randomness</a:t>
            </a:r>
          </a:p>
        </p:txBody>
      </p:sp>
      <p:sp>
        <p:nvSpPr>
          <p:cNvPr id="9" name="Strip Extra"/>
          <p:cNvSpPr/>
          <p:nvPr/>
        </p:nvSpPr>
        <p:spPr>
          <a:xfrm>
            <a:off x="6451092" y="1389888"/>
            <a:ext cx="772668"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Extra</a:t>
            </a:r>
          </a:p>
        </p:txBody>
      </p:sp>
      <p:sp>
        <p:nvSpPr>
          <p:cNvPr id="10" name="Strip Wrap-up"/>
          <p:cNvSpPr/>
          <p:nvPr/>
        </p:nvSpPr>
        <p:spPr>
          <a:xfrm>
            <a:off x="7333488" y="1389888"/>
            <a:ext cx="928116"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Wrap-up</a:t>
            </a:r>
          </a:p>
        </p:txBody>
      </p:sp>
      <p:sp>
        <p:nvSpPr>
          <p:cNvPr id="11" name="Level"/>
          <p:cNvSpPr/>
          <p:nvPr/>
        </p:nvSpPr>
        <p:spPr>
          <a:xfrm>
            <a:off x="9400032" y="1362456"/>
            <a:ext cx="2651760" cy="365760"/>
          </a:xfrm>
          <a:prstGeom prst="roundRect">
            <a:avLst>
              <a:gd name="adj" fmla="val 50000"/>
            </a:avLst>
          </a:prstGeom>
          <a:solidFill>
            <a:srgbClr val="1B3A5C"/>
          </a:solidFill>
          <a:ln w="12700">
            <a:solidFill>
              <a:srgbClr val="1B3A5C"/>
            </a:solidFill>
          </a:ln>
        </p:spPr>
        <p:txBody>
          <a:bodyPr lIns="73152" tIns="0" rIns="73152" bIns="0" rtlCol="0" anchor="ctr"/>
          <a:lstStyle/>
          <a:p>
            <a:pPr algn="ctr"/>
            <a:r>
              <a:rPr lang="en-US" sz="1200" b="0" i="0" spc="100">
                <a:solidFill>
                  <a:srgbClr val="FFFFFF"/>
                </a:solidFill>
                <a:latin typeface="Raleway"/>
              </a:rPr>
              <a:t>MID · 10 MIN ON YOUR OWN</a:t>
            </a:r>
          </a:p>
        </p:txBody>
      </p:sp>
      <p:sp>
        <p:nvSpPr>
          <p:cNvPr id="12" name="Lead"/>
          <p:cNvSpPr txBox="1"/>
          <p:nvPr/>
        </p:nvSpPr>
        <p:spPr>
          <a:xfrm>
            <a:off x="640080" y="1965960"/>
            <a:ext cx="6309360" cy="1325880"/>
          </a:xfrm>
          <a:prstGeom prst="rect">
            <a:avLst/>
          </a:prstGeom>
          <a:noFill/>
        </p:spPr>
        <p:txBody>
          <a:bodyPr wrap="square" lIns="0" tIns="0" rIns="0" bIns="0" anchor="t">
            <a:noAutofit/>
          </a:bodyPr>
          <a:lstStyle/>
          <a:p>
            <a:pPr algn="l">
              <a:lnSpc>
                <a:spcPct val="110000"/>
              </a:lnSpc>
            </a:pPr>
            <a:r>
              <a:rPr lang="en-US" sz="2400" b="0" i="0">
                <a:solidFill>
                  <a:srgbClr val="A64B00"/>
                </a:solidFill>
                <a:latin typeface="Raleway"/>
              </a:rPr>
              <a:t>Task: this program has three bugs, one of each kind. Find them, name the kind, fix them.</a:t>
            </a:r>
          </a:p>
        </p:txBody>
      </p:sp>
      <p:sp>
        <p:nvSpPr>
          <p:cNvPr id="13" name="Task bullets"/>
          <p:cNvSpPr txBox="1"/>
          <p:nvPr/>
        </p:nvSpPr>
        <p:spPr>
          <a:xfrm>
            <a:off x="640080" y="3383280"/>
            <a:ext cx="6309360" cy="2788920"/>
          </a:xfrm>
          <a:prstGeom prst="rect">
            <a:avLst/>
          </a:prstGeom>
          <a:noFill/>
        </p:spPr>
        <p:txBody>
          <a:bodyPr wrap="square" lIns="0" tIns="0" rIns="0" bIns="0" anchor="t">
            <a:noAutofit/>
          </a:bodyPr>
          <a:lstStyle/>
          <a:p>
            <a:pPr marL="274320" indent="-274320" algn="l">
              <a:lnSpc>
                <a:spcPct val="114999"/>
              </a:lnSpc>
              <a:spcAft>
                <a:spcPts val="800"/>
              </a:spcAft>
              <a:buClr>
                <a:srgbClr val="A64B00"/>
              </a:buClr>
              <a:buSzPct val="65000"/>
              <a:buFont typeface="Arial" panose="020B0604020202020204" pitchFamily="34" charset="0"/>
              <a:buChar char="•"/>
            </a:pPr>
            <a:r>
              <a:rPr lang="en-US" sz="2200" b="0" i="0">
                <a:solidFill>
                  <a:srgbClr val="1D2433"/>
                </a:solidFill>
                <a:latin typeface="Raleway"/>
              </a:rPr>
              <a:t>Run it as it is; read the message from the last line up</a:t>
            </a:r>
          </a:p>
          <a:p>
            <a:pPr marL="274320" indent="-274320" algn="l">
              <a:lnSpc>
                <a:spcPct val="114999"/>
              </a:lnSpc>
              <a:spcAft>
                <a:spcPts val="800"/>
              </a:spcAft>
              <a:buClr>
                <a:srgbClr val="A64B00"/>
              </a:buClr>
              <a:buSzPct val="65000"/>
              <a:buFont typeface="Arial" panose="020B0604020202020204" pitchFamily="34" charset="0"/>
              <a:buChar char="•"/>
            </a:pPr>
            <a:r>
              <a:rPr lang="en-US" sz="2200" b="0" i="0">
                <a:solidFill>
                  <a:srgbClr val="1D2433"/>
                </a:solidFill>
                <a:latin typeface="Raleway"/>
              </a:rPr>
              <a:t>Fix one bug, run again, read the next message</a:t>
            </a:r>
          </a:p>
          <a:p>
            <a:pPr marL="274320" indent="-274320" algn="l">
              <a:lnSpc>
                <a:spcPct val="114999"/>
              </a:lnSpc>
              <a:spcAft>
                <a:spcPts val="800"/>
              </a:spcAft>
              <a:buClr>
                <a:srgbClr val="A64B00"/>
              </a:buClr>
              <a:buSzPct val="65000"/>
              <a:buFont typeface="Arial" panose="020B0604020202020204" pitchFamily="34" charset="0"/>
              <a:buChar char="•"/>
            </a:pPr>
            <a:r>
              <a:rPr lang="en-US" sz="2200" b="0" i="0">
                <a:solidFill>
                  <a:srgbClr val="1D2433"/>
                </a:solidFill>
                <a:latin typeface="Raleway"/>
              </a:rPr>
              <a:t>The third bug prints no message: the program runs, the answer is wrong</a:t>
            </a:r>
          </a:p>
        </p:txBody>
      </p:sp>
      <p:sp>
        <p:nvSpPr>
          <p:cNvPr id="14" name="Terminal"/>
          <p:cNvSpPr/>
          <p:nvPr/>
        </p:nvSpPr>
        <p:spPr>
          <a:xfrm>
            <a:off x="7315200" y="1965960"/>
            <a:ext cx="4233672" cy="1837944"/>
          </a:xfrm>
          <a:prstGeom prst="roundRect">
            <a:avLst>
              <a:gd name="adj" fmla="val 4000"/>
            </a:avLst>
          </a:prstGeom>
          <a:solidFill>
            <a:srgbClr val="111318"/>
          </a:solidFill>
          <a:ln w="12700">
            <a:solidFill>
              <a:srgbClr val="D8DBE0"/>
            </a:solidFill>
          </a:ln>
        </p:spPr>
        <p:txBody>
          <a:bodyPr rtlCol="0" anchor="ctr"/>
          <a:lstStyle/>
          <a:p>
            <a:endParaRPr/>
          </a:p>
        </p:txBody>
      </p:sp>
      <p:sp>
        <p:nvSpPr>
          <p:cNvPr id="15" name="Terminal header"/>
          <p:cNvSpPr/>
          <p:nvPr/>
        </p:nvSpPr>
        <p:spPr>
          <a:xfrm>
            <a:off x="7315200" y="1965960"/>
            <a:ext cx="4233672" cy="384048"/>
          </a:xfrm>
          <a:prstGeom prst="roundRect">
            <a:avLst>
              <a:gd name="adj" fmla="val 10000"/>
            </a:avLst>
          </a:prstGeom>
          <a:solidFill>
            <a:srgbClr val="1B1E26"/>
          </a:solidFill>
          <a:ln w="12700">
            <a:solidFill>
              <a:srgbClr val="D8DBE0"/>
            </a:solidFill>
          </a:ln>
        </p:spPr>
        <p:txBody>
          <a:bodyPr rtlCol="0" anchor="ctr"/>
          <a:lstStyle/>
          <a:p>
            <a:endParaRPr/>
          </a:p>
        </p:txBody>
      </p:sp>
      <p:sp>
        <p:nvSpPr>
          <p:cNvPr id="16" name="Terminal header fill"/>
          <p:cNvSpPr/>
          <p:nvPr/>
        </p:nvSpPr>
        <p:spPr>
          <a:xfrm>
            <a:off x="7333488" y="2157984"/>
            <a:ext cx="4197096" cy="192024"/>
          </a:xfrm>
          <a:prstGeom prst="rect">
            <a:avLst/>
          </a:prstGeom>
          <a:solidFill>
            <a:srgbClr val="1B1E26"/>
          </a:solidFill>
          <a:ln>
            <a:noFill/>
          </a:ln>
        </p:spPr>
        <p:txBody>
          <a:bodyPr rtlCol="0" anchor="ctr"/>
          <a:lstStyle/>
          <a:p>
            <a:endParaRPr/>
          </a:p>
        </p:txBody>
      </p:sp>
      <p:sp>
        <p:nvSpPr>
          <p:cNvPr id="17" name="Terminal label"/>
          <p:cNvSpPr txBox="1"/>
          <p:nvPr/>
        </p:nvSpPr>
        <p:spPr>
          <a:xfrm>
            <a:off x="7589520" y="1965960"/>
            <a:ext cx="3776472" cy="384048"/>
          </a:xfrm>
          <a:prstGeom prst="rect">
            <a:avLst/>
          </a:prstGeom>
          <a:noFill/>
        </p:spPr>
        <p:txBody>
          <a:bodyPr wrap="square" lIns="0" tIns="0" rIns="0" bIns="0" anchor="ctr">
            <a:noAutofit/>
          </a:bodyPr>
          <a:lstStyle/>
          <a:p>
            <a:pPr algn="l"/>
            <a:r>
              <a:rPr lang="en-US" sz="1200" b="0" i="0">
                <a:solidFill>
                  <a:srgbClr val="E9EAEE"/>
                </a:solidFill>
                <a:latin typeface="Consolas"/>
              </a:rPr>
              <a:t>terminal</a:t>
            </a:r>
          </a:p>
        </p:txBody>
      </p:sp>
      <p:sp>
        <p:nvSpPr>
          <p:cNvPr id="18" name="Output"/>
          <p:cNvSpPr txBox="1"/>
          <p:nvPr/>
        </p:nvSpPr>
        <p:spPr>
          <a:xfrm>
            <a:off x="7589520" y="2478024"/>
            <a:ext cx="3776472" cy="1234440"/>
          </a:xfrm>
          <a:prstGeom prst="rect">
            <a:avLst/>
          </a:prstGeom>
          <a:noFill/>
        </p:spPr>
        <p:txBody>
          <a:bodyPr wrap="none" lIns="0" tIns="0" rIns="0" bIns="0" anchor="t">
            <a:noAutofit/>
          </a:bodyPr>
          <a:lstStyle/>
          <a:p>
            <a:pPr algn="l"/>
            <a:r>
              <a:rPr lang="en-US" sz="1500" b="0" i="0">
                <a:solidFill>
                  <a:srgbClr val="E9EAEE"/>
                </a:solidFill>
                <a:latin typeface="Consolas"/>
              </a:rPr>
              <a:t>$ python average.py</a:t>
            </a:r>
          </a:p>
          <a:p>
            <a:pPr algn="l"/>
            <a:r>
              <a:rPr lang="en-US" sz="1500" b="0" i="0">
                <a:solidFill>
                  <a:srgbClr val="E9EAEE"/>
                </a:solidFill>
                <a:latin typeface="Consolas"/>
              </a:rPr>
              <a:t>  File "average.py", line 5</a:t>
            </a:r>
          </a:p>
          <a:p>
            <a:pPr algn="l"/>
            <a:r>
              <a:rPr lang="en-US" sz="1500" b="0" i="0">
                <a:solidFill>
                  <a:srgbClr val="E9EAEE"/>
                </a:solidFill>
                <a:latin typeface="Consolas"/>
              </a:rPr>
              <a:t>    print(f"Average: {average}"</a:t>
            </a:r>
          </a:p>
          <a:p>
            <a:pPr algn="l"/>
            <a:r>
              <a:rPr lang="en-US" sz="1500" b="0" i="0">
                <a:solidFill>
                  <a:srgbClr val="E9EAEE"/>
                </a:solidFill>
                <a:latin typeface="Consolas"/>
              </a:rPr>
              <a:t>         ^</a:t>
            </a:r>
          </a:p>
          <a:p>
            <a:pPr algn="l"/>
            <a:r>
              <a:rPr lang="en-US" sz="1500" b="0" i="0">
                <a:solidFill>
                  <a:srgbClr val="E9EAEE"/>
                </a:solidFill>
                <a:latin typeface="Consolas"/>
              </a:rPr>
              <a:t>SyntaxError: '(' was never closed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15 - Solution - Exercise 3: the three bugs, fixed">
    <p:spTree>
      <p:nvGrpSpPr>
        <p:cNvPr id="1" name=""/>
        <p:cNvGrpSpPr/>
        <p:nvPr/>
      </p:nvGrpSpPr>
      <p:grpSpPr>
        <a:xfrm>
          <a:off x="0" y="0"/>
          <a:ext cx="0" cy="0"/>
          <a:chOff x="0" y="0"/>
          <a:chExt cx="0" cy="0"/>
        </a:xfrm>
      </p:grpSpPr>
      <p:sp>
        <p:nvSpPr>
          <p:cNvPr id="2" name="Slide number"/>
          <p:cNvSpPr txBox="1"/>
          <p:nvPr/>
        </p:nvSpPr>
        <p:spPr>
          <a:xfrm>
            <a:off x="11430000" y="6446520"/>
            <a:ext cx="548640" cy="320040"/>
          </a:xfrm>
          <a:prstGeom prst="rect">
            <a:avLst/>
          </a:prstGeom>
          <a:noFill/>
        </p:spPr>
        <p:txBody>
          <a:bodyPr wrap="none" lIns="0" tIns="0" rIns="0" bIns="0" anchor="ctr">
            <a:spAutoFit/>
          </a:bodyPr>
          <a:lstStyle/>
          <a:p>
            <a:pPr algn="r"/>
            <a:fld id="{007A6A40-1A7B-4A1B-9D78-D7D11C5A8472}" type="slidenum">
              <a:rPr lang="en-US" sz="1200">
                <a:solidFill>
                  <a:srgbClr val="1B3A5C"/>
                </a:solidFill>
                <a:latin typeface="Raleway"/>
              </a:rPr>
              <a:t>17</a:t>
            </a:fld>
            <a:endParaRPr lang="en-US" sz="1200">
              <a:solidFill>
                <a:srgbClr val="1B3A5C"/>
              </a:solidFill>
              <a:latin typeface="Raleway"/>
            </a:endParaRPr>
          </a:p>
        </p:txBody>
      </p:sp>
      <p:sp>
        <p:nvSpPr>
          <p:cNvPr id="3" name="Title"/>
          <p:cNvSpPr txBox="1"/>
          <p:nvPr/>
        </p:nvSpPr>
        <p:spPr>
          <a:xfrm>
            <a:off x="640080" y="502920"/>
            <a:ext cx="11411712" cy="822960"/>
          </a:xfrm>
          <a:prstGeom prst="rect">
            <a:avLst/>
          </a:prstGeom>
          <a:noFill/>
        </p:spPr>
        <p:txBody>
          <a:bodyPr wrap="square" lIns="0" tIns="0" rIns="0" bIns="0" anchor="ctr">
            <a:noAutofit/>
          </a:bodyPr>
          <a:lstStyle/>
          <a:p>
            <a:pPr algn="l"/>
            <a:r>
              <a:rPr lang="en-US" sz="4000" b="1" i="0">
                <a:solidFill>
                  <a:srgbClr val="1F4E79"/>
                </a:solidFill>
                <a:latin typeface="Raleway"/>
              </a:rPr>
              <a:t>Exercise 3: the three bugs, fixed</a:t>
            </a:r>
          </a:p>
        </p:txBody>
      </p:sp>
      <p:sp>
        <p:nvSpPr>
          <p:cNvPr id="4" name="Code card"/>
          <p:cNvSpPr/>
          <p:nvPr/>
        </p:nvSpPr>
        <p:spPr>
          <a:xfrm>
            <a:off x="640080" y="1508760"/>
            <a:ext cx="6766560" cy="2142744"/>
          </a:xfrm>
          <a:prstGeom prst="roundRect">
            <a:avLst>
              <a:gd name="adj" fmla="val 4000"/>
            </a:avLst>
          </a:prstGeom>
          <a:solidFill>
            <a:srgbClr val="111318"/>
          </a:solidFill>
          <a:ln w="12700">
            <a:solidFill>
              <a:srgbClr val="D8DBE0"/>
            </a:solidFill>
          </a:ln>
        </p:spPr>
        <p:txBody>
          <a:bodyPr rtlCol="0" anchor="ctr"/>
          <a:lstStyle/>
          <a:p>
            <a:endParaRPr/>
          </a:p>
        </p:txBody>
      </p:sp>
      <p:sp>
        <p:nvSpPr>
          <p:cNvPr id="5" name="Code card header"/>
          <p:cNvSpPr/>
          <p:nvPr/>
        </p:nvSpPr>
        <p:spPr>
          <a:xfrm>
            <a:off x="640080" y="1508760"/>
            <a:ext cx="6766560" cy="384048"/>
          </a:xfrm>
          <a:prstGeom prst="roundRect">
            <a:avLst>
              <a:gd name="adj" fmla="val 10000"/>
            </a:avLst>
          </a:prstGeom>
          <a:solidFill>
            <a:srgbClr val="1B1E26"/>
          </a:solidFill>
          <a:ln w="12700">
            <a:solidFill>
              <a:srgbClr val="D8DBE0"/>
            </a:solidFill>
          </a:ln>
        </p:spPr>
        <p:txBody>
          <a:bodyPr rtlCol="0" anchor="ctr"/>
          <a:lstStyle/>
          <a:p>
            <a:endParaRPr/>
          </a:p>
        </p:txBody>
      </p:sp>
      <p:sp>
        <p:nvSpPr>
          <p:cNvPr id="6" name="Code card header fill"/>
          <p:cNvSpPr/>
          <p:nvPr/>
        </p:nvSpPr>
        <p:spPr>
          <a:xfrm>
            <a:off x="658368" y="1700784"/>
            <a:ext cx="6729984" cy="192024"/>
          </a:xfrm>
          <a:prstGeom prst="rect">
            <a:avLst/>
          </a:prstGeom>
          <a:solidFill>
            <a:srgbClr val="1B1E26"/>
          </a:solidFill>
          <a:ln>
            <a:noFill/>
          </a:ln>
        </p:spPr>
        <p:txBody>
          <a:bodyPr rtlCol="0" anchor="ctr"/>
          <a:lstStyle/>
          <a:p>
            <a:endParaRPr/>
          </a:p>
        </p:txBody>
      </p:sp>
      <p:sp>
        <p:nvSpPr>
          <p:cNvPr id="7" name="Oval 6"/>
          <p:cNvSpPr/>
          <p:nvPr/>
        </p:nvSpPr>
        <p:spPr>
          <a:xfrm>
            <a:off x="868680" y="1645919"/>
            <a:ext cx="118872" cy="118872"/>
          </a:xfrm>
          <a:prstGeom prst="ellipse">
            <a:avLst/>
          </a:prstGeom>
          <a:solidFill>
            <a:srgbClr val="FF6B6B"/>
          </a:solidFill>
          <a:ln>
            <a:noFill/>
          </a:ln>
        </p:spPr>
        <p:txBody>
          <a:bodyPr rtlCol="0" anchor="ctr"/>
          <a:lstStyle/>
          <a:p>
            <a:pPr algn="ctr"/>
            <a:endParaRPr/>
          </a:p>
        </p:txBody>
      </p:sp>
      <p:sp>
        <p:nvSpPr>
          <p:cNvPr id="8" name="Oval 7"/>
          <p:cNvSpPr/>
          <p:nvPr/>
        </p:nvSpPr>
        <p:spPr>
          <a:xfrm>
            <a:off x="1143000" y="1645919"/>
            <a:ext cx="118872" cy="118872"/>
          </a:xfrm>
          <a:prstGeom prst="ellipse">
            <a:avLst/>
          </a:prstGeom>
          <a:solidFill>
            <a:srgbClr val="FFD94A"/>
          </a:solidFill>
          <a:ln>
            <a:noFill/>
          </a:ln>
        </p:spPr>
        <p:txBody>
          <a:bodyPr rtlCol="0" anchor="ctr"/>
          <a:lstStyle/>
          <a:p>
            <a:pPr algn="ctr"/>
            <a:endParaRPr/>
          </a:p>
        </p:txBody>
      </p:sp>
      <p:sp>
        <p:nvSpPr>
          <p:cNvPr id="9" name="Oval 8"/>
          <p:cNvSpPr/>
          <p:nvPr/>
        </p:nvSpPr>
        <p:spPr>
          <a:xfrm>
            <a:off x="1417319" y="1645919"/>
            <a:ext cx="118872" cy="118872"/>
          </a:xfrm>
          <a:prstGeom prst="ellipse">
            <a:avLst/>
          </a:prstGeom>
          <a:solidFill>
            <a:srgbClr val="8FE3AB"/>
          </a:solidFill>
          <a:ln>
            <a:noFill/>
          </a:ln>
        </p:spPr>
        <p:txBody>
          <a:bodyPr rtlCol="0" anchor="ctr"/>
          <a:lstStyle/>
          <a:p>
            <a:pPr algn="ctr"/>
            <a:endParaRPr/>
          </a:p>
        </p:txBody>
      </p:sp>
      <p:sp>
        <p:nvSpPr>
          <p:cNvPr id="10" name="Filename"/>
          <p:cNvSpPr txBox="1"/>
          <p:nvPr/>
        </p:nvSpPr>
        <p:spPr>
          <a:xfrm>
            <a:off x="1828800" y="1508760"/>
            <a:ext cx="5394960" cy="384048"/>
          </a:xfrm>
          <a:prstGeom prst="rect">
            <a:avLst/>
          </a:prstGeom>
          <a:noFill/>
        </p:spPr>
        <p:txBody>
          <a:bodyPr wrap="square" lIns="0" tIns="0" rIns="0" bIns="0" anchor="ctr">
            <a:noAutofit/>
          </a:bodyPr>
          <a:lstStyle/>
          <a:p>
            <a:pPr algn="l"/>
            <a:r>
              <a:rPr lang="en-US" sz="1200" b="0" i="0">
                <a:solidFill>
                  <a:srgbClr val="E9EAEE"/>
                </a:solidFill>
                <a:latin typeface="Consolas"/>
              </a:rPr>
              <a:t>average.py</a:t>
            </a:r>
          </a:p>
        </p:txBody>
      </p:sp>
      <p:sp>
        <p:nvSpPr>
          <p:cNvPr id="11" name="Code"/>
          <p:cNvSpPr txBox="1"/>
          <p:nvPr/>
        </p:nvSpPr>
        <p:spPr>
          <a:xfrm>
            <a:off x="1005840" y="2002536"/>
            <a:ext cx="6126480" cy="1557528"/>
          </a:xfrm>
          <a:prstGeom prst="rect">
            <a:avLst/>
          </a:prstGeom>
          <a:noFill/>
        </p:spPr>
        <p:txBody>
          <a:bodyPr wrap="none" lIns="0" tIns="0" rIns="0" bIns="0" anchor="t">
            <a:noAutofit/>
          </a:bodyPr>
          <a:lstStyle/>
          <a:p>
            <a:pPr algn="l"/>
            <a:r>
              <a:rPr lang="en-US" sz="1900" b="0" i="0">
                <a:solidFill>
                  <a:srgbClr val="E9EAEE"/>
                </a:solidFill>
                <a:latin typeface="Consolas"/>
              </a:rPr>
              <a:t># average.py - the average of two grades</a:t>
            </a:r>
          </a:p>
          <a:p>
            <a:pPr algn="l"/>
            <a:r>
              <a:rPr lang="en-US" sz="1900" b="0" i="0">
                <a:solidFill>
                  <a:srgbClr val="E9EAEE"/>
                </a:solidFill>
                <a:latin typeface="Consolas"/>
              </a:rPr>
              <a:t>first = </a:t>
            </a:r>
            <a:r>
              <a:rPr lang="en-US" sz="1900" b="0" i="0">
                <a:solidFill>
                  <a:srgbClr val="F5B759"/>
                </a:solidFill>
                <a:latin typeface="Consolas"/>
              </a:rPr>
              <a:t>float</a:t>
            </a:r>
            <a:r>
              <a:rPr lang="en-US" sz="1900" b="0" i="0">
                <a:solidFill>
                  <a:srgbClr val="E9EAEE"/>
                </a:solidFill>
                <a:latin typeface="Consolas"/>
              </a:rPr>
              <a:t>(</a:t>
            </a:r>
            <a:r>
              <a:rPr lang="en-US" sz="1900" b="0" i="0">
                <a:solidFill>
                  <a:srgbClr val="F5B759"/>
                </a:solidFill>
                <a:latin typeface="Consolas"/>
              </a:rPr>
              <a:t>input</a:t>
            </a:r>
            <a:r>
              <a:rPr lang="en-US" sz="1900" b="0" i="0">
                <a:solidFill>
                  <a:srgbClr val="E9EAEE"/>
                </a:solidFill>
                <a:latin typeface="Consolas"/>
              </a:rPr>
              <a:t>("First grade: "))</a:t>
            </a:r>
          </a:p>
          <a:p>
            <a:pPr algn="l"/>
            <a:r>
              <a:rPr lang="en-US" sz="1900" b="0" i="0">
                <a:solidFill>
                  <a:srgbClr val="E9EAEE"/>
                </a:solidFill>
                <a:latin typeface="Consolas"/>
              </a:rPr>
              <a:t>second = </a:t>
            </a:r>
            <a:r>
              <a:rPr lang="en-US" sz="1900" b="0" i="0">
                <a:solidFill>
                  <a:srgbClr val="F5B759"/>
                </a:solidFill>
                <a:latin typeface="Consolas"/>
              </a:rPr>
              <a:t>float</a:t>
            </a:r>
            <a:r>
              <a:rPr lang="en-US" sz="1900" b="0" i="0">
                <a:solidFill>
                  <a:srgbClr val="E9EAEE"/>
                </a:solidFill>
                <a:latin typeface="Consolas"/>
              </a:rPr>
              <a:t>(</a:t>
            </a:r>
            <a:r>
              <a:rPr lang="en-US" sz="1900" b="0" i="0">
                <a:solidFill>
                  <a:srgbClr val="F5B759"/>
                </a:solidFill>
                <a:latin typeface="Consolas"/>
              </a:rPr>
              <a:t>input</a:t>
            </a:r>
            <a:r>
              <a:rPr lang="en-US" sz="1900" b="0" i="0">
                <a:solidFill>
                  <a:srgbClr val="E9EAEE"/>
                </a:solidFill>
                <a:latin typeface="Consolas"/>
              </a:rPr>
              <a:t>("Second grade: "))</a:t>
            </a:r>
          </a:p>
          <a:p>
            <a:pPr algn="l"/>
            <a:r>
              <a:rPr lang="en-US" sz="1900" b="0" i="0">
                <a:solidFill>
                  <a:srgbClr val="E9EAEE"/>
                </a:solidFill>
                <a:latin typeface="Consolas"/>
              </a:rPr>
              <a:t>average = (first + second) / 2</a:t>
            </a:r>
          </a:p>
          <a:p>
            <a:pPr algn="l"/>
            <a:r>
              <a:rPr lang="en-US" sz="1900" b="0" i="0">
                <a:solidFill>
                  <a:srgbClr val="F5B759"/>
                </a:solidFill>
                <a:latin typeface="Consolas"/>
              </a:rPr>
              <a:t>print</a:t>
            </a:r>
            <a:r>
              <a:rPr lang="en-US" sz="1900" b="0" i="0">
                <a:solidFill>
                  <a:srgbClr val="E9EAEE"/>
                </a:solidFill>
                <a:latin typeface="Consolas"/>
              </a:rPr>
              <a:t>(f"Average: {average}")</a:t>
            </a:r>
          </a:p>
        </p:txBody>
      </p:sp>
      <p:sp>
        <p:nvSpPr>
          <p:cNvPr id="12" name="Panel"/>
          <p:cNvSpPr/>
          <p:nvPr/>
        </p:nvSpPr>
        <p:spPr>
          <a:xfrm>
            <a:off x="7772400" y="1508760"/>
            <a:ext cx="3776472" cy="3346703"/>
          </a:xfrm>
          <a:prstGeom prst="roundRect">
            <a:avLst>
              <a:gd name="adj" fmla="val 6000"/>
            </a:avLst>
          </a:prstGeom>
          <a:solidFill>
            <a:srgbClr val="F2F3F5"/>
          </a:solidFill>
          <a:ln w="12700">
            <a:solidFill>
              <a:srgbClr val="D8DBE0"/>
            </a:solidFill>
          </a:ln>
        </p:spPr>
        <p:txBody>
          <a:bodyPr rtlCol="0" anchor="ctr"/>
          <a:lstStyle/>
          <a:p>
            <a:endParaRPr/>
          </a:p>
        </p:txBody>
      </p:sp>
      <p:sp>
        <p:nvSpPr>
          <p:cNvPr id="13" name="Panel text"/>
          <p:cNvSpPr txBox="1"/>
          <p:nvPr/>
        </p:nvSpPr>
        <p:spPr>
          <a:xfrm>
            <a:off x="7909560" y="1618488"/>
            <a:ext cx="3502152" cy="3127248"/>
          </a:xfrm>
          <a:prstGeom prst="rect">
            <a:avLst/>
          </a:prstGeom>
          <a:noFill/>
        </p:spPr>
        <p:txBody>
          <a:bodyPr wrap="square" lIns="0" tIns="0" rIns="0" bIns="0" anchor="t">
            <a:noAutofit/>
          </a:bodyPr>
          <a:lstStyle/>
          <a:p>
            <a:pPr algn="l">
              <a:spcAft>
                <a:spcPts val="600"/>
              </a:spcAft>
            </a:pPr>
            <a:r>
              <a:rPr lang="en-US" sz="2200" b="0" i="0">
                <a:solidFill>
                  <a:srgbClr val="A64B00"/>
                </a:solidFill>
                <a:latin typeface="Raleway"/>
              </a:rPr>
              <a:t>One of each kind</a:t>
            </a:r>
          </a:p>
          <a:p>
            <a:pPr marL="201168" indent="-201168" algn="l">
              <a:spcAft>
                <a:spcPts val="600"/>
              </a:spcAft>
              <a:buSzPct val="65000"/>
              <a:buFont typeface="Arial" panose="020B0604020202020204" pitchFamily="34" charset="0"/>
              <a:buChar char="•"/>
            </a:pPr>
            <a:r>
              <a:rPr lang="en-US" sz="1600" b="0" i="0">
                <a:solidFill>
                  <a:srgbClr val="A64B00"/>
                </a:solidFill>
                <a:latin typeface="Raleway"/>
              </a:rPr>
              <a:t>Syntax:</a:t>
            </a:r>
            <a:r>
              <a:rPr lang="en-US" sz="1600" b="0" i="0">
                <a:solidFill>
                  <a:srgbClr val="1D2433"/>
                </a:solidFill>
                <a:latin typeface="Raleway"/>
              </a:rPr>
              <a:t> the missing </a:t>
            </a:r>
            <a:r>
              <a:rPr lang="en-US" sz="1600" b="0" i="0">
                <a:solidFill>
                  <a:srgbClr val="1D2433"/>
                </a:solidFill>
                <a:latin typeface="Consolas"/>
              </a:rPr>
              <a:t>)</a:t>
            </a:r>
            <a:r>
              <a:rPr lang="en-US" sz="1600" b="0" i="0">
                <a:solidFill>
                  <a:srgbClr val="1D2433"/>
                </a:solidFill>
                <a:latin typeface="Raleway"/>
              </a:rPr>
              <a:t> on line 5 - Python refuses to run anything until it is fixed</a:t>
            </a:r>
          </a:p>
          <a:p>
            <a:pPr marL="201168" indent="-201168" algn="l">
              <a:spcAft>
                <a:spcPts val="600"/>
              </a:spcAft>
              <a:buSzPct val="65000"/>
              <a:buFont typeface="Arial" panose="020B0604020202020204" pitchFamily="34" charset="0"/>
              <a:buChar char="•"/>
            </a:pPr>
            <a:r>
              <a:rPr lang="en-US" sz="1600" b="0" i="0">
                <a:solidFill>
                  <a:srgbClr val="A64B00"/>
                </a:solidFill>
                <a:latin typeface="Raleway"/>
              </a:rPr>
              <a:t>Runtime:</a:t>
            </a:r>
            <a:r>
              <a:rPr lang="en-US" sz="1600" b="0" i="0">
                <a:solidFill>
                  <a:srgbClr val="1D2433"/>
                </a:solidFill>
                <a:latin typeface="Raleway"/>
              </a:rPr>
              <a:t> </a:t>
            </a:r>
            <a:r>
              <a:rPr lang="en-US" sz="1600" b="0" i="0">
                <a:solidFill>
                  <a:srgbClr val="1D2433"/>
                </a:solidFill>
                <a:latin typeface="Consolas"/>
              </a:rPr>
              <a:t>second / 2</a:t>
            </a:r>
            <a:r>
              <a:rPr lang="en-US" sz="1600" b="0" i="0">
                <a:solidFill>
                  <a:srgbClr val="1D2433"/>
                </a:solidFill>
                <a:latin typeface="Raleway"/>
              </a:rPr>
              <a:t> divides text by a number - TypeError the moment that line runs; cast both inputs</a:t>
            </a:r>
          </a:p>
          <a:p>
            <a:pPr marL="201168" indent="-201168" algn="l">
              <a:spcAft>
                <a:spcPts val="600"/>
              </a:spcAft>
              <a:buSzPct val="65000"/>
              <a:buFont typeface="Arial" panose="020B0604020202020204" pitchFamily="34" charset="0"/>
              <a:buChar char="•"/>
            </a:pPr>
            <a:r>
              <a:rPr lang="en-US" sz="1600" b="0" i="0">
                <a:solidFill>
                  <a:srgbClr val="A64B00"/>
                </a:solidFill>
                <a:latin typeface="Raleway"/>
              </a:rPr>
              <a:t>Logical:</a:t>
            </a:r>
            <a:r>
              <a:rPr lang="en-US" sz="1600" b="0" i="0">
                <a:solidFill>
                  <a:srgbClr val="1D2433"/>
                </a:solidFill>
                <a:latin typeface="Raleway"/>
              </a:rPr>
              <a:t> </a:t>
            </a:r>
            <a:r>
              <a:rPr lang="en-US" sz="1600" b="0" i="0">
                <a:solidFill>
                  <a:srgbClr val="1D2433"/>
                </a:solidFill>
                <a:latin typeface="Consolas"/>
              </a:rPr>
              <a:t>first + second / 2</a:t>
            </a:r>
            <a:r>
              <a:rPr lang="en-US" sz="1600" b="0" i="0">
                <a:solidFill>
                  <a:srgbClr val="1D2433"/>
                </a:solidFill>
                <a:latin typeface="Raleway"/>
              </a:rPr>
              <a:t> adds first to half of second; parentheses fix the precedence</a:t>
            </a:r>
          </a:p>
        </p:txBody>
      </p:sp>
      <p:sp>
        <p:nvSpPr>
          <p:cNvPr id="14" name="Terminal"/>
          <p:cNvSpPr/>
          <p:nvPr/>
        </p:nvSpPr>
        <p:spPr>
          <a:xfrm>
            <a:off x="640080" y="3834384"/>
            <a:ext cx="6766560" cy="1426464"/>
          </a:xfrm>
          <a:prstGeom prst="roundRect">
            <a:avLst>
              <a:gd name="adj" fmla="val 4000"/>
            </a:avLst>
          </a:prstGeom>
          <a:solidFill>
            <a:srgbClr val="111318"/>
          </a:solidFill>
          <a:ln w="12700">
            <a:solidFill>
              <a:srgbClr val="D8DBE0"/>
            </a:solidFill>
          </a:ln>
        </p:spPr>
        <p:txBody>
          <a:bodyPr rtlCol="0" anchor="ctr"/>
          <a:lstStyle/>
          <a:p>
            <a:endParaRPr/>
          </a:p>
        </p:txBody>
      </p:sp>
      <p:sp>
        <p:nvSpPr>
          <p:cNvPr id="15" name="Terminal header"/>
          <p:cNvSpPr/>
          <p:nvPr/>
        </p:nvSpPr>
        <p:spPr>
          <a:xfrm>
            <a:off x="640080" y="3834384"/>
            <a:ext cx="6766560" cy="384048"/>
          </a:xfrm>
          <a:prstGeom prst="roundRect">
            <a:avLst>
              <a:gd name="adj" fmla="val 10000"/>
            </a:avLst>
          </a:prstGeom>
          <a:solidFill>
            <a:srgbClr val="1B1E26"/>
          </a:solidFill>
          <a:ln w="12700">
            <a:solidFill>
              <a:srgbClr val="D8DBE0"/>
            </a:solidFill>
          </a:ln>
        </p:spPr>
        <p:txBody>
          <a:bodyPr rtlCol="0" anchor="ctr"/>
          <a:lstStyle/>
          <a:p>
            <a:endParaRPr/>
          </a:p>
        </p:txBody>
      </p:sp>
      <p:sp>
        <p:nvSpPr>
          <p:cNvPr id="16" name="Terminal header fill"/>
          <p:cNvSpPr/>
          <p:nvPr/>
        </p:nvSpPr>
        <p:spPr>
          <a:xfrm>
            <a:off x="658368" y="4026408"/>
            <a:ext cx="6729984" cy="192024"/>
          </a:xfrm>
          <a:prstGeom prst="rect">
            <a:avLst/>
          </a:prstGeom>
          <a:solidFill>
            <a:srgbClr val="1B1E26"/>
          </a:solidFill>
          <a:ln>
            <a:noFill/>
          </a:ln>
        </p:spPr>
        <p:txBody>
          <a:bodyPr rtlCol="0" anchor="ctr"/>
          <a:lstStyle/>
          <a:p>
            <a:endParaRPr/>
          </a:p>
        </p:txBody>
      </p:sp>
      <p:sp>
        <p:nvSpPr>
          <p:cNvPr id="17" name="Terminal label"/>
          <p:cNvSpPr txBox="1"/>
          <p:nvPr/>
        </p:nvSpPr>
        <p:spPr>
          <a:xfrm>
            <a:off x="914400" y="3834384"/>
            <a:ext cx="6309360" cy="384048"/>
          </a:xfrm>
          <a:prstGeom prst="rect">
            <a:avLst/>
          </a:prstGeom>
          <a:noFill/>
        </p:spPr>
        <p:txBody>
          <a:bodyPr wrap="square" lIns="0" tIns="0" rIns="0" bIns="0" anchor="ctr">
            <a:noAutofit/>
          </a:bodyPr>
          <a:lstStyle/>
          <a:p>
            <a:pPr algn="l"/>
            <a:r>
              <a:rPr lang="en-US" sz="1200" b="0" i="0">
                <a:solidFill>
                  <a:srgbClr val="E9EAEE"/>
                </a:solidFill>
                <a:latin typeface="Consolas"/>
              </a:rPr>
              <a:t>python average.py</a:t>
            </a:r>
          </a:p>
        </p:txBody>
      </p:sp>
      <p:sp>
        <p:nvSpPr>
          <p:cNvPr id="18" name="Output"/>
          <p:cNvSpPr txBox="1"/>
          <p:nvPr/>
        </p:nvSpPr>
        <p:spPr>
          <a:xfrm>
            <a:off x="914400" y="4346448"/>
            <a:ext cx="6309360" cy="822960"/>
          </a:xfrm>
          <a:prstGeom prst="rect">
            <a:avLst/>
          </a:prstGeom>
          <a:noFill/>
        </p:spPr>
        <p:txBody>
          <a:bodyPr wrap="none" lIns="0" tIns="0" rIns="0" bIns="0" anchor="t">
            <a:noAutofit/>
          </a:bodyPr>
          <a:lstStyle/>
          <a:p>
            <a:pPr algn="l"/>
            <a:r>
              <a:rPr lang="en-US" sz="1600" b="0" i="0">
                <a:solidFill>
                  <a:srgbClr val="E9EAEE"/>
                </a:solidFill>
                <a:latin typeface="Consolas"/>
              </a:rPr>
              <a:t>First grade: 80</a:t>
            </a:r>
          </a:p>
          <a:p>
            <a:pPr algn="l"/>
            <a:r>
              <a:rPr lang="en-US" sz="1600" b="0" i="0">
                <a:solidFill>
                  <a:srgbClr val="E9EAEE"/>
                </a:solidFill>
                <a:latin typeface="Consolas"/>
              </a:rPr>
              <a:t>Second grade: 90</a:t>
            </a:r>
          </a:p>
          <a:p>
            <a:pPr algn="l"/>
            <a:r>
              <a:rPr lang="en-US" sz="1600" b="0" i="0">
                <a:solidFill>
                  <a:srgbClr val="E9EAEE"/>
                </a:solidFill>
                <a:latin typeface="Consolas"/>
              </a:rPr>
              <a:t>Average: 85.0</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16 - Concept - Reading a traceback">
    <p:spTree>
      <p:nvGrpSpPr>
        <p:cNvPr id="1" name=""/>
        <p:cNvGrpSpPr/>
        <p:nvPr/>
      </p:nvGrpSpPr>
      <p:grpSpPr>
        <a:xfrm>
          <a:off x="0" y="0"/>
          <a:ext cx="0" cy="0"/>
          <a:chOff x="0" y="0"/>
          <a:chExt cx="0" cy="0"/>
        </a:xfrm>
      </p:grpSpPr>
      <p:sp>
        <p:nvSpPr>
          <p:cNvPr id="2" name="Slide number"/>
          <p:cNvSpPr txBox="1"/>
          <p:nvPr/>
        </p:nvSpPr>
        <p:spPr>
          <a:xfrm>
            <a:off x="11430000" y="6446520"/>
            <a:ext cx="548640" cy="320040"/>
          </a:xfrm>
          <a:prstGeom prst="rect">
            <a:avLst/>
          </a:prstGeom>
          <a:noFill/>
        </p:spPr>
        <p:txBody>
          <a:bodyPr wrap="none" lIns="0" tIns="0" rIns="0" bIns="0" anchor="ctr">
            <a:spAutoFit/>
          </a:bodyPr>
          <a:lstStyle/>
          <a:p>
            <a:pPr algn="r"/>
            <a:fld id="{007A6A40-1A7B-4A1B-9D78-D7D11C5A8472}" type="slidenum">
              <a:rPr lang="en-US" sz="1200">
                <a:solidFill>
                  <a:srgbClr val="1B3A5C"/>
                </a:solidFill>
                <a:latin typeface="Raleway"/>
              </a:rPr>
              <a:t>18</a:t>
            </a:fld>
            <a:endParaRPr lang="en-US" sz="1200">
              <a:solidFill>
                <a:srgbClr val="1B3A5C"/>
              </a:solidFill>
              <a:latin typeface="Raleway"/>
            </a:endParaRPr>
          </a:p>
        </p:txBody>
      </p:sp>
      <p:sp>
        <p:nvSpPr>
          <p:cNvPr id="3" name="Title"/>
          <p:cNvSpPr txBox="1"/>
          <p:nvPr/>
        </p:nvSpPr>
        <p:spPr>
          <a:xfrm>
            <a:off x="640080" y="502920"/>
            <a:ext cx="11411712" cy="822960"/>
          </a:xfrm>
          <a:prstGeom prst="rect">
            <a:avLst/>
          </a:prstGeom>
          <a:noFill/>
        </p:spPr>
        <p:txBody>
          <a:bodyPr wrap="square" lIns="0" tIns="0" rIns="0" bIns="0" anchor="ctr">
            <a:noAutofit/>
          </a:bodyPr>
          <a:lstStyle/>
          <a:p>
            <a:pPr algn="l"/>
            <a:r>
              <a:rPr lang="en-US" sz="4000" b="1" i="0">
                <a:solidFill>
                  <a:srgbClr val="1F4E79"/>
                </a:solidFill>
                <a:latin typeface="Raleway"/>
              </a:rPr>
              <a:t>Reading a traceback</a:t>
            </a:r>
          </a:p>
        </p:txBody>
      </p:sp>
      <p:sp>
        <p:nvSpPr>
          <p:cNvPr id="4" name="Bullets"/>
          <p:cNvSpPr txBox="1"/>
          <p:nvPr/>
        </p:nvSpPr>
        <p:spPr>
          <a:xfrm>
            <a:off x="822960" y="1508760"/>
            <a:ext cx="10515600" cy="3611879"/>
          </a:xfrm>
          <a:prstGeom prst="rect">
            <a:avLst/>
          </a:prstGeom>
          <a:noFill/>
        </p:spPr>
        <p:txBody>
          <a:bodyPr wrap="square" lIns="0" tIns="0" rIns="0" bIns="0" anchor="ctr">
            <a:noAutofit/>
          </a:bodyPr>
          <a:lstStyle/>
          <a:p>
            <a:pPr algn="l">
              <a:spcAft>
                <a:spcPts val="1400"/>
              </a:spcAft>
              <a:buNone/>
            </a:pPr>
            <a:r>
              <a:rPr lang="en-US" sz="2600" b="0" i="0">
                <a:solidFill>
                  <a:srgbClr val="1D2433"/>
                </a:solidFill>
                <a:latin typeface="Raleway"/>
              </a:rPr>
              <a:t>The habit that saves the most time this semester:</a:t>
            </a:r>
          </a:p>
          <a:p>
            <a:pPr marL="274320" indent="-274320" algn="l">
              <a:lnSpc>
                <a:spcPct val="114999"/>
              </a:lnSpc>
              <a:spcAft>
                <a:spcPts val="1000"/>
              </a:spcAft>
              <a:buSzPct val="65000"/>
              <a:buFont typeface="Arial" panose="020B0604020202020204" pitchFamily="34" charset="0"/>
              <a:buChar char="•"/>
            </a:pPr>
            <a:r>
              <a:rPr lang="en-US" sz="2600" b="0" i="0">
                <a:solidFill>
                  <a:srgbClr val="A64B00"/>
                </a:solidFill>
                <a:latin typeface="Raleway"/>
              </a:rPr>
              <a:t>Last line first</a:t>
            </a:r>
            <a:r>
              <a:rPr lang="en-US" sz="2600" b="0" i="0">
                <a:solidFill>
                  <a:srgbClr val="1D2433"/>
                </a:solidFill>
                <a:latin typeface="Raleway"/>
              </a:rPr>
              <a:t> - the kind of error and what caused it</a:t>
            </a:r>
          </a:p>
          <a:p>
            <a:pPr marL="274320" indent="-274320" algn="l">
              <a:lnSpc>
                <a:spcPct val="114999"/>
              </a:lnSpc>
              <a:spcAft>
                <a:spcPts val="1000"/>
              </a:spcAft>
              <a:buSzPct val="65000"/>
              <a:buFont typeface="Arial" panose="020B0604020202020204" pitchFamily="34" charset="0"/>
              <a:buChar char="•"/>
            </a:pPr>
            <a:r>
              <a:rPr lang="en-US" sz="2600" b="0" i="0">
                <a:solidFill>
                  <a:srgbClr val="A64B00"/>
                </a:solidFill>
                <a:latin typeface="Raleway"/>
              </a:rPr>
              <a:t>Then the File line</a:t>
            </a:r>
            <a:r>
              <a:rPr lang="en-US" sz="2600" b="0" i="0">
                <a:solidFill>
                  <a:srgbClr val="1D2433"/>
                </a:solidFill>
                <a:latin typeface="Raleway"/>
              </a:rPr>
              <a:t> - the file name and the line number</a:t>
            </a:r>
          </a:p>
          <a:p>
            <a:pPr marL="274320" indent="-274320" algn="l">
              <a:lnSpc>
                <a:spcPct val="114999"/>
              </a:lnSpc>
              <a:spcAft>
                <a:spcPts val="1000"/>
              </a:spcAft>
              <a:buSzPct val="65000"/>
              <a:buFont typeface="Arial" panose="020B0604020202020204" pitchFamily="34" charset="0"/>
              <a:buChar char="•"/>
            </a:pPr>
            <a:r>
              <a:rPr lang="en-US" sz="2600" b="0" i="0">
                <a:solidFill>
                  <a:srgbClr val="A64B00"/>
                </a:solidFill>
                <a:latin typeface="Raleway"/>
              </a:rPr>
              <a:t>Then the caret</a:t>
            </a:r>
            <a:r>
              <a:rPr lang="en-US" sz="2600" b="0" i="0">
                <a:solidFill>
                  <a:srgbClr val="1D2433"/>
                </a:solidFill>
                <a:latin typeface="Raleway"/>
              </a:rPr>
              <a:t> - points at the exact expression that failed</a:t>
            </a:r>
          </a:p>
          <a:p>
            <a:pPr marL="274320" indent="-274320" algn="l">
              <a:lnSpc>
                <a:spcPct val="114999"/>
              </a:lnSpc>
              <a:spcAft>
                <a:spcPts val="1000"/>
              </a:spcAft>
              <a:buSzPct val="65000"/>
              <a:buFont typeface="Arial" panose="020B0604020202020204" pitchFamily="34" charset="0"/>
              <a:buChar char="•"/>
            </a:pPr>
            <a:r>
              <a:rPr lang="en-US" sz="2600" b="0" i="0">
                <a:solidFill>
                  <a:srgbClr val="1D2433"/>
                </a:solidFill>
                <a:latin typeface="Raleway"/>
              </a:rPr>
              <a:t>Everything in between is Python showing its work</a:t>
            </a:r>
          </a:p>
        </p:txBody>
      </p:sp>
      <p:sp>
        <p:nvSpPr>
          <p:cNvPr id="5" name="Callout"/>
          <p:cNvSpPr/>
          <p:nvPr/>
        </p:nvSpPr>
        <p:spPr>
          <a:xfrm>
            <a:off x="822960" y="5257800"/>
            <a:ext cx="10515600" cy="914400"/>
          </a:xfrm>
          <a:prstGeom prst="roundRect">
            <a:avLst>
              <a:gd name="adj" fmla="val 8000"/>
            </a:avLst>
          </a:prstGeom>
          <a:solidFill>
            <a:srgbClr val="FBE5D6"/>
          </a:solidFill>
          <a:ln w="15875">
            <a:solidFill>
              <a:srgbClr val="A64B00"/>
            </a:solidFill>
          </a:ln>
        </p:spPr>
        <p:txBody>
          <a:bodyPr rtlCol="0" anchor="ctr"/>
          <a:lstStyle/>
          <a:p>
            <a:endParaRPr/>
          </a:p>
        </p:txBody>
      </p:sp>
      <p:sp>
        <p:nvSpPr>
          <p:cNvPr id="6" name="Callout text"/>
          <p:cNvSpPr txBox="1"/>
          <p:nvPr/>
        </p:nvSpPr>
        <p:spPr>
          <a:xfrm>
            <a:off x="1005840" y="5367528"/>
            <a:ext cx="10149840" cy="694944"/>
          </a:xfrm>
          <a:prstGeom prst="rect">
            <a:avLst/>
          </a:prstGeom>
          <a:noFill/>
        </p:spPr>
        <p:txBody>
          <a:bodyPr wrap="square" lIns="0" tIns="0" rIns="0" bIns="0" anchor="t">
            <a:noAutofit/>
          </a:bodyPr>
          <a:lstStyle/>
          <a:p>
            <a:pPr algn="l"/>
            <a:r>
              <a:rPr lang="en-US" sz="2400" b="0" i="0">
                <a:solidFill>
                  <a:srgbClr val="843C0B"/>
                </a:solidFill>
                <a:latin typeface="Raleway"/>
              </a:rPr>
              <a:t>A traceback is not an insult.</a:t>
            </a:r>
          </a:p>
          <a:p>
            <a:pPr algn="l"/>
            <a:r>
              <a:rPr lang="en-US" sz="2000" b="0" i="0">
                <a:solidFill>
                  <a:srgbClr val="843C0B"/>
                </a:solidFill>
                <a:latin typeface="Raleway"/>
              </a:rPr>
              <a:t>It is the interpreter telling you, as precisely as it can, where to look.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name="17 - Exercise - Exercise 4: Answers without if">
    <p:spTree>
      <p:nvGrpSpPr>
        <p:cNvPr id="1" name=""/>
        <p:cNvGrpSpPr/>
        <p:nvPr/>
      </p:nvGrpSpPr>
      <p:grpSpPr>
        <a:xfrm>
          <a:off x="0" y="0"/>
          <a:ext cx="0" cy="0"/>
          <a:chOff x="0" y="0"/>
          <a:chExt cx="0" cy="0"/>
        </a:xfrm>
      </p:grpSpPr>
      <p:sp>
        <p:nvSpPr>
          <p:cNvPr id="2" name="Slide number"/>
          <p:cNvSpPr txBox="1"/>
          <p:nvPr/>
        </p:nvSpPr>
        <p:spPr>
          <a:xfrm>
            <a:off x="11430000" y="6446520"/>
            <a:ext cx="548640" cy="320040"/>
          </a:xfrm>
          <a:prstGeom prst="rect">
            <a:avLst/>
          </a:prstGeom>
          <a:noFill/>
        </p:spPr>
        <p:txBody>
          <a:bodyPr wrap="none" lIns="0" tIns="0" rIns="0" bIns="0" anchor="ctr">
            <a:spAutoFit/>
          </a:bodyPr>
          <a:lstStyle/>
          <a:p>
            <a:pPr algn="r"/>
            <a:fld id="{007A6A40-1A7B-4A1B-9D78-D7D11C5A8472}" type="slidenum">
              <a:rPr lang="en-US" sz="1200">
                <a:solidFill>
                  <a:srgbClr val="1B3A5C"/>
                </a:solidFill>
                <a:latin typeface="Raleway"/>
              </a:rPr>
              <a:t>19</a:t>
            </a:fld>
            <a:endParaRPr lang="en-US" sz="1200">
              <a:solidFill>
                <a:srgbClr val="1B3A5C"/>
              </a:solidFill>
              <a:latin typeface="Raleway"/>
            </a:endParaRPr>
          </a:p>
        </p:txBody>
      </p:sp>
      <p:sp>
        <p:nvSpPr>
          <p:cNvPr id="3" name="Title"/>
          <p:cNvSpPr txBox="1"/>
          <p:nvPr/>
        </p:nvSpPr>
        <p:spPr>
          <a:xfrm>
            <a:off x="640080" y="502920"/>
            <a:ext cx="11411712" cy="822960"/>
          </a:xfrm>
          <a:prstGeom prst="rect">
            <a:avLst/>
          </a:prstGeom>
          <a:noFill/>
        </p:spPr>
        <p:txBody>
          <a:bodyPr wrap="square" lIns="0" tIns="0" rIns="0" bIns="0" anchor="ctr">
            <a:noAutofit/>
          </a:bodyPr>
          <a:lstStyle/>
          <a:p>
            <a:pPr algn="l"/>
            <a:r>
              <a:rPr lang="en-US" sz="4000" b="1" i="0">
                <a:solidFill>
                  <a:srgbClr val="1F4E79"/>
                </a:solidFill>
                <a:latin typeface="Raleway"/>
              </a:rPr>
              <a:t>Exercise 4: Answers without if</a:t>
            </a:r>
          </a:p>
        </p:txBody>
      </p:sp>
      <p:sp>
        <p:nvSpPr>
          <p:cNvPr id="4" name="Strip Warm-up"/>
          <p:cNvSpPr/>
          <p:nvPr/>
        </p:nvSpPr>
        <p:spPr>
          <a:xfrm>
            <a:off x="640080" y="1389888"/>
            <a:ext cx="928116"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Warm-up</a:t>
            </a:r>
          </a:p>
        </p:txBody>
      </p:sp>
      <p:sp>
        <p:nvSpPr>
          <p:cNvPr id="5" name="Strip Receipt &amp; time"/>
          <p:cNvSpPr/>
          <p:nvPr/>
        </p:nvSpPr>
        <p:spPr>
          <a:xfrm>
            <a:off x="1677924" y="1389888"/>
            <a:ext cx="1472184"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Receipt &amp; time</a:t>
            </a:r>
          </a:p>
        </p:txBody>
      </p:sp>
      <p:sp>
        <p:nvSpPr>
          <p:cNvPr id="6" name="Strip Bugs"/>
          <p:cNvSpPr/>
          <p:nvPr/>
        </p:nvSpPr>
        <p:spPr>
          <a:xfrm>
            <a:off x="3259836" y="1389888"/>
            <a:ext cx="694944"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Bugs</a:t>
            </a:r>
          </a:p>
        </p:txBody>
      </p:sp>
      <p:sp>
        <p:nvSpPr>
          <p:cNvPr id="7" name="Strip Booleans"/>
          <p:cNvSpPr/>
          <p:nvPr/>
        </p:nvSpPr>
        <p:spPr>
          <a:xfrm>
            <a:off x="4064508" y="1389888"/>
            <a:ext cx="1005840" cy="310896"/>
          </a:xfrm>
          <a:prstGeom prst="roundRect">
            <a:avLst>
              <a:gd name="adj" fmla="val 50000"/>
            </a:avLst>
          </a:prstGeom>
          <a:solidFill>
            <a:srgbClr val="A64B00"/>
          </a:solidFill>
          <a:ln w="12700">
            <a:solidFill>
              <a:srgbClr val="A64B00"/>
            </a:solidFill>
          </a:ln>
        </p:spPr>
        <p:txBody>
          <a:bodyPr lIns="45720" tIns="0" rIns="45720" bIns="0" rtlCol="0" anchor="ctr"/>
          <a:lstStyle/>
          <a:p>
            <a:pPr algn="ctr"/>
            <a:r>
              <a:rPr lang="en-US" sz="1100" b="0" i="0">
                <a:solidFill>
                  <a:srgbClr val="FFFFFF"/>
                </a:solidFill>
                <a:latin typeface="Raleway"/>
              </a:rPr>
              <a:t>Booleans</a:t>
            </a:r>
          </a:p>
        </p:txBody>
      </p:sp>
      <p:sp>
        <p:nvSpPr>
          <p:cNvPr id="8" name="Strip Randomness"/>
          <p:cNvSpPr/>
          <p:nvPr/>
        </p:nvSpPr>
        <p:spPr>
          <a:xfrm>
            <a:off x="5180076" y="1389888"/>
            <a:ext cx="1161288"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Randomness</a:t>
            </a:r>
          </a:p>
        </p:txBody>
      </p:sp>
      <p:sp>
        <p:nvSpPr>
          <p:cNvPr id="9" name="Strip Extra"/>
          <p:cNvSpPr/>
          <p:nvPr/>
        </p:nvSpPr>
        <p:spPr>
          <a:xfrm>
            <a:off x="6451092" y="1389888"/>
            <a:ext cx="772668"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Extra</a:t>
            </a:r>
          </a:p>
        </p:txBody>
      </p:sp>
      <p:sp>
        <p:nvSpPr>
          <p:cNvPr id="10" name="Strip Wrap-up"/>
          <p:cNvSpPr/>
          <p:nvPr/>
        </p:nvSpPr>
        <p:spPr>
          <a:xfrm>
            <a:off x="7333488" y="1389888"/>
            <a:ext cx="928116"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Wrap-up</a:t>
            </a:r>
          </a:p>
        </p:txBody>
      </p:sp>
      <p:sp>
        <p:nvSpPr>
          <p:cNvPr id="11" name="Level"/>
          <p:cNvSpPr/>
          <p:nvPr/>
        </p:nvSpPr>
        <p:spPr>
          <a:xfrm>
            <a:off x="9400032" y="1362456"/>
            <a:ext cx="2651760" cy="365760"/>
          </a:xfrm>
          <a:prstGeom prst="roundRect">
            <a:avLst>
              <a:gd name="adj" fmla="val 50000"/>
            </a:avLst>
          </a:prstGeom>
          <a:solidFill>
            <a:srgbClr val="1B3A5C"/>
          </a:solidFill>
          <a:ln w="12700">
            <a:solidFill>
              <a:srgbClr val="1B3A5C"/>
            </a:solidFill>
          </a:ln>
        </p:spPr>
        <p:txBody>
          <a:bodyPr lIns="73152" tIns="0" rIns="73152" bIns="0" rtlCol="0" anchor="ctr"/>
          <a:lstStyle/>
          <a:p>
            <a:pPr algn="ctr"/>
            <a:r>
              <a:rPr lang="en-US" sz="1200" b="0" i="0" spc="100">
                <a:solidFill>
                  <a:srgbClr val="FFFFFF"/>
                </a:solidFill>
                <a:latin typeface="Raleway"/>
              </a:rPr>
              <a:t>MID · 10 MIN ON YOUR OWN</a:t>
            </a:r>
          </a:p>
        </p:txBody>
      </p:sp>
      <p:sp>
        <p:nvSpPr>
          <p:cNvPr id="12" name="Lead"/>
          <p:cNvSpPr txBox="1"/>
          <p:nvPr/>
        </p:nvSpPr>
        <p:spPr>
          <a:xfrm>
            <a:off x="640080" y="1965960"/>
            <a:ext cx="6035040" cy="1325880"/>
          </a:xfrm>
          <a:prstGeom prst="rect">
            <a:avLst/>
          </a:prstGeom>
          <a:noFill/>
        </p:spPr>
        <p:txBody>
          <a:bodyPr wrap="square" lIns="0" tIns="0" rIns="0" bIns="0" anchor="t">
            <a:noAutofit/>
          </a:bodyPr>
          <a:lstStyle/>
          <a:p>
            <a:pPr algn="l">
              <a:lnSpc>
                <a:spcPct val="110000"/>
              </a:lnSpc>
            </a:pPr>
            <a:r>
              <a:rPr lang="en-US" sz="2400" b="0" i="0">
                <a:solidFill>
                  <a:srgbClr val="A64B00"/>
                </a:solidFill>
                <a:latin typeface="Raleway"/>
              </a:rPr>
              <a:t>Task: two yes-or-no questions. Print True or False - the comparison is the answer.</a:t>
            </a:r>
          </a:p>
        </p:txBody>
      </p:sp>
      <p:sp>
        <p:nvSpPr>
          <p:cNvPr id="13" name="Task bullets"/>
          <p:cNvSpPr txBox="1"/>
          <p:nvPr/>
        </p:nvSpPr>
        <p:spPr>
          <a:xfrm>
            <a:off x="640080" y="3383280"/>
            <a:ext cx="6035040" cy="2788920"/>
          </a:xfrm>
          <a:prstGeom prst="rect">
            <a:avLst/>
          </a:prstGeom>
          <a:noFill/>
        </p:spPr>
        <p:txBody>
          <a:bodyPr wrap="square" lIns="0" tIns="0" rIns="0" bIns="0" anchor="t">
            <a:noAutofit/>
          </a:bodyPr>
          <a:lstStyle/>
          <a:p>
            <a:pPr marL="274320" indent="-274320" algn="l">
              <a:lnSpc>
                <a:spcPct val="114999"/>
              </a:lnSpc>
              <a:spcAft>
                <a:spcPts val="800"/>
              </a:spcAft>
              <a:buClr>
                <a:srgbClr val="A64B00"/>
              </a:buClr>
              <a:buSzPct val="65000"/>
              <a:buFont typeface="Arial" panose="020B0604020202020204" pitchFamily="34" charset="0"/>
              <a:buChar char="•"/>
            </a:pPr>
            <a:r>
              <a:rPr lang="en-US" sz="2000" b="0" i="0">
                <a:solidFill>
                  <a:srgbClr val="1D2433"/>
                </a:solidFill>
                <a:latin typeface="Raleway"/>
              </a:rPr>
              <a:t>Triangle: read three stick lengths. Can they form a triangle? Each pair of sides must add up to more than the third</a:t>
            </a:r>
          </a:p>
          <a:p>
            <a:pPr marL="274320" indent="-274320" algn="l">
              <a:lnSpc>
                <a:spcPct val="114999"/>
              </a:lnSpc>
              <a:spcAft>
                <a:spcPts val="800"/>
              </a:spcAft>
              <a:buClr>
                <a:srgbClr val="A64B00"/>
              </a:buClr>
              <a:buSzPct val="65000"/>
              <a:buFont typeface="Arial" panose="020B0604020202020204" pitchFamily="34" charset="0"/>
              <a:buChar char="•"/>
            </a:pPr>
            <a:r>
              <a:rPr lang="en-US" sz="2000" b="0" i="0">
                <a:solidFill>
                  <a:srgbClr val="1D2433"/>
                </a:solidFill>
                <a:latin typeface="Raleway"/>
              </a:rPr>
              <a:t>Palindrome: read a three-digit number. Is it the same backwards? 121 yes, 123 no</a:t>
            </a:r>
          </a:p>
          <a:p>
            <a:pPr marL="274320" indent="-274320" algn="l">
              <a:lnSpc>
                <a:spcPct val="114999"/>
              </a:lnSpc>
              <a:spcAft>
                <a:spcPts val="800"/>
              </a:spcAft>
              <a:buClr>
                <a:srgbClr val="A64B00"/>
              </a:buClr>
              <a:buSzPct val="65000"/>
              <a:buFont typeface="Arial" panose="020B0604020202020204" pitchFamily="34" charset="0"/>
              <a:buChar char="•"/>
            </a:pPr>
            <a:r>
              <a:rPr lang="en-US" sz="2000" b="0" i="0">
                <a:solidFill>
                  <a:srgbClr val="1D2433"/>
                </a:solidFill>
                <a:latin typeface="Raleway"/>
              </a:rPr>
              <a:t>No if anywhere: a boolean expression is a value - print it, or store it</a:t>
            </a:r>
          </a:p>
        </p:txBody>
      </p:sp>
      <p:sp>
        <p:nvSpPr>
          <p:cNvPr id="14" name="Terminal"/>
          <p:cNvSpPr/>
          <p:nvPr/>
        </p:nvSpPr>
        <p:spPr>
          <a:xfrm>
            <a:off x="7040880" y="1965960"/>
            <a:ext cx="4507992" cy="1792224"/>
          </a:xfrm>
          <a:prstGeom prst="roundRect">
            <a:avLst>
              <a:gd name="adj" fmla="val 4000"/>
            </a:avLst>
          </a:prstGeom>
          <a:solidFill>
            <a:srgbClr val="111318"/>
          </a:solidFill>
          <a:ln w="12700">
            <a:solidFill>
              <a:srgbClr val="D8DBE0"/>
            </a:solidFill>
          </a:ln>
        </p:spPr>
        <p:txBody>
          <a:bodyPr rtlCol="0" anchor="ctr"/>
          <a:lstStyle/>
          <a:p>
            <a:endParaRPr/>
          </a:p>
        </p:txBody>
      </p:sp>
      <p:sp>
        <p:nvSpPr>
          <p:cNvPr id="15" name="Terminal header"/>
          <p:cNvSpPr/>
          <p:nvPr/>
        </p:nvSpPr>
        <p:spPr>
          <a:xfrm>
            <a:off x="7040880" y="1965960"/>
            <a:ext cx="4507992" cy="384048"/>
          </a:xfrm>
          <a:prstGeom prst="roundRect">
            <a:avLst>
              <a:gd name="adj" fmla="val 10000"/>
            </a:avLst>
          </a:prstGeom>
          <a:solidFill>
            <a:srgbClr val="1B1E26"/>
          </a:solidFill>
          <a:ln w="12700">
            <a:solidFill>
              <a:srgbClr val="D8DBE0"/>
            </a:solidFill>
          </a:ln>
        </p:spPr>
        <p:txBody>
          <a:bodyPr rtlCol="0" anchor="ctr"/>
          <a:lstStyle/>
          <a:p>
            <a:endParaRPr/>
          </a:p>
        </p:txBody>
      </p:sp>
      <p:sp>
        <p:nvSpPr>
          <p:cNvPr id="16" name="Terminal header fill"/>
          <p:cNvSpPr/>
          <p:nvPr/>
        </p:nvSpPr>
        <p:spPr>
          <a:xfrm>
            <a:off x="7059168" y="2157984"/>
            <a:ext cx="4471416" cy="192024"/>
          </a:xfrm>
          <a:prstGeom prst="rect">
            <a:avLst/>
          </a:prstGeom>
          <a:solidFill>
            <a:srgbClr val="1B1E26"/>
          </a:solidFill>
          <a:ln>
            <a:noFill/>
          </a:ln>
        </p:spPr>
        <p:txBody>
          <a:bodyPr rtlCol="0" anchor="ctr"/>
          <a:lstStyle/>
          <a:p>
            <a:endParaRPr/>
          </a:p>
        </p:txBody>
      </p:sp>
      <p:sp>
        <p:nvSpPr>
          <p:cNvPr id="17" name="Terminal label"/>
          <p:cNvSpPr txBox="1"/>
          <p:nvPr/>
        </p:nvSpPr>
        <p:spPr>
          <a:xfrm>
            <a:off x="7315200" y="1965960"/>
            <a:ext cx="4050792" cy="384048"/>
          </a:xfrm>
          <a:prstGeom prst="rect">
            <a:avLst/>
          </a:prstGeom>
          <a:noFill/>
        </p:spPr>
        <p:txBody>
          <a:bodyPr wrap="square" lIns="0" tIns="0" rIns="0" bIns="0" anchor="ctr">
            <a:noAutofit/>
          </a:bodyPr>
          <a:lstStyle/>
          <a:p>
            <a:pPr algn="l"/>
            <a:r>
              <a:rPr lang="en-US" sz="1200" b="0" i="0">
                <a:solidFill>
                  <a:srgbClr val="E9EAEE"/>
                </a:solidFill>
                <a:latin typeface="Consolas"/>
              </a:rPr>
              <a:t>terminal</a:t>
            </a:r>
          </a:p>
        </p:txBody>
      </p:sp>
      <p:sp>
        <p:nvSpPr>
          <p:cNvPr id="18" name="Output"/>
          <p:cNvSpPr txBox="1"/>
          <p:nvPr/>
        </p:nvSpPr>
        <p:spPr>
          <a:xfrm>
            <a:off x="7315200" y="2478024"/>
            <a:ext cx="4050792" cy="1188719"/>
          </a:xfrm>
          <a:prstGeom prst="rect">
            <a:avLst/>
          </a:prstGeom>
          <a:noFill/>
        </p:spPr>
        <p:txBody>
          <a:bodyPr wrap="none" lIns="0" tIns="0" rIns="0" bIns="0" anchor="t">
            <a:noAutofit/>
          </a:bodyPr>
          <a:lstStyle/>
          <a:p>
            <a:pPr algn="l"/>
            <a:r>
              <a:rPr lang="en-US" sz="1800" b="0" i="0">
                <a:solidFill>
                  <a:srgbClr val="E9EAEE"/>
                </a:solidFill>
                <a:latin typeface="Consolas"/>
              </a:rPr>
              <a:t>Sides: 3 4 5 -&gt; True</a:t>
            </a:r>
          </a:p>
          <a:p>
            <a:pPr algn="l"/>
            <a:r>
              <a:rPr lang="en-US" sz="1800" b="0" i="0">
                <a:solidFill>
                  <a:srgbClr val="E9EAEE"/>
                </a:solidFill>
                <a:latin typeface="Consolas"/>
              </a:rPr>
              <a:t>Sides: 1 2 5 -&gt; False</a:t>
            </a:r>
          </a:p>
          <a:p>
            <a:pPr algn="l"/>
            <a:r>
              <a:rPr lang="en-US" sz="1800" b="0" i="0">
                <a:solidFill>
                  <a:srgbClr val="E9EAEE"/>
                </a:solidFill>
                <a:latin typeface="Consolas"/>
              </a:rPr>
              <a:t>Number: 121 -&gt; True</a:t>
            </a:r>
          </a:p>
          <a:p>
            <a:pPr algn="l"/>
            <a:r>
              <a:rPr lang="en-US" sz="1800" b="0" i="0">
                <a:solidFill>
                  <a:srgbClr val="E9EAEE"/>
                </a:solidFill>
                <a:latin typeface="Consolas"/>
              </a:rPr>
              <a:t>Number: 123 -&gt; False</a:t>
            </a:r>
          </a:p>
        </p:txBody>
      </p:sp>
      <p:sp>
        <p:nvSpPr>
          <p:cNvPr id="19" name="Panel"/>
          <p:cNvSpPr/>
          <p:nvPr/>
        </p:nvSpPr>
        <p:spPr>
          <a:xfrm>
            <a:off x="7040880" y="3986783"/>
            <a:ext cx="4507992" cy="1962912"/>
          </a:xfrm>
          <a:prstGeom prst="roundRect">
            <a:avLst>
              <a:gd name="adj" fmla="val 6000"/>
            </a:avLst>
          </a:prstGeom>
          <a:solidFill>
            <a:srgbClr val="F2F3F5"/>
          </a:solidFill>
          <a:ln w="12700">
            <a:solidFill>
              <a:srgbClr val="D8DBE0"/>
            </a:solidFill>
          </a:ln>
        </p:spPr>
        <p:txBody>
          <a:bodyPr rtlCol="0" anchor="ctr"/>
          <a:lstStyle/>
          <a:p>
            <a:endParaRPr/>
          </a:p>
        </p:txBody>
      </p:sp>
      <p:sp>
        <p:nvSpPr>
          <p:cNvPr id="20" name="Panel text"/>
          <p:cNvSpPr txBox="1"/>
          <p:nvPr/>
        </p:nvSpPr>
        <p:spPr>
          <a:xfrm>
            <a:off x="7178040" y="4096511"/>
            <a:ext cx="4233672" cy="1743456"/>
          </a:xfrm>
          <a:prstGeom prst="rect">
            <a:avLst/>
          </a:prstGeom>
          <a:noFill/>
        </p:spPr>
        <p:txBody>
          <a:bodyPr wrap="square" lIns="0" tIns="0" rIns="0" bIns="0" anchor="t">
            <a:noAutofit/>
          </a:bodyPr>
          <a:lstStyle/>
          <a:p>
            <a:pPr algn="l">
              <a:spcAft>
                <a:spcPts val="600"/>
              </a:spcAft>
            </a:pPr>
            <a:r>
              <a:rPr lang="en-US" sz="2200" b="0" i="0">
                <a:solidFill>
                  <a:srgbClr val="A64B00"/>
                </a:solidFill>
                <a:latin typeface="Raleway"/>
              </a:rPr>
              <a:t>Think about</a:t>
            </a:r>
          </a:p>
          <a:p>
            <a:pPr marL="201168" indent="-201168" algn="l">
              <a:spcAft>
                <a:spcPts val="600"/>
              </a:spcAft>
              <a:buSzPct val="65000"/>
              <a:buFont typeface="Arial" panose="020B0604020202020204" pitchFamily="34" charset="0"/>
              <a:buChar char="•"/>
            </a:pPr>
            <a:r>
              <a:rPr lang="en-US" sz="1800" b="0" i="0">
                <a:solidFill>
                  <a:srgbClr val="1D2433"/>
                </a:solidFill>
                <a:latin typeface="Consolas"/>
              </a:rPr>
              <a:t>and</a:t>
            </a:r>
            <a:r>
              <a:rPr lang="en-US" sz="1800" b="0" i="0">
                <a:solidFill>
                  <a:srgbClr val="1D2433"/>
                </a:solidFill>
                <a:latin typeface="Raleway"/>
              </a:rPr>
              <a:t> joins three comparisons into one answer</a:t>
            </a:r>
          </a:p>
          <a:p>
            <a:pPr marL="201168" indent="-201168" algn="l">
              <a:spcAft>
                <a:spcPts val="600"/>
              </a:spcAft>
              <a:buSzPct val="65000"/>
              <a:buFont typeface="Arial" panose="020B0604020202020204" pitchFamily="34" charset="0"/>
              <a:buChar char="•"/>
            </a:pPr>
            <a:r>
              <a:rPr lang="en-US" sz="1800" b="0" i="0">
                <a:solidFill>
                  <a:srgbClr val="A64B00"/>
                </a:solidFill>
                <a:latin typeface="Raleway"/>
              </a:rPr>
              <a:t>First digit of a 3-digit number:</a:t>
            </a:r>
            <a:r>
              <a:rPr lang="en-US" sz="1800" b="0" i="0">
                <a:solidFill>
                  <a:srgbClr val="1D2433"/>
                </a:solidFill>
                <a:latin typeface="Raleway"/>
              </a:rPr>
              <a:t> </a:t>
            </a:r>
            <a:r>
              <a:rPr lang="en-US" sz="1800" b="0" i="0">
                <a:solidFill>
                  <a:srgbClr val="1D2433"/>
                </a:solidFill>
                <a:latin typeface="Consolas"/>
              </a:rPr>
              <a:t>n // 100</a:t>
            </a:r>
            <a:r>
              <a:rPr lang="en-US" sz="1800" b="0" i="0">
                <a:solidFill>
                  <a:srgbClr val="1D2433"/>
                </a:solidFill>
                <a:latin typeface="Raleway"/>
              </a:rPr>
              <a:t>; last digit: </a:t>
            </a:r>
            <a:r>
              <a:rPr lang="en-US" sz="1800" b="0" i="0">
                <a:solidFill>
                  <a:srgbClr val="1D2433"/>
                </a:solidFill>
                <a:latin typeface="Consolas"/>
              </a:rPr>
              <a:t>n % 10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18 - Solution - Exercise 4: the triangle">
    <p:spTree>
      <p:nvGrpSpPr>
        <p:cNvPr id="1" name=""/>
        <p:cNvGrpSpPr/>
        <p:nvPr/>
      </p:nvGrpSpPr>
      <p:grpSpPr>
        <a:xfrm>
          <a:off x="0" y="0"/>
          <a:ext cx="0" cy="0"/>
          <a:chOff x="0" y="0"/>
          <a:chExt cx="0" cy="0"/>
        </a:xfrm>
      </p:grpSpPr>
      <p:sp>
        <p:nvSpPr>
          <p:cNvPr id="2" name="Slide number"/>
          <p:cNvSpPr txBox="1"/>
          <p:nvPr/>
        </p:nvSpPr>
        <p:spPr>
          <a:xfrm>
            <a:off x="11430000" y="6446520"/>
            <a:ext cx="548640" cy="320040"/>
          </a:xfrm>
          <a:prstGeom prst="rect">
            <a:avLst/>
          </a:prstGeom>
          <a:noFill/>
        </p:spPr>
        <p:txBody>
          <a:bodyPr wrap="none" lIns="0" tIns="0" rIns="0" bIns="0" anchor="ctr">
            <a:spAutoFit/>
          </a:bodyPr>
          <a:lstStyle/>
          <a:p>
            <a:pPr algn="r"/>
            <a:fld id="{007A6A40-1A7B-4A1B-9D78-D7D11C5A8472}" type="slidenum">
              <a:rPr lang="en-US" sz="1200">
                <a:solidFill>
                  <a:srgbClr val="1B3A5C"/>
                </a:solidFill>
                <a:latin typeface="Raleway"/>
              </a:rPr>
              <a:t>20</a:t>
            </a:fld>
            <a:endParaRPr lang="en-US" sz="1200">
              <a:solidFill>
                <a:srgbClr val="1B3A5C"/>
              </a:solidFill>
              <a:latin typeface="Raleway"/>
            </a:endParaRPr>
          </a:p>
        </p:txBody>
      </p:sp>
      <p:sp>
        <p:nvSpPr>
          <p:cNvPr id="3" name="Title"/>
          <p:cNvSpPr txBox="1"/>
          <p:nvPr/>
        </p:nvSpPr>
        <p:spPr>
          <a:xfrm>
            <a:off x="640080" y="502920"/>
            <a:ext cx="11411712" cy="822960"/>
          </a:xfrm>
          <a:prstGeom prst="rect">
            <a:avLst/>
          </a:prstGeom>
          <a:noFill/>
        </p:spPr>
        <p:txBody>
          <a:bodyPr wrap="square" lIns="0" tIns="0" rIns="0" bIns="0" anchor="ctr">
            <a:noAutofit/>
          </a:bodyPr>
          <a:lstStyle/>
          <a:p>
            <a:pPr algn="l"/>
            <a:r>
              <a:rPr lang="en-US" sz="4000" b="1" i="0">
                <a:solidFill>
                  <a:srgbClr val="1F4E79"/>
                </a:solidFill>
                <a:latin typeface="Raleway"/>
              </a:rPr>
              <a:t>Exercise 4: the triangle</a:t>
            </a:r>
          </a:p>
        </p:txBody>
      </p:sp>
      <p:sp>
        <p:nvSpPr>
          <p:cNvPr id="4" name="Code card"/>
          <p:cNvSpPr/>
          <p:nvPr/>
        </p:nvSpPr>
        <p:spPr>
          <a:xfrm>
            <a:off x="640080" y="1508760"/>
            <a:ext cx="6766560" cy="2340864"/>
          </a:xfrm>
          <a:prstGeom prst="roundRect">
            <a:avLst>
              <a:gd name="adj" fmla="val 4000"/>
            </a:avLst>
          </a:prstGeom>
          <a:solidFill>
            <a:srgbClr val="111318"/>
          </a:solidFill>
          <a:ln w="12700">
            <a:solidFill>
              <a:srgbClr val="D8DBE0"/>
            </a:solidFill>
          </a:ln>
        </p:spPr>
        <p:txBody>
          <a:bodyPr rtlCol="0" anchor="ctr"/>
          <a:lstStyle/>
          <a:p>
            <a:endParaRPr/>
          </a:p>
        </p:txBody>
      </p:sp>
      <p:sp>
        <p:nvSpPr>
          <p:cNvPr id="5" name="Code card header"/>
          <p:cNvSpPr/>
          <p:nvPr/>
        </p:nvSpPr>
        <p:spPr>
          <a:xfrm>
            <a:off x="640080" y="1508760"/>
            <a:ext cx="6766560" cy="384048"/>
          </a:xfrm>
          <a:prstGeom prst="roundRect">
            <a:avLst>
              <a:gd name="adj" fmla="val 10000"/>
            </a:avLst>
          </a:prstGeom>
          <a:solidFill>
            <a:srgbClr val="1B1E26"/>
          </a:solidFill>
          <a:ln w="12700">
            <a:solidFill>
              <a:srgbClr val="D8DBE0"/>
            </a:solidFill>
          </a:ln>
        </p:spPr>
        <p:txBody>
          <a:bodyPr rtlCol="0" anchor="ctr"/>
          <a:lstStyle/>
          <a:p>
            <a:endParaRPr/>
          </a:p>
        </p:txBody>
      </p:sp>
      <p:sp>
        <p:nvSpPr>
          <p:cNvPr id="6" name="Code card header fill"/>
          <p:cNvSpPr/>
          <p:nvPr/>
        </p:nvSpPr>
        <p:spPr>
          <a:xfrm>
            <a:off x="658368" y="1700784"/>
            <a:ext cx="6729984" cy="192024"/>
          </a:xfrm>
          <a:prstGeom prst="rect">
            <a:avLst/>
          </a:prstGeom>
          <a:solidFill>
            <a:srgbClr val="1B1E26"/>
          </a:solidFill>
          <a:ln>
            <a:noFill/>
          </a:ln>
        </p:spPr>
        <p:txBody>
          <a:bodyPr rtlCol="0" anchor="ctr"/>
          <a:lstStyle/>
          <a:p>
            <a:endParaRPr/>
          </a:p>
        </p:txBody>
      </p:sp>
      <p:sp>
        <p:nvSpPr>
          <p:cNvPr id="7" name="Oval 6"/>
          <p:cNvSpPr/>
          <p:nvPr/>
        </p:nvSpPr>
        <p:spPr>
          <a:xfrm>
            <a:off x="868680" y="1645919"/>
            <a:ext cx="118872" cy="118872"/>
          </a:xfrm>
          <a:prstGeom prst="ellipse">
            <a:avLst/>
          </a:prstGeom>
          <a:solidFill>
            <a:srgbClr val="FF6B6B"/>
          </a:solidFill>
          <a:ln>
            <a:noFill/>
          </a:ln>
        </p:spPr>
        <p:txBody>
          <a:bodyPr rtlCol="0" anchor="ctr"/>
          <a:lstStyle/>
          <a:p>
            <a:pPr algn="ctr"/>
            <a:endParaRPr/>
          </a:p>
        </p:txBody>
      </p:sp>
      <p:sp>
        <p:nvSpPr>
          <p:cNvPr id="8" name="Oval 7"/>
          <p:cNvSpPr/>
          <p:nvPr/>
        </p:nvSpPr>
        <p:spPr>
          <a:xfrm>
            <a:off x="1143000" y="1645919"/>
            <a:ext cx="118872" cy="118872"/>
          </a:xfrm>
          <a:prstGeom prst="ellipse">
            <a:avLst/>
          </a:prstGeom>
          <a:solidFill>
            <a:srgbClr val="FFD94A"/>
          </a:solidFill>
          <a:ln>
            <a:noFill/>
          </a:ln>
        </p:spPr>
        <p:txBody>
          <a:bodyPr rtlCol="0" anchor="ctr"/>
          <a:lstStyle/>
          <a:p>
            <a:pPr algn="ctr"/>
            <a:endParaRPr/>
          </a:p>
        </p:txBody>
      </p:sp>
      <p:sp>
        <p:nvSpPr>
          <p:cNvPr id="9" name="Oval 8"/>
          <p:cNvSpPr/>
          <p:nvPr/>
        </p:nvSpPr>
        <p:spPr>
          <a:xfrm>
            <a:off x="1417319" y="1645919"/>
            <a:ext cx="118872" cy="118872"/>
          </a:xfrm>
          <a:prstGeom prst="ellipse">
            <a:avLst/>
          </a:prstGeom>
          <a:solidFill>
            <a:srgbClr val="8FE3AB"/>
          </a:solidFill>
          <a:ln>
            <a:noFill/>
          </a:ln>
        </p:spPr>
        <p:txBody>
          <a:bodyPr rtlCol="0" anchor="ctr"/>
          <a:lstStyle/>
          <a:p>
            <a:pPr algn="ctr"/>
            <a:endParaRPr/>
          </a:p>
        </p:txBody>
      </p:sp>
      <p:sp>
        <p:nvSpPr>
          <p:cNvPr id="10" name="Filename"/>
          <p:cNvSpPr txBox="1"/>
          <p:nvPr/>
        </p:nvSpPr>
        <p:spPr>
          <a:xfrm>
            <a:off x="1828800" y="1508760"/>
            <a:ext cx="5394960" cy="384048"/>
          </a:xfrm>
          <a:prstGeom prst="rect">
            <a:avLst/>
          </a:prstGeom>
          <a:noFill/>
        </p:spPr>
        <p:txBody>
          <a:bodyPr wrap="square" lIns="0" tIns="0" rIns="0" bIns="0" anchor="ctr">
            <a:noAutofit/>
          </a:bodyPr>
          <a:lstStyle/>
          <a:p>
            <a:pPr algn="l"/>
            <a:r>
              <a:rPr lang="en-US" sz="1200" b="0" i="0">
                <a:solidFill>
                  <a:srgbClr val="E9EAEE"/>
                </a:solidFill>
                <a:latin typeface="Consolas"/>
              </a:rPr>
              <a:t>triangle.py</a:t>
            </a:r>
          </a:p>
        </p:txBody>
      </p:sp>
      <p:sp>
        <p:nvSpPr>
          <p:cNvPr id="11" name="Code"/>
          <p:cNvSpPr txBox="1"/>
          <p:nvPr/>
        </p:nvSpPr>
        <p:spPr>
          <a:xfrm>
            <a:off x="1005840" y="2002536"/>
            <a:ext cx="6126480" cy="1755648"/>
          </a:xfrm>
          <a:prstGeom prst="rect">
            <a:avLst/>
          </a:prstGeom>
          <a:noFill/>
        </p:spPr>
        <p:txBody>
          <a:bodyPr wrap="none" lIns="0" tIns="0" rIns="0" bIns="0" anchor="t">
            <a:noAutofit/>
          </a:bodyPr>
          <a:lstStyle/>
          <a:p>
            <a:pPr algn="l"/>
            <a:r>
              <a:rPr lang="en-US" sz="1800" b="0" i="0">
                <a:solidFill>
                  <a:srgbClr val="E9EAEE"/>
                </a:solidFill>
                <a:latin typeface="Consolas"/>
              </a:rPr>
              <a:t>a = </a:t>
            </a:r>
            <a:r>
              <a:rPr lang="en-US" sz="1800" b="0" i="0">
                <a:solidFill>
                  <a:srgbClr val="F5B759"/>
                </a:solidFill>
                <a:latin typeface="Consolas"/>
              </a:rPr>
              <a:t>int</a:t>
            </a:r>
            <a:r>
              <a:rPr lang="en-US" sz="1800" b="0" i="0">
                <a:solidFill>
                  <a:srgbClr val="E9EAEE"/>
                </a:solidFill>
                <a:latin typeface="Consolas"/>
              </a:rPr>
              <a:t>(</a:t>
            </a:r>
            <a:r>
              <a:rPr lang="en-US" sz="1800" b="0" i="0">
                <a:solidFill>
                  <a:srgbClr val="F5B759"/>
                </a:solidFill>
                <a:latin typeface="Consolas"/>
              </a:rPr>
              <a:t>input</a:t>
            </a:r>
            <a:r>
              <a:rPr lang="en-US" sz="1800" b="0" i="0">
                <a:solidFill>
                  <a:srgbClr val="E9EAEE"/>
                </a:solidFill>
                <a:latin typeface="Consolas"/>
              </a:rPr>
              <a:t>("Side a: "))</a:t>
            </a:r>
          </a:p>
          <a:p>
            <a:pPr algn="l"/>
            <a:r>
              <a:rPr lang="en-US" sz="1800" b="0" i="0">
                <a:solidFill>
                  <a:srgbClr val="E9EAEE"/>
                </a:solidFill>
                <a:latin typeface="Consolas"/>
              </a:rPr>
              <a:t>b = </a:t>
            </a:r>
            <a:r>
              <a:rPr lang="en-US" sz="1800" b="0" i="0">
                <a:solidFill>
                  <a:srgbClr val="F5B759"/>
                </a:solidFill>
                <a:latin typeface="Consolas"/>
              </a:rPr>
              <a:t>int</a:t>
            </a:r>
            <a:r>
              <a:rPr lang="en-US" sz="1800" b="0" i="0">
                <a:solidFill>
                  <a:srgbClr val="E9EAEE"/>
                </a:solidFill>
                <a:latin typeface="Consolas"/>
              </a:rPr>
              <a:t>(</a:t>
            </a:r>
            <a:r>
              <a:rPr lang="en-US" sz="1800" b="0" i="0">
                <a:solidFill>
                  <a:srgbClr val="F5B759"/>
                </a:solidFill>
                <a:latin typeface="Consolas"/>
              </a:rPr>
              <a:t>input</a:t>
            </a:r>
            <a:r>
              <a:rPr lang="en-US" sz="1800" b="0" i="0">
                <a:solidFill>
                  <a:srgbClr val="E9EAEE"/>
                </a:solidFill>
                <a:latin typeface="Consolas"/>
              </a:rPr>
              <a:t>("Side b: "))</a:t>
            </a:r>
          </a:p>
          <a:p>
            <a:pPr algn="l"/>
            <a:r>
              <a:rPr lang="en-US" sz="1800" b="0" i="0">
                <a:solidFill>
                  <a:srgbClr val="E9EAEE"/>
                </a:solidFill>
                <a:latin typeface="Consolas"/>
              </a:rPr>
              <a:t>c = </a:t>
            </a:r>
            <a:r>
              <a:rPr lang="en-US" sz="1800" b="0" i="0">
                <a:solidFill>
                  <a:srgbClr val="F5B759"/>
                </a:solidFill>
                <a:latin typeface="Consolas"/>
              </a:rPr>
              <a:t>int</a:t>
            </a:r>
            <a:r>
              <a:rPr lang="en-US" sz="1800" b="0" i="0">
                <a:solidFill>
                  <a:srgbClr val="E9EAEE"/>
                </a:solidFill>
                <a:latin typeface="Consolas"/>
              </a:rPr>
              <a:t>(</a:t>
            </a:r>
            <a:r>
              <a:rPr lang="en-US" sz="1800" b="0" i="0">
                <a:solidFill>
                  <a:srgbClr val="F5B759"/>
                </a:solidFill>
                <a:latin typeface="Consolas"/>
              </a:rPr>
              <a:t>input</a:t>
            </a:r>
            <a:r>
              <a:rPr lang="en-US" sz="1800" b="0" i="0">
                <a:solidFill>
                  <a:srgbClr val="E9EAEE"/>
                </a:solidFill>
                <a:latin typeface="Consolas"/>
              </a:rPr>
              <a:t>("Side c: "))</a:t>
            </a:r>
          </a:p>
          <a:p>
            <a:pPr algn="l"/>
            <a:endParaRPr lang="en-US" sz="1800" b="0" i="0">
              <a:solidFill>
                <a:srgbClr val="E9EAEE"/>
              </a:solidFill>
              <a:latin typeface="Consolas"/>
            </a:endParaRPr>
          </a:p>
          <a:p>
            <a:pPr algn="l"/>
            <a:r>
              <a:rPr lang="en-US" sz="1800" b="0" i="0">
                <a:solidFill>
                  <a:srgbClr val="E9EAEE"/>
                </a:solidFill>
                <a:latin typeface="Consolas"/>
              </a:rPr>
              <a:t>ok = a + b &gt; c </a:t>
            </a:r>
            <a:r>
              <a:rPr lang="en-US" sz="1800" b="0" i="0">
                <a:solidFill>
                  <a:srgbClr val="8FA9E8"/>
                </a:solidFill>
                <a:latin typeface="Consolas"/>
              </a:rPr>
              <a:t>and</a:t>
            </a:r>
            <a:r>
              <a:rPr lang="en-US" sz="1800" b="0" i="0">
                <a:solidFill>
                  <a:srgbClr val="E9EAEE"/>
                </a:solidFill>
                <a:latin typeface="Consolas"/>
              </a:rPr>
              <a:t> a + c &gt; b </a:t>
            </a:r>
            <a:r>
              <a:rPr lang="en-US" sz="1800" b="0" i="0">
                <a:solidFill>
                  <a:srgbClr val="8FA9E8"/>
                </a:solidFill>
                <a:latin typeface="Consolas"/>
              </a:rPr>
              <a:t>and</a:t>
            </a:r>
            <a:r>
              <a:rPr lang="en-US" sz="1800" b="0" i="0">
                <a:solidFill>
                  <a:srgbClr val="E9EAEE"/>
                </a:solidFill>
                <a:latin typeface="Consolas"/>
              </a:rPr>
              <a:t> b + c &gt; a</a:t>
            </a:r>
          </a:p>
          <a:p>
            <a:pPr algn="l"/>
            <a:r>
              <a:rPr lang="en-US" sz="1800" b="0" i="0">
                <a:solidFill>
                  <a:srgbClr val="F5B759"/>
                </a:solidFill>
                <a:latin typeface="Consolas"/>
              </a:rPr>
              <a:t>print</a:t>
            </a:r>
            <a:r>
              <a:rPr lang="en-US" sz="1800" b="0" i="0">
                <a:solidFill>
                  <a:srgbClr val="E9EAEE"/>
                </a:solidFill>
                <a:latin typeface="Consolas"/>
              </a:rPr>
              <a:t>(f"Triangle: {ok}")</a:t>
            </a:r>
          </a:p>
        </p:txBody>
      </p:sp>
      <p:sp>
        <p:nvSpPr>
          <p:cNvPr id="12" name="Panel"/>
          <p:cNvSpPr/>
          <p:nvPr/>
        </p:nvSpPr>
        <p:spPr>
          <a:xfrm>
            <a:off x="7772400" y="1508760"/>
            <a:ext cx="3776472" cy="3584448"/>
          </a:xfrm>
          <a:prstGeom prst="roundRect">
            <a:avLst>
              <a:gd name="adj" fmla="val 6000"/>
            </a:avLst>
          </a:prstGeom>
          <a:solidFill>
            <a:srgbClr val="F2F3F5"/>
          </a:solidFill>
          <a:ln w="12700">
            <a:solidFill>
              <a:srgbClr val="D8DBE0"/>
            </a:solidFill>
          </a:ln>
        </p:spPr>
        <p:txBody>
          <a:bodyPr rtlCol="0" anchor="ctr"/>
          <a:lstStyle/>
          <a:p>
            <a:endParaRPr/>
          </a:p>
        </p:txBody>
      </p:sp>
      <p:sp>
        <p:nvSpPr>
          <p:cNvPr id="13" name="Panel text"/>
          <p:cNvSpPr txBox="1"/>
          <p:nvPr/>
        </p:nvSpPr>
        <p:spPr>
          <a:xfrm>
            <a:off x="7909560" y="1618488"/>
            <a:ext cx="3502152" cy="3364991"/>
          </a:xfrm>
          <a:prstGeom prst="rect">
            <a:avLst/>
          </a:prstGeom>
          <a:noFill/>
        </p:spPr>
        <p:txBody>
          <a:bodyPr wrap="square" lIns="0" tIns="0" rIns="0" bIns="0" anchor="t">
            <a:noAutofit/>
          </a:bodyPr>
          <a:lstStyle/>
          <a:p>
            <a:pPr algn="l">
              <a:spcAft>
                <a:spcPts val="600"/>
              </a:spcAft>
            </a:pPr>
            <a:r>
              <a:rPr lang="en-US" sz="2200" b="0" i="0">
                <a:solidFill>
                  <a:srgbClr val="A64B00"/>
                </a:solidFill>
                <a:latin typeface="Raleway"/>
              </a:rPr>
              <a:t>One expression is the answer</a:t>
            </a:r>
          </a:p>
          <a:p>
            <a:pPr marL="201168" indent="-201168" algn="l">
              <a:spcAft>
                <a:spcPts val="600"/>
              </a:spcAft>
              <a:buSzPct val="65000"/>
              <a:buFont typeface="Arial" panose="020B0604020202020204" pitchFamily="34" charset="0"/>
              <a:buChar char="•"/>
            </a:pPr>
            <a:r>
              <a:rPr lang="en-US" sz="1600" b="0" i="0">
                <a:solidFill>
                  <a:srgbClr val="A64B00"/>
                </a:solidFill>
                <a:latin typeface="Raleway"/>
              </a:rPr>
              <a:t>Precedence:</a:t>
            </a:r>
            <a:r>
              <a:rPr lang="en-US" sz="1600" b="0" i="0">
                <a:solidFill>
                  <a:srgbClr val="1D2433"/>
                </a:solidFill>
                <a:latin typeface="Raleway"/>
              </a:rPr>
              <a:t> </a:t>
            </a:r>
            <a:r>
              <a:rPr lang="en-US" sz="1600" b="0" i="0">
                <a:solidFill>
                  <a:srgbClr val="1D2433"/>
                </a:solidFill>
                <a:latin typeface="Consolas"/>
              </a:rPr>
              <a:t>+</a:t>
            </a:r>
            <a:r>
              <a:rPr lang="en-US" sz="1600" b="0" i="0">
                <a:solidFill>
                  <a:srgbClr val="1D2433"/>
                </a:solidFill>
                <a:latin typeface="Raleway"/>
              </a:rPr>
              <a:t> binds tighter than </a:t>
            </a:r>
            <a:r>
              <a:rPr lang="en-US" sz="1600" b="0" i="0">
                <a:solidFill>
                  <a:srgbClr val="1D2433"/>
                </a:solidFill>
                <a:latin typeface="Consolas"/>
              </a:rPr>
              <a:t>&gt;</a:t>
            </a:r>
            <a:r>
              <a:rPr lang="en-US" sz="1600" b="0" i="0">
                <a:solidFill>
                  <a:srgbClr val="1D2433"/>
                </a:solidFill>
                <a:latin typeface="Raleway"/>
              </a:rPr>
              <a:t>, and </a:t>
            </a:r>
            <a:r>
              <a:rPr lang="en-US" sz="1600" b="0" i="0">
                <a:solidFill>
                  <a:srgbClr val="1D2433"/>
                </a:solidFill>
                <a:latin typeface="Consolas"/>
              </a:rPr>
              <a:t>&gt;</a:t>
            </a:r>
            <a:r>
              <a:rPr lang="en-US" sz="1600" b="0" i="0">
                <a:solidFill>
                  <a:srgbClr val="1D2433"/>
                </a:solidFill>
                <a:latin typeface="Raleway"/>
              </a:rPr>
              <a:t> tighter than </a:t>
            </a:r>
            <a:r>
              <a:rPr lang="en-US" sz="1600" b="0" i="0">
                <a:solidFill>
                  <a:srgbClr val="1D2433"/>
                </a:solidFill>
                <a:latin typeface="Consolas"/>
              </a:rPr>
              <a:t>and</a:t>
            </a:r>
            <a:r>
              <a:rPr lang="en-US" sz="1600" b="0" i="0">
                <a:solidFill>
                  <a:srgbClr val="1D2433"/>
                </a:solidFill>
                <a:latin typeface="Raleway"/>
              </a:rPr>
              <a:t> - no parentheses needed, but they never hurt</a:t>
            </a:r>
          </a:p>
          <a:p>
            <a:pPr marL="201168" indent="-201168" algn="l">
              <a:spcAft>
                <a:spcPts val="600"/>
              </a:spcAft>
              <a:buSzPct val="65000"/>
              <a:buFont typeface="Arial" panose="020B0604020202020204" pitchFamily="34" charset="0"/>
              <a:buChar char="•"/>
            </a:pPr>
            <a:r>
              <a:rPr lang="en-US" sz="1600" b="0" i="0">
                <a:solidFill>
                  <a:srgbClr val="A64B00"/>
                </a:solidFill>
                <a:latin typeface="Raleway"/>
              </a:rPr>
              <a:t>A name for the answer:</a:t>
            </a:r>
            <a:r>
              <a:rPr lang="en-US" sz="1600" b="0" i="0">
                <a:solidFill>
                  <a:srgbClr val="1D2433"/>
                </a:solidFill>
                <a:latin typeface="Raleway"/>
              </a:rPr>
              <a:t> </a:t>
            </a:r>
            <a:r>
              <a:rPr lang="en-US" sz="1600" b="0" i="0">
                <a:solidFill>
                  <a:srgbClr val="1D2433"/>
                </a:solidFill>
                <a:latin typeface="Consolas"/>
              </a:rPr>
              <a:t>ok</a:t>
            </a:r>
            <a:r>
              <a:rPr lang="en-US" sz="1600" b="0" i="0">
                <a:solidFill>
                  <a:srgbClr val="1D2433"/>
                </a:solidFill>
                <a:latin typeface="Raleway"/>
              </a:rPr>
              <a:t> holds True or False; next week </a:t>
            </a:r>
            <a:r>
              <a:rPr lang="en-US" sz="1600" b="0" i="0">
                <a:solidFill>
                  <a:srgbClr val="1D2433"/>
                </a:solidFill>
                <a:latin typeface="Consolas"/>
              </a:rPr>
              <a:t>if ok:</a:t>
            </a:r>
            <a:r>
              <a:rPr lang="en-US" sz="1600" b="0" i="0">
                <a:solidFill>
                  <a:srgbClr val="1D2433"/>
                </a:solidFill>
                <a:latin typeface="Raleway"/>
              </a:rPr>
              <a:t> will read like English</a:t>
            </a:r>
          </a:p>
          <a:p>
            <a:pPr marL="201168" indent="-201168" algn="l">
              <a:spcAft>
                <a:spcPts val="600"/>
              </a:spcAft>
              <a:buSzPct val="65000"/>
              <a:buFont typeface="Arial" panose="020B0604020202020204" pitchFamily="34" charset="0"/>
              <a:buChar char="•"/>
            </a:pPr>
            <a:r>
              <a:rPr lang="en-US" sz="1600" b="0" i="0">
                <a:solidFill>
                  <a:srgbClr val="A64B00"/>
                </a:solidFill>
                <a:latin typeface="Raleway"/>
              </a:rPr>
              <a:t>Three tests:</a:t>
            </a:r>
            <a:r>
              <a:rPr lang="en-US" sz="1600" b="0" i="0">
                <a:solidFill>
                  <a:srgbClr val="1D2433"/>
                </a:solidFill>
                <a:latin typeface="Raleway"/>
              </a:rPr>
              <a:t> 3 4 5, 1 2 5 and 5 1 2 - the last one catches a program that checked only one pair</a:t>
            </a:r>
          </a:p>
        </p:txBody>
      </p:sp>
      <p:sp>
        <p:nvSpPr>
          <p:cNvPr id="14" name="Terminal"/>
          <p:cNvSpPr/>
          <p:nvPr/>
        </p:nvSpPr>
        <p:spPr>
          <a:xfrm>
            <a:off x="640080" y="4032504"/>
            <a:ext cx="6766560" cy="1670304"/>
          </a:xfrm>
          <a:prstGeom prst="roundRect">
            <a:avLst>
              <a:gd name="adj" fmla="val 4000"/>
            </a:avLst>
          </a:prstGeom>
          <a:solidFill>
            <a:srgbClr val="111318"/>
          </a:solidFill>
          <a:ln w="12700">
            <a:solidFill>
              <a:srgbClr val="D8DBE0"/>
            </a:solidFill>
          </a:ln>
        </p:spPr>
        <p:txBody>
          <a:bodyPr rtlCol="0" anchor="ctr"/>
          <a:lstStyle/>
          <a:p>
            <a:endParaRPr/>
          </a:p>
        </p:txBody>
      </p:sp>
      <p:sp>
        <p:nvSpPr>
          <p:cNvPr id="15" name="Terminal header"/>
          <p:cNvSpPr/>
          <p:nvPr/>
        </p:nvSpPr>
        <p:spPr>
          <a:xfrm>
            <a:off x="640080" y="4032504"/>
            <a:ext cx="6766560" cy="384048"/>
          </a:xfrm>
          <a:prstGeom prst="roundRect">
            <a:avLst>
              <a:gd name="adj" fmla="val 10000"/>
            </a:avLst>
          </a:prstGeom>
          <a:solidFill>
            <a:srgbClr val="1B1E26"/>
          </a:solidFill>
          <a:ln w="12700">
            <a:solidFill>
              <a:srgbClr val="D8DBE0"/>
            </a:solidFill>
          </a:ln>
        </p:spPr>
        <p:txBody>
          <a:bodyPr rtlCol="0" anchor="ctr"/>
          <a:lstStyle/>
          <a:p>
            <a:endParaRPr/>
          </a:p>
        </p:txBody>
      </p:sp>
      <p:sp>
        <p:nvSpPr>
          <p:cNvPr id="16" name="Terminal header fill"/>
          <p:cNvSpPr/>
          <p:nvPr/>
        </p:nvSpPr>
        <p:spPr>
          <a:xfrm>
            <a:off x="658368" y="4224528"/>
            <a:ext cx="6729984" cy="192024"/>
          </a:xfrm>
          <a:prstGeom prst="rect">
            <a:avLst/>
          </a:prstGeom>
          <a:solidFill>
            <a:srgbClr val="1B1E26"/>
          </a:solidFill>
          <a:ln>
            <a:noFill/>
          </a:ln>
        </p:spPr>
        <p:txBody>
          <a:bodyPr rtlCol="0" anchor="ctr"/>
          <a:lstStyle/>
          <a:p>
            <a:endParaRPr/>
          </a:p>
        </p:txBody>
      </p:sp>
      <p:sp>
        <p:nvSpPr>
          <p:cNvPr id="17" name="Terminal label"/>
          <p:cNvSpPr txBox="1"/>
          <p:nvPr/>
        </p:nvSpPr>
        <p:spPr>
          <a:xfrm>
            <a:off x="914400" y="4032504"/>
            <a:ext cx="6309360" cy="384048"/>
          </a:xfrm>
          <a:prstGeom prst="rect">
            <a:avLst/>
          </a:prstGeom>
          <a:noFill/>
        </p:spPr>
        <p:txBody>
          <a:bodyPr wrap="square" lIns="0" tIns="0" rIns="0" bIns="0" anchor="ctr">
            <a:noAutofit/>
          </a:bodyPr>
          <a:lstStyle/>
          <a:p>
            <a:pPr algn="l"/>
            <a:r>
              <a:rPr lang="en-US" sz="1200" b="0" i="0">
                <a:solidFill>
                  <a:srgbClr val="E9EAEE"/>
                </a:solidFill>
                <a:latin typeface="Consolas"/>
              </a:rPr>
              <a:t>python triangle.py</a:t>
            </a:r>
          </a:p>
        </p:txBody>
      </p:sp>
      <p:sp>
        <p:nvSpPr>
          <p:cNvPr id="18" name="Output"/>
          <p:cNvSpPr txBox="1"/>
          <p:nvPr/>
        </p:nvSpPr>
        <p:spPr>
          <a:xfrm>
            <a:off x="914400" y="4544568"/>
            <a:ext cx="6309360" cy="1066799"/>
          </a:xfrm>
          <a:prstGeom prst="rect">
            <a:avLst/>
          </a:prstGeom>
          <a:noFill/>
        </p:spPr>
        <p:txBody>
          <a:bodyPr wrap="none" lIns="0" tIns="0" rIns="0" bIns="0" anchor="t">
            <a:noAutofit/>
          </a:bodyPr>
          <a:lstStyle/>
          <a:p>
            <a:pPr algn="l"/>
            <a:r>
              <a:rPr lang="en-US" sz="1600" b="0" i="0">
                <a:solidFill>
                  <a:srgbClr val="E9EAEE"/>
                </a:solidFill>
                <a:latin typeface="Consolas"/>
              </a:rPr>
              <a:t>Side a: 5</a:t>
            </a:r>
          </a:p>
          <a:p>
            <a:pPr algn="l"/>
            <a:r>
              <a:rPr lang="en-US" sz="1600" b="0" i="0">
                <a:solidFill>
                  <a:srgbClr val="E9EAEE"/>
                </a:solidFill>
                <a:latin typeface="Consolas"/>
              </a:rPr>
              <a:t>Side b: 1</a:t>
            </a:r>
          </a:p>
          <a:p>
            <a:pPr algn="l"/>
            <a:r>
              <a:rPr lang="en-US" sz="1600" b="0" i="0">
                <a:solidFill>
                  <a:srgbClr val="E9EAEE"/>
                </a:solidFill>
                <a:latin typeface="Consolas"/>
              </a:rPr>
              <a:t>Side c: 2</a:t>
            </a:r>
          </a:p>
          <a:p>
            <a:pPr algn="l"/>
            <a:r>
              <a:rPr lang="en-US" sz="1600" b="0" i="0">
                <a:solidFill>
                  <a:srgbClr val="E9EAEE"/>
                </a:solidFill>
                <a:latin typeface="Consolas"/>
              </a:rPr>
              <a:t>Triangle: False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19 - Solution - Exercise 4: the palindrome">
    <p:spTree>
      <p:nvGrpSpPr>
        <p:cNvPr id="1" name=""/>
        <p:cNvGrpSpPr/>
        <p:nvPr/>
      </p:nvGrpSpPr>
      <p:grpSpPr>
        <a:xfrm>
          <a:off x="0" y="0"/>
          <a:ext cx="0" cy="0"/>
          <a:chOff x="0" y="0"/>
          <a:chExt cx="0" cy="0"/>
        </a:xfrm>
      </p:grpSpPr>
      <p:sp>
        <p:nvSpPr>
          <p:cNvPr id="2" name="Slide number"/>
          <p:cNvSpPr txBox="1"/>
          <p:nvPr/>
        </p:nvSpPr>
        <p:spPr>
          <a:xfrm>
            <a:off x="11430000" y="6446520"/>
            <a:ext cx="548640" cy="320040"/>
          </a:xfrm>
          <a:prstGeom prst="rect">
            <a:avLst/>
          </a:prstGeom>
          <a:noFill/>
        </p:spPr>
        <p:txBody>
          <a:bodyPr wrap="none" lIns="0" tIns="0" rIns="0" bIns="0" anchor="ctr">
            <a:spAutoFit/>
          </a:bodyPr>
          <a:lstStyle/>
          <a:p>
            <a:pPr algn="r"/>
            <a:fld id="{007A6A40-1A7B-4A1B-9D78-D7D11C5A8472}" type="slidenum">
              <a:rPr lang="en-US" sz="1200">
                <a:solidFill>
                  <a:srgbClr val="1B3A5C"/>
                </a:solidFill>
                <a:latin typeface="Raleway"/>
              </a:rPr>
              <a:t>21</a:t>
            </a:fld>
            <a:endParaRPr lang="en-US" sz="1200">
              <a:solidFill>
                <a:srgbClr val="1B3A5C"/>
              </a:solidFill>
              <a:latin typeface="Raleway"/>
            </a:endParaRPr>
          </a:p>
        </p:txBody>
      </p:sp>
      <p:sp>
        <p:nvSpPr>
          <p:cNvPr id="3" name="Title"/>
          <p:cNvSpPr txBox="1"/>
          <p:nvPr/>
        </p:nvSpPr>
        <p:spPr>
          <a:xfrm>
            <a:off x="640080" y="502920"/>
            <a:ext cx="11411712" cy="822960"/>
          </a:xfrm>
          <a:prstGeom prst="rect">
            <a:avLst/>
          </a:prstGeom>
          <a:noFill/>
        </p:spPr>
        <p:txBody>
          <a:bodyPr wrap="square" lIns="0" tIns="0" rIns="0" bIns="0" anchor="ctr">
            <a:noAutofit/>
          </a:bodyPr>
          <a:lstStyle/>
          <a:p>
            <a:pPr algn="l"/>
            <a:r>
              <a:rPr lang="en-US" sz="4000" b="1" i="0">
                <a:solidFill>
                  <a:srgbClr val="1F4E79"/>
                </a:solidFill>
                <a:latin typeface="Raleway"/>
              </a:rPr>
              <a:t>Exercise 4: the palindrome</a:t>
            </a:r>
          </a:p>
        </p:txBody>
      </p:sp>
      <p:sp>
        <p:nvSpPr>
          <p:cNvPr id="4" name="Code card"/>
          <p:cNvSpPr/>
          <p:nvPr/>
        </p:nvSpPr>
        <p:spPr>
          <a:xfrm>
            <a:off x="640080" y="1508760"/>
            <a:ext cx="6766560" cy="2142744"/>
          </a:xfrm>
          <a:prstGeom prst="roundRect">
            <a:avLst>
              <a:gd name="adj" fmla="val 4000"/>
            </a:avLst>
          </a:prstGeom>
          <a:solidFill>
            <a:srgbClr val="111318"/>
          </a:solidFill>
          <a:ln w="12700">
            <a:solidFill>
              <a:srgbClr val="D8DBE0"/>
            </a:solidFill>
          </a:ln>
        </p:spPr>
        <p:txBody>
          <a:bodyPr rtlCol="0" anchor="ctr"/>
          <a:lstStyle/>
          <a:p>
            <a:endParaRPr/>
          </a:p>
        </p:txBody>
      </p:sp>
      <p:sp>
        <p:nvSpPr>
          <p:cNvPr id="5" name="Code card header"/>
          <p:cNvSpPr/>
          <p:nvPr/>
        </p:nvSpPr>
        <p:spPr>
          <a:xfrm>
            <a:off x="640080" y="1508760"/>
            <a:ext cx="6766560" cy="384048"/>
          </a:xfrm>
          <a:prstGeom prst="roundRect">
            <a:avLst>
              <a:gd name="adj" fmla="val 10000"/>
            </a:avLst>
          </a:prstGeom>
          <a:solidFill>
            <a:srgbClr val="1B1E26"/>
          </a:solidFill>
          <a:ln w="12700">
            <a:solidFill>
              <a:srgbClr val="D8DBE0"/>
            </a:solidFill>
          </a:ln>
        </p:spPr>
        <p:txBody>
          <a:bodyPr rtlCol="0" anchor="ctr"/>
          <a:lstStyle/>
          <a:p>
            <a:endParaRPr/>
          </a:p>
        </p:txBody>
      </p:sp>
      <p:sp>
        <p:nvSpPr>
          <p:cNvPr id="6" name="Code card header fill"/>
          <p:cNvSpPr/>
          <p:nvPr/>
        </p:nvSpPr>
        <p:spPr>
          <a:xfrm>
            <a:off x="658368" y="1700784"/>
            <a:ext cx="6729984" cy="192024"/>
          </a:xfrm>
          <a:prstGeom prst="rect">
            <a:avLst/>
          </a:prstGeom>
          <a:solidFill>
            <a:srgbClr val="1B1E26"/>
          </a:solidFill>
          <a:ln>
            <a:noFill/>
          </a:ln>
        </p:spPr>
        <p:txBody>
          <a:bodyPr rtlCol="0" anchor="ctr"/>
          <a:lstStyle/>
          <a:p>
            <a:endParaRPr/>
          </a:p>
        </p:txBody>
      </p:sp>
      <p:sp>
        <p:nvSpPr>
          <p:cNvPr id="7" name="Oval 6"/>
          <p:cNvSpPr/>
          <p:nvPr/>
        </p:nvSpPr>
        <p:spPr>
          <a:xfrm>
            <a:off x="868680" y="1645919"/>
            <a:ext cx="118872" cy="118872"/>
          </a:xfrm>
          <a:prstGeom prst="ellipse">
            <a:avLst/>
          </a:prstGeom>
          <a:solidFill>
            <a:srgbClr val="FF6B6B"/>
          </a:solidFill>
          <a:ln>
            <a:noFill/>
          </a:ln>
        </p:spPr>
        <p:txBody>
          <a:bodyPr rtlCol="0" anchor="ctr"/>
          <a:lstStyle/>
          <a:p>
            <a:pPr algn="ctr"/>
            <a:endParaRPr/>
          </a:p>
        </p:txBody>
      </p:sp>
      <p:sp>
        <p:nvSpPr>
          <p:cNvPr id="8" name="Oval 7"/>
          <p:cNvSpPr/>
          <p:nvPr/>
        </p:nvSpPr>
        <p:spPr>
          <a:xfrm>
            <a:off x="1143000" y="1645919"/>
            <a:ext cx="118872" cy="118872"/>
          </a:xfrm>
          <a:prstGeom prst="ellipse">
            <a:avLst/>
          </a:prstGeom>
          <a:solidFill>
            <a:srgbClr val="FFD94A"/>
          </a:solidFill>
          <a:ln>
            <a:noFill/>
          </a:ln>
        </p:spPr>
        <p:txBody>
          <a:bodyPr rtlCol="0" anchor="ctr"/>
          <a:lstStyle/>
          <a:p>
            <a:pPr algn="ctr"/>
            <a:endParaRPr/>
          </a:p>
        </p:txBody>
      </p:sp>
      <p:sp>
        <p:nvSpPr>
          <p:cNvPr id="9" name="Oval 8"/>
          <p:cNvSpPr/>
          <p:nvPr/>
        </p:nvSpPr>
        <p:spPr>
          <a:xfrm>
            <a:off x="1417319" y="1645919"/>
            <a:ext cx="118872" cy="118872"/>
          </a:xfrm>
          <a:prstGeom prst="ellipse">
            <a:avLst/>
          </a:prstGeom>
          <a:solidFill>
            <a:srgbClr val="8FE3AB"/>
          </a:solidFill>
          <a:ln>
            <a:noFill/>
          </a:ln>
        </p:spPr>
        <p:txBody>
          <a:bodyPr rtlCol="0" anchor="ctr"/>
          <a:lstStyle/>
          <a:p>
            <a:pPr algn="ctr"/>
            <a:endParaRPr/>
          </a:p>
        </p:txBody>
      </p:sp>
      <p:sp>
        <p:nvSpPr>
          <p:cNvPr id="10" name="Filename"/>
          <p:cNvSpPr txBox="1"/>
          <p:nvPr/>
        </p:nvSpPr>
        <p:spPr>
          <a:xfrm>
            <a:off x="1828800" y="1508760"/>
            <a:ext cx="5394960" cy="384048"/>
          </a:xfrm>
          <a:prstGeom prst="rect">
            <a:avLst/>
          </a:prstGeom>
          <a:noFill/>
        </p:spPr>
        <p:txBody>
          <a:bodyPr wrap="square" lIns="0" tIns="0" rIns="0" bIns="0" anchor="ctr">
            <a:noAutofit/>
          </a:bodyPr>
          <a:lstStyle/>
          <a:p>
            <a:pPr algn="l"/>
            <a:r>
              <a:rPr lang="en-US" sz="1200" b="0" i="0">
                <a:solidFill>
                  <a:srgbClr val="E9EAEE"/>
                </a:solidFill>
                <a:latin typeface="Consolas"/>
              </a:rPr>
              <a:t>palindrome3.py</a:t>
            </a:r>
          </a:p>
        </p:txBody>
      </p:sp>
      <p:sp>
        <p:nvSpPr>
          <p:cNvPr id="11" name="Code"/>
          <p:cNvSpPr txBox="1"/>
          <p:nvPr/>
        </p:nvSpPr>
        <p:spPr>
          <a:xfrm>
            <a:off x="1005840" y="2002536"/>
            <a:ext cx="6126480" cy="1557528"/>
          </a:xfrm>
          <a:prstGeom prst="rect">
            <a:avLst/>
          </a:prstGeom>
          <a:noFill/>
        </p:spPr>
        <p:txBody>
          <a:bodyPr wrap="none" lIns="0" tIns="0" rIns="0" bIns="0" anchor="t">
            <a:noAutofit/>
          </a:bodyPr>
          <a:lstStyle/>
          <a:p>
            <a:pPr algn="l"/>
            <a:r>
              <a:rPr lang="en-US" sz="1900" b="0" i="0">
                <a:solidFill>
                  <a:srgbClr val="E9EAEE"/>
                </a:solidFill>
                <a:latin typeface="Consolas"/>
              </a:rPr>
              <a:t>n = </a:t>
            </a:r>
            <a:r>
              <a:rPr lang="en-US" sz="1900" b="0" i="0">
                <a:solidFill>
                  <a:srgbClr val="F5B759"/>
                </a:solidFill>
                <a:latin typeface="Consolas"/>
              </a:rPr>
              <a:t>int</a:t>
            </a:r>
            <a:r>
              <a:rPr lang="en-US" sz="1900" b="0" i="0">
                <a:solidFill>
                  <a:srgbClr val="E9EAEE"/>
                </a:solidFill>
                <a:latin typeface="Consolas"/>
              </a:rPr>
              <a:t>(</a:t>
            </a:r>
            <a:r>
              <a:rPr lang="en-US" sz="1900" b="0" i="0">
                <a:solidFill>
                  <a:srgbClr val="F5B759"/>
                </a:solidFill>
                <a:latin typeface="Consolas"/>
              </a:rPr>
              <a:t>input</a:t>
            </a:r>
            <a:r>
              <a:rPr lang="en-US" sz="1900" b="0" i="0">
                <a:solidFill>
                  <a:srgbClr val="E9EAEE"/>
                </a:solidFill>
                <a:latin typeface="Consolas"/>
              </a:rPr>
              <a:t>("A three-digit number: "))</a:t>
            </a:r>
          </a:p>
          <a:p>
            <a:pPr algn="l"/>
            <a:endParaRPr lang="en-US" sz="1900" b="0" i="0">
              <a:solidFill>
                <a:srgbClr val="E9EAEE"/>
              </a:solidFill>
              <a:latin typeface="Consolas"/>
            </a:endParaRPr>
          </a:p>
          <a:p>
            <a:pPr algn="l"/>
            <a:r>
              <a:rPr lang="en-US" sz="1900" b="0" i="0">
                <a:solidFill>
                  <a:srgbClr val="E9EAEE"/>
                </a:solidFill>
                <a:latin typeface="Consolas"/>
              </a:rPr>
              <a:t>first = n // 100</a:t>
            </a:r>
          </a:p>
          <a:p>
            <a:pPr algn="l"/>
            <a:r>
              <a:rPr lang="en-US" sz="1900" b="0" i="0">
                <a:solidFill>
                  <a:srgbClr val="E9EAEE"/>
                </a:solidFill>
                <a:latin typeface="Consolas"/>
              </a:rPr>
              <a:t>last = n % 10</a:t>
            </a:r>
          </a:p>
          <a:p>
            <a:pPr algn="l"/>
            <a:r>
              <a:rPr lang="en-US" sz="1900" b="0" i="0">
                <a:solidFill>
                  <a:srgbClr val="F5B759"/>
                </a:solidFill>
                <a:latin typeface="Consolas"/>
              </a:rPr>
              <a:t>print</a:t>
            </a:r>
            <a:r>
              <a:rPr lang="en-US" sz="1900" b="0" i="0">
                <a:solidFill>
                  <a:srgbClr val="E9EAEE"/>
                </a:solidFill>
                <a:latin typeface="Consolas"/>
              </a:rPr>
              <a:t>(f"Palindrome: {first == last}")</a:t>
            </a:r>
          </a:p>
        </p:txBody>
      </p:sp>
      <p:sp>
        <p:nvSpPr>
          <p:cNvPr id="12" name="Panel"/>
          <p:cNvSpPr/>
          <p:nvPr/>
        </p:nvSpPr>
        <p:spPr>
          <a:xfrm>
            <a:off x="7772400" y="1508760"/>
            <a:ext cx="3776472" cy="3422904"/>
          </a:xfrm>
          <a:prstGeom prst="roundRect">
            <a:avLst>
              <a:gd name="adj" fmla="val 6000"/>
            </a:avLst>
          </a:prstGeom>
          <a:solidFill>
            <a:srgbClr val="F2F3F5"/>
          </a:solidFill>
          <a:ln w="12700">
            <a:solidFill>
              <a:srgbClr val="D8DBE0"/>
            </a:solidFill>
          </a:ln>
        </p:spPr>
        <p:txBody>
          <a:bodyPr rtlCol="0" anchor="ctr"/>
          <a:lstStyle/>
          <a:p>
            <a:endParaRPr/>
          </a:p>
        </p:txBody>
      </p:sp>
      <p:sp>
        <p:nvSpPr>
          <p:cNvPr id="13" name="Panel text"/>
          <p:cNvSpPr txBox="1"/>
          <p:nvPr/>
        </p:nvSpPr>
        <p:spPr>
          <a:xfrm>
            <a:off x="7909560" y="1618488"/>
            <a:ext cx="3502152" cy="3203448"/>
          </a:xfrm>
          <a:prstGeom prst="rect">
            <a:avLst/>
          </a:prstGeom>
          <a:noFill/>
        </p:spPr>
        <p:txBody>
          <a:bodyPr wrap="square" lIns="0" tIns="0" rIns="0" bIns="0" anchor="t">
            <a:noAutofit/>
          </a:bodyPr>
          <a:lstStyle/>
          <a:p>
            <a:pPr algn="l">
              <a:spcAft>
                <a:spcPts val="600"/>
              </a:spcAft>
            </a:pPr>
            <a:r>
              <a:rPr lang="en-US" sz="2200" b="0" i="0">
                <a:solidFill>
                  <a:srgbClr val="A64B00"/>
                </a:solidFill>
                <a:latin typeface="Raleway"/>
              </a:rPr>
              <a:t>Digits without strings</a:t>
            </a:r>
          </a:p>
          <a:p>
            <a:pPr marL="201168" indent="-201168" algn="l">
              <a:spcAft>
                <a:spcPts val="600"/>
              </a:spcAft>
              <a:buSzPct val="65000"/>
              <a:buFont typeface="Arial" panose="020B0604020202020204" pitchFamily="34" charset="0"/>
              <a:buChar char="•"/>
            </a:pPr>
            <a:r>
              <a:rPr lang="en-US" sz="1600" b="0" i="0">
                <a:solidFill>
                  <a:srgbClr val="A64B00"/>
                </a:solidFill>
                <a:latin typeface="Raleway"/>
              </a:rPr>
              <a:t>First digit:</a:t>
            </a:r>
            <a:r>
              <a:rPr lang="en-US" sz="1600" b="0" i="0">
                <a:solidFill>
                  <a:srgbClr val="1D2433"/>
                </a:solidFill>
                <a:latin typeface="Raleway"/>
              </a:rPr>
              <a:t> </a:t>
            </a:r>
            <a:r>
              <a:rPr lang="en-US" sz="1600" b="0" i="0">
                <a:solidFill>
                  <a:srgbClr val="1D2433"/>
                </a:solidFill>
                <a:latin typeface="Consolas"/>
              </a:rPr>
              <a:t>n // 100</a:t>
            </a:r>
            <a:r>
              <a:rPr lang="en-US" sz="1600" b="0" i="0">
                <a:solidFill>
                  <a:srgbClr val="1D2433"/>
                </a:solidFill>
                <a:latin typeface="Raleway"/>
              </a:rPr>
              <a:t> - how many whole hundreds</a:t>
            </a:r>
          </a:p>
          <a:p>
            <a:pPr marL="201168" indent="-201168" algn="l">
              <a:spcAft>
                <a:spcPts val="600"/>
              </a:spcAft>
              <a:buSzPct val="65000"/>
              <a:buFont typeface="Arial" panose="020B0604020202020204" pitchFamily="34" charset="0"/>
              <a:buChar char="•"/>
            </a:pPr>
            <a:r>
              <a:rPr lang="en-US" sz="1600" b="0" i="0">
                <a:solidFill>
                  <a:srgbClr val="A64B00"/>
                </a:solidFill>
                <a:latin typeface="Raleway"/>
              </a:rPr>
              <a:t>Last digit:</a:t>
            </a:r>
            <a:r>
              <a:rPr lang="en-US" sz="1600" b="0" i="0">
                <a:solidFill>
                  <a:srgbClr val="1D2433"/>
                </a:solidFill>
                <a:latin typeface="Raleway"/>
              </a:rPr>
              <a:t> </a:t>
            </a:r>
            <a:r>
              <a:rPr lang="en-US" sz="1600" b="0" i="0">
                <a:solidFill>
                  <a:srgbClr val="1D2433"/>
                </a:solidFill>
                <a:latin typeface="Consolas"/>
              </a:rPr>
              <a:t>n % 10</a:t>
            </a:r>
            <a:r>
              <a:rPr lang="en-US" sz="1600" b="0" i="0">
                <a:solidFill>
                  <a:srgbClr val="1D2433"/>
                </a:solidFill>
                <a:latin typeface="Raleway"/>
              </a:rPr>
              <a:t> - what is left after the tens</a:t>
            </a:r>
          </a:p>
          <a:p>
            <a:pPr marL="201168" indent="-201168" algn="l">
              <a:spcAft>
                <a:spcPts val="600"/>
              </a:spcAft>
              <a:buSzPct val="65000"/>
              <a:buFont typeface="Arial" panose="020B0604020202020204" pitchFamily="34" charset="0"/>
              <a:buChar char="•"/>
            </a:pPr>
            <a:r>
              <a:rPr lang="en-US" sz="1600" b="0" i="0">
                <a:solidFill>
                  <a:srgbClr val="A64B00"/>
                </a:solidFill>
                <a:latin typeface="Raleway"/>
              </a:rPr>
              <a:t>The middle digit never matters:</a:t>
            </a:r>
            <a:r>
              <a:rPr lang="en-US" sz="1600" b="0" i="0">
                <a:solidFill>
                  <a:srgbClr val="1D2433"/>
                </a:solidFill>
                <a:latin typeface="Raleway"/>
              </a:rPr>
              <a:t> 121, 131 and 191 are all palindromes</a:t>
            </a:r>
          </a:p>
          <a:p>
            <a:pPr marL="201168" indent="-201168" algn="l">
              <a:spcAft>
                <a:spcPts val="600"/>
              </a:spcAft>
              <a:buSzPct val="65000"/>
              <a:buFont typeface="Arial" panose="020B0604020202020204" pitchFamily="34" charset="0"/>
              <a:buChar char="•"/>
            </a:pPr>
            <a:r>
              <a:rPr lang="en-US" sz="1600" b="0" i="0">
                <a:solidFill>
                  <a:srgbClr val="A64B00"/>
                </a:solidFill>
                <a:latin typeface="Raleway"/>
              </a:rPr>
              <a:t>Inside the f-string:</a:t>
            </a:r>
            <a:r>
              <a:rPr lang="en-US" sz="1600" b="0" i="0">
                <a:solidFill>
                  <a:srgbClr val="1D2433"/>
                </a:solidFill>
                <a:latin typeface="Raleway"/>
              </a:rPr>
              <a:t> </a:t>
            </a:r>
            <a:r>
              <a:rPr lang="en-US" sz="1600" b="0" i="0">
                <a:solidFill>
                  <a:srgbClr val="1D2433"/>
                </a:solidFill>
                <a:latin typeface="Consolas"/>
              </a:rPr>
              <a:t>first == last</a:t>
            </a:r>
            <a:r>
              <a:rPr lang="en-US" sz="1600" b="0" i="0">
                <a:solidFill>
                  <a:srgbClr val="1D2433"/>
                </a:solidFill>
                <a:latin typeface="Raleway"/>
              </a:rPr>
              <a:t> is evaluated, and the result is True or False</a:t>
            </a:r>
          </a:p>
        </p:txBody>
      </p:sp>
      <p:sp>
        <p:nvSpPr>
          <p:cNvPr id="14" name="Terminal"/>
          <p:cNvSpPr/>
          <p:nvPr/>
        </p:nvSpPr>
        <p:spPr>
          <a:xfrm>
            <a:off x="640080" y="3834384"/>
            <a:ext cx="6766560" cy="1182624"/>
          </a:xfrm>
          <a:prstGeom prst="roundRect">
            <a:avLst>
              <a:gd name="adj" fmla="val 4000"/>
            </a:avLst>
          </a:prstGeom>
          <a:solidFill>
            <a:srgbClr val="111318"/>
          </a:solidFill>
          <a:ln w="12700">
            <a:solidFill>
              <a:srgbClr val="D8DBE0"/>
            </a:solidFill>
          </a:ln>
        </p:spPr>
        <p:txBody>
          <a:bodyPr rtlCol="0" anchor="ctr"/>
          <a:lstStyle/>
          <a:p>
            <a:endParaRPr/>
          </a:p>
        </p:txBody>
      </p:sp>
      <p:sp>
        <p:nvSpPr>
          <p:cNvPr id="15" name="Terminal header"/>
          <p:cNvSpPr/>
          <p:nvPr/>
        </p:nvSpPr>
        <p:spPr>
          <a:xfrm>
            <a:off x="640080" y="3834384"/>
            <a:ext cx="6766560" cy="384048"/>
          </a:xfrm>
          <a:prstGeom prst="roundRect">
            <a:avLst>
              <a:gd name="adj" fmla="val 10000"/>
            </a:avLst>
          </a:prstGeom>
          <a:solidFill>
            <a:srgbClr val="1B1E26"/>
          </a:solidFill>
          <a:ln w="12700">
            <a:solidFill>
              <a:srgbClr val="D8DBE0"/>
            </a:solidFill>
          </a:ln>
        </p:spPr>
        <p:txBody>
          <a:bodyPr rtlCol="0" anchor="ctr"/>
          <a:lstStyle/>
          <a:p>
            <a:endParaRPr/>
          </a:p>
        </p:txBody>
      </p:sp>
      <p:sp>
        <p:nvSpPr>
          <p:cNvPr id="16" name="Terminal header fill"/>
          <p:cNvSpPr/>
          <p:nvPr/>
        </p:nvSpPr>
        <p:spPr>
          <a:xfrm>
            <a:off x="658368" y="4026408"/>
            <a:ext cx="6729984" cy="192024"/>
          </a:xfrm>
          <a:prstGeom prst="rect">
            <a:avLst/>
          </a:prstGeom>
          <a:solidFill>
            <a:srgbClr val="1B1E26"/>
          </a:solidFill>
          <a:ln>
            <a:noFill/>
          </a:ln>
        </p:spPr>
        <p:txBody>
          <a:bodyPr rtlCol="0" anchor="ctr"/>
          <a:lstStyle/>
          <a:p>
            <a:endParaRPr/>
          </a:p>
        </p:txBody>
      </p:sp>
      <p:sp>
        <p:nvSpPr>
          <p:cNvPr id="17" name="Terminal label"/>
          <p:cNvSpPr txBox="1"/>
          <p:nvPr/>
        </p:nvSpPr>
        <p:spPr>
          <a:xfrm>
            <a:off x="914400" y="3834384"/>
            <a:ext cx="6309360" cy="384048"/>
          </a:xfrm>
          <a:prstGeom prst="rect">
            <a:avLst/>
          </a:prstGeom>
          <a:noFill/>
        </p:spPr>
        <p:txBody>
          <a:bodyPr wrap="square" lIns="0" tIns="0" rIns="0" bIns="0" anchor="ctr">
            <a:noAutofit/>
          </a:bodyPr>
          <a:lstStyle/>
          <a:p>
            <a:pPr algn="l"/>
            <a:r>
              <a:rPr lang="en-US" sz="1200" b="0" i="0">
                <a:solidFill>
                  <a:srgbClr val="E9EAEE"/>
                </a:solidFill>
                <a:latin typeface="Consolas"/>
              </a:rPr>
              <a:t>python palindrome3.py</a:t>
            </a:r>
          </a:p>
        </p:txBody>
      </p:sp>
      <p:sp>
        <p:nvSpPr>
          <p:cNvPr id="18" name="Output"/>
          <p:cNvSpPr txBox="1"/>
          <p:nvPr/>
        </p:nvSpPr>
        <p:spPr>
          <a:xfrm>
            <a:off x="914400" y="4346448"/>
            <a:ext cx="6309360" cy="579119"/>
          </a:xfrm>
          <a:prstGeom prst="rect">
            <a:avLst/>
          </a:prstGeom>
          <a:noFill/>
        </p:spPr>
        <p:txBody>
          <a:bodyPr wrap="none" lIns="0" tIns="0" rIns="0" bIns="0" anchor="t">
            <a:noAutofit/>
          </a:bodyPr>
          <a:lstStyle/>
          <a:p>
            <a:pPr algn="l"/>
            <a:r>
              <a:rPr lang="en-US" sz="1600" b="0" i="0">
                <a:solidFill>
                  <a:srgbClr val="E9EAEE"/>
                </a:solidFill>
                <a:latin typeface="Consolas"/>
              </a:rPr>
              <a:t>A three-digit number: 121</a:t>
            </a:r>
          </a:p>
          <a:p>
            <a:pPr algn="l"/>
            <a:r>
              <a:rPr lang="en-US" sz="1600" b="0" i="0">
                <a:solidFill>
                  <a:srgbClr val="E9EAEE"/>
                </a:solidFill>
                <a:latin typeface="Consolas"/>
              </a:rPr>
              <a:t>Palindrome: True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20 - Exercise - Exercise 5: A fair die">
    <p:spTree>
      <p:nvGrpSpPr>
        <p:cNvPr id="1" name=""/>
        <p:cNvGrpSpPr/>
        <p:nvPr/>
      </p:nvGrpSpPr>
      <p:grpSpPr>
        <a:xfrm>
          <a:off x="0" y="0"/>
          <a:ext cx="0" cy="0"/>
          <a:chOff x="0" y="0"/>
          <a:chExt cx="0" cy="0"/>
        </a:xfrm>
      </p:grpSpPr>
      <p:sp>
        <p:nvSpPr>
          <p:cNvPr id="2" name="Slide number"/>
          <p:cNvSpPr txBox="1"/>
          <p:nvPr/>
        </p:nvSpPr>
        <p:spPr>
          <a:xfrm>
            <a:off x="11430000" y="6446520"/>
            <a:ext cx="548640" cy="320040"/>
          </a:xfrm>
          <a:prstGeom prst="rect">
            <a:avLst/>
          </a:prstGeom>
          <a:noFill/>
        </p:spPr>
        <p:txBody>
          <a:bodyPr wrap="none" lIns="0" tIns="0" rIns="0" bIns="0" anchor="ctr">
            <a:spAutoFit/>
          </a:bodyPr>
          <a:lstStyle/>
          <a:p>
            <a:pPr algn="r"/>
            <a:fld id="{007A6A40-1A7B-4A1B-9D78-D7D11C5A8472}" type="slidenum">
              <a:rPr lang="en-US" sz="1200">
                <a:solidFill>
                  <a:srgbClr val="1B3A5C"/>
                </a:solidFill>
                <a:latin typeface="Raleway"/>
              </a:rPr>
              <a:t>22</a:t>
            </a:fld>
            <a:endParaRPr lang="en-US" sz="1200">
              <a:solidFill>
                <a:srgbClr val="1B3A5C"/>
              </a:solidFill>
              <a:latin typeface="Raleway"/>
            </a:endParaRPr>
          </a:p>
        </p:txBody>
      </p:sp>
      <p:sp>
        <p:nvSpPr>
          <p:cNvPr id="3" name="Title"/>
          <p:cNvSpPr txBox="1"/>
          <p:nvPr/>
        </p:nvSpPr>
        <p:spPr>
          <a:xfrm>
            <a:off x="640080" y="502920"/>
            <a:ext cx="11411712" cy="822960"/>
          </a:xfrm>
          <a:prstGeom prst="rect">
            <a:avLst/>
          </a:prstGeom>
          <a:noFill/>
        </p:spPr>
        <p:txBody>
          <a:bodyPr wrap="square" lIns="0" tIns="0" rIns="0" bIns="0" anchor="ctr">
            <a:noAutofit/>
          </a:bodyPr>
          <a:lstStyle/>
          <a:p>
            <a:pPr algn="l"/>
            <a:r>
              <a:rPr lang="en-US" sz="4000" b="1" i="0">
                <a:solidFill>
                  <a:srgbClr val="1F4E79"/>
                </a:solidFill>
                <a:latin typeface="Raleway"/>
              </a:rPr>
              <a:t>Exercise 5: A fair die</a:t>
            </a:r>
          </a:p>
        </p:txBody>
      </p:sp>
      <p:sp>
        <p:nvSpPr>
          <p:cNvPr id="4" name="Strip Warm-up"/>
          <p:cNvSpPr/>
          <p:nvPr/>
        </p:nvSpPr>
        <p:spPr>
          <a:xfrm>
            <a:off x="640080" y="1389888"/>
            <a:ext cx="928116"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Warm-up</a:t>
            </a:r>
          </a:p>
        </p:txBody>
      </p:sp>
      <p:sp>
        <p:nvSpPr>
          <p:cNvPr id="5" name="Strip Receipt &amp; time"/>
          <p:cNvSpPr/>
          <p:nvPr/>
        </p:nvSpPr>
        <p:spPr>
          <a:xfrm>
            <a:off x="1677924" y="1389888"/>
            <a:ext cx="1472184"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Receipt &amp; time</a:t>
            </a:r>
          </a:p>
        </p:txBody>
      </p:sp>
      <p:sp>
        <p:nvSpPr>
          <p:cNvPr id="6" name="Strip Bugs"/>
          <p:cNvSpPr/>
          <p:nvPr/>
        </p:nvSpPr>
        <p:spPr>
          <a:xfrm>
            <a:off x="3259836" y="1389888"/>
            <a:ext cx="694944"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Bugs</a:t>
            </a:r>
          </a:p>
        </p:txBody>
      </p:sp>
      <p:sp>
        <p:nvSpPr>
          <p:cNvPr id="7" name="Strip Booleans"/>
          <p:cNvSpPr/>
          <p:nvPr/>
        </p:nvSpPr>
        <p:spPr>
          <a:xfrm>
            <a:off x="4064508" y="1389888"/>
            <a:ext cx="1005840"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Booleans</a:t>
            </a:r>
          </a:p>
        </p:txBody>
      </p:sp>
      <p:sp>
        <p:nvSpPr>
          <p:cNvPr id="8" name="Strip Randomness"/>
          <p:cNvSpPr/>
          <p:nvPr/>
        </p:nvSpPr>
        <p:spPr>
          <a:xfrm>
            <a:off x="5180076" y="1389888"/>
            <a:ext cx="1161288" cy="310896"/>
          </a:xfrm>
          <a:prstGeom prst="roundRect">
            <a:avLst>
              <a:gd name="adj" fmla="val 50000"/>
            </a:avLst>
          </a:prstGeom>
          <a:solidFill>
            <a:srgbClr val="A64B00"/>
          </a:solidFill>
          <a:ln w="12700">
            <a:solidFill>
              <a:srgbClr val="A64B00"/>
            </a:solidFill>
          </a:ln>
        </p:spPr>
        <p:txBody>
          <a:bodyPr lIns="45720" tIns="0" rIns="45720" bIns="0" rtlCol="0" anchor="ctr"/>
          <a:lstStyle/>
          <a:p>
            <a:pPr algn="ctr"/>
            <a:r>
              <a:rPr lang="en-US" sz="1100" b="0" i="0">
                <a:solidFill>
                  <a:srgbClr val="FFFFFF"/>
                </a:solidFill>
                <a:latin typeface="Raleway"/>
              </a:rPr>
              <a:t>Randomness</a:t>
            </a:r>
          </a:p>
        </p:txBody>
      </p:sp>
      <p:sp>
        <p:nvSpPr>
          <p:cNvPr id="9" name="Strip Extra"/>
          <p:cNvSpPr/>
          <p:nvPr/>
        </p:nvSpPr>
        <p:spPr>
          <a:xfrm>
            <a:off x="6451092" y="1389888"/>
            <a:ext cx="772668"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Extra</a:t>
            </a:r>
          </a:p>
        </p:txBody>
      </p:sp>
      <p:sp>
        <p:nvSpPr>
          <p:cNvPr id="10" name="Strip Wrap-up"/>
          <p:cNvSpPr/>
          <p:nvPr/>
        </p:nvSpPr>
        <p:spPr>
          <a:xfrm>
            <a:off x="7333488" y="1389888"/>
            <a:ext cx="928116"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Wrap-up</a:t>
            </a:r>
          </a:p>
        </p:txBody>
      </p:sp>
      <p:sp>
        <p:nvSpPr>
          <p:cNvPr id="11" name="Level"/>
          <p:cNvSpPr/>
          <p:nvPr/>
        </p:nvSpPr>
        <p:spPr>
          <a:xfrm>
            <a:off x="9308592" y="1362456"/>
            <a:ext cx="2743200" cy="365760"/>
          </a:xfrm>
          <a:prstGeom prst="roundRect">
            <a:avLst>
              <a:gd name="adj" fmla="val 50000"/>
            </a:avLst>
          </a:prstGeom>
          <a:solidFill>
            <a:srgbClr val="A64B00"/>
          </a:solidFill>
          <a:ln w="12700">
            <a:solidFill>
              <a:srgbClr val="A64B00"/>
            </a:solidFill>
          </a:ln>
        </p:spPr>
        <p:txBody>
          <a:bodyPr lIns="73152" tIns="0" rIns="73152" bIns="0" rtlCol="0" anchor="ctr"/>
          <a:lstStyle/>
          <a:p>
            <a:pPr algn="ctr"/>
            <a:r>
              <a:rPr lang="en-US" sz="1200" b="0" i="0" spc="100">
                <a:solidFill>
                  <a:srgbClr val="FFFFFF"/>
                </a:solidFill>
                <a:latin typeface="Raleway"/>
              </a:rPr>
              <a:t>HIGH · 12 MIN ON YOUR OWN</a:t>
            </a:r>
          </a:p>
        </p:txBody>
      </p:sp>
      <p:sp>
        <p:nvSpPr>
          <p:cNvPr id="12" name="Lead"/>
          <p:cNvSpPr txBox="1"/>
          <p:nvPr/>
        </p:nvSpPr>
        <p:spPr>
          <a:xfrm>
            <a:off x="640080" y="1965960"/>
            <a:ext cx="6035040" cy="1325880"/>
          </a:xfrm>
          <a:prstGeom prst="rect">
            <a:avLst/>
          </a:prstGeom>
          <a:noFill/>
        </p:spPr>
        <p:txBody>
          <a:bodyPr wrap="square" lIns="0" tIns="0" rIns="0" bIns="0" anchor="t">
            <a:noAutofit/>
          </a:bodyPr>
          <a:lstStyle/>
          <a:p>
            <a:pPr algn="l">
              <a:lnSpc>
                <a:spcPct val="110000"/>
              </a:lnSpc>
            </a:pPr>
            <a:r>
              <a:rPr lang="en-US" sz="2400" b="0" i="0">
                <a:solidFill>
                  <a:srgbClr val="A64B00"/>
                </a:solidFill>
                <a:latin typeface="Raleway"/>
              </a:rPr>
              <a:t>Task: simulate a fair six-sided die. Print a whole number from 1 to 6, each equally likely.</a:t>
            </a:r>
          </a:p>
        </p:txBody>
      </p:sp>
      <p:sp>
        <p:nvSpPr>
          <p:cNvPr id="13" name="Task bullets"/>
          <p:cNvSpPr txBox="1"/>
          <p:nvPr/>
        </p:nvSpPr>
        <p:spPr>
          <a:xfrm>
            <a:off x="640080" y="3383280"/>
            <a:ext cx="6035040" cy="2788920"/>
          </a:xfrm>
          <a:prstGeom prst="rect">
            <a:avLst/>
          </a:prstGeom>
          <a:noFill/>
        </p:spPr>
        <p:txBody>
          <a:bodyPr wrap="square" lIns="0" tIns="0" rIns="0" bIns="0" anchor="t">
            <a:noAutofit/>
          </a:bodyPr>
          <a:lstStyle/>
          <a:p>
            <a:pPr marL="274320" indent="-274320" algn="l">
              <a:lnSpc>
                <a:spcPct val="114999"/>
              </a:lnSpc>
              <a:spcAft>
                <a:spcPts val="800"/>
              </a:spcAft>
              <a:buClr>
                <a:srgbClr val="A64B00"/>
              </a:buClr>
              <a:buSzPct val="65000"/>
              <a:buFont typeface="Arial" panose="020B0604020202020204" pitchFamily="34" charset="0"/>
              <a:buChar char="•"/>
            </a:pPr>
            <a:r>
              <a:rPr lang="en-US" sz="2000" b="0" i="0">
                <a:solidFill>
                  <a:srgbClr val="1D2433"/>
                </a:solidFill>
                <a:latin typeface="Raleway"/>
              </a:rPr>
              <a:t>You have </a:t>
            </a:r>
            <a:r>
              <a:rPr lang="en-US" sz="2000" b="0" i="0">
                <a:solidFill>
                  <a:srgbClr val="1D2433"/>
                </a:solidFill>
                <a:latin typeface="Consolas"/>
              </a:rPr>
              <a:t>random.random()</a:t>
            </a:r>
            <a:r>
              <a:rPr lang="en-US" sz="2000" b="0" i="0">
                <a:solidFill>
                  <a:srgbClr val="1D2433"/>
                </a:solidFill>
                <a:latin typeface="Raleway"/>
              </a:rPr>
              <a:t>: a float in [0, 1) - 0 is possible, 1 is not</a:t>
            </a:r>
          </a:p>
          <a:p>
            <a:pPr marL="274320" indent="-274320" algn="l">
              <a:lnSpc>
                <a:spcPct val="114999"/>
              </a:lnSpc>
              <a:spcAft>
                <a:spcPts val="800"/>
              </a:spcAft>
              <a:buClr>
                <a:srgbClr val="A64B00"/>
              </a:buClr>
              <a:buSzPct val="65000"/>
              <a:buFont typeface="Arial" panose="020B0604020202020204" pitchFamily="34" charset="0"/>
              <a:buChar char="•"/>
            </a:pPr>
            <a:r>
              <a:rPr lang="en-US" sz="2000" b="0" i="0">
                <a:solidFill>
                  <a:srgbClr val="1D2433"/>
                </a:solidFill>
                <a:latin typeface="Raleway"/>
              </a:rPr>
              <a:t>Four things are wrong with that for a die. Name them before you fix them</a:t>
            </a:r>
          </a:p>
          <a:p>
            <a:pPr marL="274320" indent="-274320" algn="l">
              <a:lnSpc>
                <a:spcPct val="114999"/>
              </a:lnSpc>
              <a:spcAft>
                <a:spcPts val="800"/>
              </a:spcAft>
              <a:buClr>
                <a:srgbClr val="A64B00"/>
              </a:buClr>
              <a:buSzPct val="65000"/>
              <a:buFont typeface="Arial" panose="020B0604020202020204" pitchFamily="34" charset="0"/>
              <a:buChar char="•"/>
            </a:pPr>
            <a:r>
              <a:rPr lang="en-US" sz="2000" b="0" i="0">
                <a:solidFill>
                  <a:srgbClr val="1D2433"/>
                </a:solidFill>
                <a:latin typeface="Raleway"/>
              </a:rPr>
              <a:t>Then: an N-sided die, and then any whole number from low to high (both included)</a:t>
            </a:r>
          </a:p>
        </p:txBody>
      </p:sp>
      <p:sp>
        <p:nvSpPr>
          <p:cNvPr id="14" name="Terminal"/>
          <p:cNvSpPr/>
          <p:nvPr/>
        </p:nvSpPr>
        <p:spPr>
          <a:xfrm>
            <a:off x="7040880" y="1965960"/>
            <a:ext cx="4507992" cy="1914144"/>
          </a:xfrm>
          <a:prstGeom prst="roundRect">
            <a:avLst>
              <a:gd name="adj" fmla="val 4000"/>
            </a:avLst>
          </a:prstGeom>
          <a:solidFill>
            <a:srgbClr val="111318"/>
          </a:solidFill>
          <a:ln w="12700">
            <a:solidFill>
              <a:srgbClr val="D8DBE0"/>
            </a:solidFill>
          </a:ln>
        </p:spPr>
        <p:txBody>
          <a:bodyPr rtlCol="0" anchor="ctr"/>
          <a:lstStyle/>
          <a:p>
            <a:endParaRPr/>
          </a:p>
        </p:txBody>
      </p:sp>
      <p:sp>
        <p:nvSpPr>
          <p:cNvPr id="15" name="Terminal header"/>
          <p:cNvSpPr/>
          <p:nvPr/>
        </p:nvSpPr>
        <p:spPr>
          <a:xfrm>
            <a:off x="7040880" y="1965960"/>
            <a:ext cx="4507992" cy="384048"/>
          </a:xfrm>
          <a:prstGeom prst="roundRect">
            <a:avLst>
              <a:gd name="adj" fmla="val 10000"/>
            </a:avLst>
          </a:prstGeom>
          <a:solidFill>
            <a:srgbClr val="1B1E26"/>
          </a:solidFill>
          <a:ln w="12700">
            <a:solidFill>
              <a:srgbClr val="D8DBE0"/>
            </a:solidFill>
          </a:ln>
        </p:spPr>
        <p:txBody>
          <a:bodyPr rtlCol="0" anchor="ctr"/>
          <a:lstStyle/>
          <a:p>
            <a:endParaRPr/>
          </a:p>
        </p:txBody>
      </p:sp>
      <p:sp>
        <p:nvSpPr>
          <p:cNvPr id="16" name="Terminal header fill"/>
          <p:cNvSpPr/>
          <p:nvPr/>
        </p:nvSpPr>
        <p:spPr>
          <a:xfrm>
            <a:off x="7059168" y="2157984"/>
            <a:ext cx="4471416" cy="192024"/>
          </a:xfrm>
          <a:prstGeom prst="rect">
            <a:avLst/>
          </a:prstGeom>
          <a:solidFill>
            <a:srgbClr val="1B1E26"/>
          </a:solidFill>
          <a:ln>
            <a:noFill/>
          </a:ln>
        </p:spPr>
        <p:txBody>
          <a:bodyPr rtlCol="0" anchor="ctr"/>
          <a:lstStyle/>
          <a:p>
            <a:endParaRPr/>
          </a:p>
        </p:txBody>
      </p:sp>
      <p:sp>
        <p:nvSpPr>
          <p:cNvPr id="17" name="Terminal label"/>
          <p:cNvSpPr txBox="1"/>
          <p:nvPr/>
        </p:nvSpPr>
        <p:spPr>
          <a:xfrm>
            <a:off x="7315200" y="1965960"/>
            <a:ext cx="4050792" cy="384048"/>
          </a:xfrm>
          <a:prstGeom prst="rect">
            <a:avLst/>
          </a:prstGeom>
          <a:noFill/>
        </p:spPr>
        <p:txBody>
          <a:bodyPr wrap="square" lIns="0" tIns="0" rIns="0" bIns="0" anchor="ctr">
            <a:noAutofit/>
          </a:bodyPr>
          <a:lstStyle/>
          <a:p>
            <a:pPr algn="l"/>
            <a:r>
              <a:rPr lang="en-US" sz="1200" b="0" i="0">
                <a:solidFill>
                  <a:srgbClr val="E9EAEE"/>
                </a:solidFill>
                <a:latin typeface="Consolas"/>
              </a:rPr>
              <a:t>the REPL</a:t>
            </a:r>
          </a:p>
        </p:txBody>
      </p:sp>
      <p:sp>
        <p:nvSpPr>
          <p:cNvPr id="18" name="Output"/>
          <p:cNvSpPr txBox="1"/>
          <p:nvPr/>
        </p:nvSpPr>
        <p:spPr>
          <a:xfrm>
            <a:off x="7315200" y="2478024"/>
            <a:ext cx="4050792" cy="1310639"/>
          </a:xfrm>
          <a:prstGeom prst="rect">
            <a:avLst/>
          </a:prstGeom>
          <a:noFill/>
        </p:spPr>
        <p:txBody>
          <a:bodyPr wrap="none" lIns="0" tIns="0" rIns="0" bIns="0" anchor="t">
            <a:noAutofit/>
          </a:bodyPr>
          <a:lstStyle/>
          <a:p>
            <a:pPr algn="l"/>
            <a:r>
              <a:rPr lang="en-US" sz="1600" b="0" i="0">
                <a:solidFill>
                  <a:srgbClr val="E9EAEE"/>
                </a:solidFill>
                <a:latin typeface="Consolas"/>
              </a:rPr>
              <a:t>&gt;&gt;&gt; import random</a:t>
            </a:r>
          </a:p>
          <a:p>
            <a:pPr algn="l"/>
            <a:r>
              <a:rPr lang="en-US" sz="1600" b="0" i="0">
                <a:solidFill>
                  <a:srgbClr val="E9EAEE"/>
                </a:solidFill>
                <a:latin typeface="Consolas"/>
              </a:rPr>
              <a:t>&gt;&gt;&gt; random.random()</a:t>
            </a:r>
          </a:p>
          <a:p>
            <a:pPr algn="l"/>
            <a:r>
              <a:rPr lang="en-US" sz="1600" b="0" i="0">
                <a:solidFill>
                  <a:srgbClr val="E9EAEE"/>
                </a:solidFill>
                <a:latin typeface="Consolas"/>
              </a:rPr>
              <a:t>0.7303...</a:t>
            </a:r>
          </a:p>
          <a:p>
            <a:pPr algn="l"/>
            <a:r>
              <a:rPr lang="en-US" sz="1600" b="0" i="0">
                <a:solidFill>
                  <a:srgbClr val="E9EAEE"/>
                </a:solidFill>
                <a:latin typeface="Consolas"/>
              </a:rPr>
              <a:t>&gt;&gt;&gt; ???</a:t>
            </a:r>
          </a:p>
          <a:p>
            <a:pPr algn="l"/>
            <a:r>
              <a:rPr lang="en-US" sz="1600" b="0" i="0">
                <a:solidFill>
                  <a:srgbClr val="E9EAEE"/>
                </a:solidFill>
                <a:latin typeface="Consolas"/>
              </a:rPr>
              <a:t>4</a:t>
            </a:r>
          </a:p>
        </p:txBody>
      </p:sp>
      <p:sp>
        <p:nvSpPr>
          <p:cNvPr id="19" name="Panel"/>
          <p:cNvSpPr/>
          <p:nvPr/>
        </p:nvSpPr>
        <p:spPr>
          <a:xfrm>
            <a:off x="7040880" y="4108704"/>
            <a:ext cx="4507992" cy="1844040"/>
          </a:xfrm>
          <a:prstGeom prst="roundRect">
            <a:avLst>
              <a:gd name="adj" fmla="val 6000"/>
            </a:avLst>
          </a:prstGeom>
          <a:solidFill>
            <a:srgbClr val="F2F3F5"/>
          </a:solidFill>
          <a:ln w="12700">
            <a:solidFill>
              <a:srgbClr val="D8DBE0"/>
            </a:solidFill>
          </a:ln>
        </p:spPr>
        <p:txBody>
          <a:bodyPr rtlCol="0" anchor="ctr"/>
          <a:lstStyle/>
          <a:p>
            <a:endParaRPr/>
          </a:p>
        </p:txBody>
      </p:sp>
      <p:sp>
        <p:nvSpPr>
          <p:cNvPr id="20" name="Panel text"/>
          <p:cNvSpPr txBox="1"/>
          <p:nvPr/>
        </p:nvSpPr>
        <p:spPr>
          <a:xfrm>
            <a:off x="7178040" y="4218432"/>
            <a:ext cx="4233672" cy="1624584"/>
          </a:xfrm>
          <a:prstGeom prst="rect">
            <a:avLst/>
          </a:prstGeom>
          <a:noFill/>
        </p:spPr>
        <p:txBody>
          <a:bodyPr wrap="square" lIns="0" tIns="0" rIns="0" bIns="0" anchor="t">
            <a:noAutofit/>
          </a:bodyPr>
          <a:lstStyle/>
          <a:p>
            <a:pPr algn="l">
              <a:spcAft>
                <a:spcPts val="600"/>
              </a:spcAft>
            </a:pPr>
            <a:r>
              <a:rPr lang="en-US" sz="2200" b="0" i="0">
                <a:solidFill>
                  <a:srgbClr val="A64B00"/>
                </a:solidFill>
                <a:latin typeface="Raleway"/>
              </a:rPr>
              <a:t>Think about</a:t>
            </a:r>
          </a:p>
          <a:p>
            <a:pPr marL="201168" indent="-201168" algn="l">
              <a:spcAft>
                <a:spcPts val="600"/>
              </a:spcAft>
              <a:buSzPct val="65000"/>
              <a:buFont typeface="Arial" panose="020B0604020202020204" pitchFamily="34" charset="0"/>
              <a:buChar char="•"/>
            </a:pPr>
            <a:r>
              <a:rPr lang="en-US" sz="1600" b="0" i="0">
                <a:solidFill>
                  <a:srgbClr val="1D2433"/>
                </a:solidFill>
                <a:latin typeface="Raleway"/>
              </a:rPr>
              <a:t>Multiplying stretches the range; adding shifts it; </a:t>
            </a:r>
            <a:r>
              <a:rPr lang="en-US" sz="1600" b="0" i="0">
                <a:solidFill>
                  <a:srgbClr val="1D2433"/>
                </a:solidFill>
                <a:latin typeface="Consolas"/>
              </a:rPr>
              <a:t>int()</a:t>
            </a:r>
            <a:r>
              <a:rPr lang="en-US" sz="1600" b="0" i="0">
                <a:solidFill>
                  <a:srgbClr val="1D2433"/>
                </a:solidFill>
                <a:latin typeface="Raleway"/>
              </a:rPr>
              <a:t> cuts the decimals</a:t>
            </a:r>
          </a:p>
          <a:p>
            <a:pPr marL="201168" indent="-201168" algn="l">
              <a:spcAft>
                <a:spcPts val="600"/>
              </a:spcAft>
              <a:buSzPct val="65000"/>
              <a:buFont typeface="Arial" panose="020B0604020202020204" pitchFamily="34" charset="0"/>
              <a:buChar char="•"/>
            </a:pPr>
            <a:r>
              <a:rPr lang="en-US" sz="1600" b="0" i="0">
                <a:solidFill>
                  <a:srgbClr val="1D2433"/>
                </a:solidFill>
                <a:latin typeface="Raleway"/>
              </a:rPr>
              <a:t>Check each step on paper with 0.0 and with 0.999</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21 - Idea - The idea: stretch, cut, shift">
    <p:spTree>
      <p:nvGrpSpPr>
        <p:cNvPr id="1" name=""/>
        <p:cNvGrpSpPr/>
        <p:nvPr/>
      </p:nvGrpSpPr>
      <p:grpSpPr>
        <a:xfrm>
          <a:off x="0" y="0"/>
          <a:ext cx="0" cy="0"/>
          <a:chOff x="0" y="0"/>
          <a:chExt cx="0" cy="0"/>
        </a:xfrm>
      </p:grpSpPr>
      <p:sp>
        <p:nvSpPr>
          <p:cNvPr id="2" name="Slide number"/>
          <p:cNvSpPr txBox="1"/>
          <p:nvPr/>
        </p:nvSpPr>
        <p:spPr>
          <a:xfrm>
            <a:off x="11430000" y="6446520"/>
            <a:ext cx="548640" cy="320040"/>
          </a:xfrm>
          <a:prstGeom prst="rect">
            <a:avLst/>
          </a:prstGeom>
          <a:noFill/>
        </p:spPr>
        <p:txBody>
          <a:bodyPr wrap="none" lIns="0" tIns="0" rIns="0" bIns="0" anchor="ctr">
            <a:spAutoFit/>
          </a:bodyPr>
          <a:lstStyle/>
          <a:p>
            <a:pPr algn="r"/>
            <a:fld id="{007A6A40-1A7B-4A1B-9D78-D7D11C5A8472}" type="slidenum">
              <a:rPr lang="en-US" sz="1200">
                <a:solidFill>
                  <a:srgbClr val="1B3A5C"/>
                </a:solidFill>
                <a:latin typeface="Raleway"/>
              </a:rPr>
              <a:t>23</a:t>
            </a:fld>
            <a:endParaRPr lang="en-US" sz="1200">
              <a:solidFill>
                <a:srgbClr val="1B3A5C"/>
              </a:solidFill>
              <a:latin typeface="Raleway"/>
            </a:endParaRPr>
          </a:p>
        </p:txBody>
      </p:sp>
      <p:sp>
        <p:nvSpPr>
          <p:cNvPr id="3" name="Title"/>
          <p:cNvSpPr txBox="1"/>
          <p:nvPr/>
        </p:nvSpPr>
        <p:spPr>
          <a:xfrm>
            <a:off x="640080" y="502920"/>
            <a:ext cx="11411712" cy="822960"/>
          </a:xfrm>
          <a:prstGeom prst="rect">
            <a:avLst/>
          </a:prstGeom>
          <a:noFill/>
        </p:spPr>
        <p:txBody>
          <a:bodyPr wrap="square" lIns="0" tIns="0" rIns="0" bIns="0" anchor="ctr">
            <a:noAutofit/>
          </a:bodyPr>
          <a:lstStyle/>
          <a:p>
            <a:pPr algn="l"/>
            <a:r>
              <a:rPr lang="en-US" sz="4000" b="1" i="0">
                <a:solidFill>
                  <a:srgbClr val="1F4E79"/>
                </a:solidFill>
                <a:latin typeface="Raleway"/>
              </a:rPr>
              <a:t>The idea: stretch, cut, shift</a:t>
            </a:r>
          </a:p>
        </p:txBody>
      </p:sp>
      <p:sp>
        <p:nvSpPr>
          <p:cNvPr id="4" name="Lead"/>
          <p:cNvSpPr txBox="1"/>
          <p:nvPr/>
        </p:nvSpPr>
        <p:spPr>
          <a:xfrm>
            <a:off x="640080" y="1508760"/>
            <a:ext cx="10881360" cy="914400"/>
          </a:xfrm>
          <a:prstGeom prst="rect">
            <a:avLst/>
          </a:prstGeom>
          <a:noFill/>
        </p:spPr>
        <p:txBody>
          <a:bodyPr wrap="square" lIns="0" tIns="0" rIns="0" bIns="0" anchor="t">
            <a:noAutofit/>
          </a:bodyPr>
          <a:lstStyle/>
          <a:p>
            <a:pPr algn="l">
              <a:lnSpc>
                <a:spcPct val="110000"/>
              </a:lnSpc>
            </a:pPr>
            <a:r>
              <a:rPr lang="en-US" sz="2400" b="0" i="0">
                <a:solidFill>
                  <a:srgbClr val="A64B00"/>
                </a:solidFill>
                <a:latin typeface="Raleway"/>
              </a:rPr>
              <a:t>random.random() is a float in [0, 1). Fix one gap per step; check 0.0 and 0.999 each time.</a:t>
            </a:r>
          </a:p>
        </p:txBody>
      </p:sp>
      <p:sp>
        <p:nvSpPr>
          <p:cNvPr id="5" name="Steps"/>
          <p:cNvSpPr txBox="1"/>
          <p:nvPr/>
        </p:nvSpPr>
        <p:spPr>
          <a:xfrm>
            <a:off x="640080" y="2514600"/>
            <a:ext cx="5852160" cy="3657600"/>
          </a:xfrm>
          <a:prstGeom prst="rect">
            <a:avLst/>
          </a:prstGeom>
          <a:noFill/>
        </p:spPr>
        <p:txBody>
          <a:bodyPr wrap="square" lIns="0" tIns="0" rIns="0" bIns="0" anchor="t">
            <a:noAutofit/>
          </a:bodyPr>
          <a:lstStyle/>
          <a:p>
            <a:pPr marL="411480" indent="-411480" algn="l">
              <a:lnSpc>
                <a:spcPct val="114999"/>
              </a:lnSpc>
              <a:spcAft>
                <a:spcPts val="1000"/>
              </a:spcAft>
            </a:pPr>
            <a:r>
              <a:rPr lang="en-US" sz="2000" b="1" i="0">
                <a:solidFill>
                  <a:srgbClr val="A64B00"/>
                </a:solidFill>
                <a:latin typeface="Raleway"/>
              </a:rPr>
              <a:t>1 · </a:t>
            </a:r>
            <a:r>
              <a:rPr lang="en-US" sz="2000" b="0" i="0">
                <a:solidFill>
                  <a:srgbClr val="1D2433"/>
                </a:solidFill>
                <a:latin typeface="Raleway"/>
              </a:rPr>
              <a:t>Stretch - </a:t>
            </a:r>
            <a:r>
              <a:rPr lang="en-US" sz="2000" b="0" i="0">
                <a:solidFill>
                  <a:srgbClr val="1D2433"/>
                </a:solidFill>
                <a:latin typeface="Consolas"/>
              </a:rPr>
              <a:t>r * 6</a:t>
            </a:r>
            <a:r>
              <a:rPr lang="en-US" sz="2000" b="0" i="0">
                <a:solidFill>
                  <a:srgbClr val="1D2433"/>
                </a:solidFill>
                <a:latin typeface="Raleway"/>
              </a:rPr>
              <a:t> is a float in [0, 6): 0.0 stays 0.0, 0.999 becomes 5.994</a:t>
            </a:r>
          </a:p>
          <a:p>
            <a:pPr marL="411480" indent="-411480" algn="l">
              <a:lnSpc>
                <a:spcPct val="114999"/>
              </a:lnSpc>
              <a:spcAft>
                <a:spcPts val="1000"/>
              </a:spcAft>
            </a:pPr>
            <a:r>
              <a:rPr lang="en-US" sz="2000" b="1" i="0">
                <a:solidFill>
                  <a:srgbClr val="A64B00"/>
                </a:solidFill>
                <a:latin typeface="Raleway"/>
              </a:rPr>
              <a:t>2 · </a:t>
            </a:r>
            <a:r>
              <a:rPr lang="en-US" sz="2000" b="0" i="0">
                <a:solidFill>
                  <a:srgbClr val="1D2433"/>
                </a:solidFill>
                <a:latin typeface="Raleway"/>
              </a:rPr>
              <a:t>Cut - </a:t>
            </a:r>
            <a:r>
              <a:rPr lang="en-US" sz="2000" b="0" i="0">
                <a:solidFill>
                  <a:srgbClr val="1D2433"/>
                </a:solidFill>
                <a:latin typeface="Consolas"/>
              </a:rPr>
              <a:t>int(r * 6)</a:t>
            </a:r>
            <a:r>
              <a:rPr lang="en-US" sz="2000" b="0" i="0">
                <a:solidFill>
                  <a:srgbClr val="1D2433"/>
                </a:solidFill>
                <a:latin typeface="Raleway"/>
              </a:rPr>
              <a:t> is a whole number from 0 to 5: 5.994 becomes 5</a:t>
            </a:r>
          </a:p>
          <a:p>
            <a:pPr marL="411480" indent="-411480" algn="l">
              <a:lnSpc>
                <a:spcPct val="114999"/>
              </a:lnSpc>
              <a:spcAft>
                <a:spcPts val="1000"/>
              </a:spcAft>
            </a:pPr>
            <a:r>
              <a:rPr lang="en-US" sz="2000" b="1" i="0">
                <a:solidFill>
                  <a:srgbClr val="A64B00"/>
                </a:solidFill>
                <a:latin typeface="Raleway"/>
              </a:rPr>
              <a:t>3 · </a:t>
            </a:r>
            <a:r>
              <a:rPr lang="en-US" sz="2000" b="0" i="0">
                <a:solidFill>
                  <a:srgbClr val="1D2433"/>
                </a:solidFill>
                <a:latin typeface="Raleway"/>
              </a:rPr>
              <a:t>Shift - </a:t>
            </a:r>
            <a:r>
              <a:rPr lang="en-US" sz="2000" b="0" i="0">
                <a:solidFill>
                  <a:srgbClr val="1D2433"/>
                </a:solidFill>
                <a:latin typeface="Consolas"/>
              </a:rPr>
              <a:t>int(r * 6) + 1</a:t>
            </a:r>
            <a:r>
              <a:rPr lang="en-US" sz="2000" b="0" i="0">
                <a:solidFill>
                  <a:srgbClr val="1D2433"/>
                </a:solidFill>
                <a:latin typeface="Raleway"/>
              </a:rPr>
              <a:t> is a whole number from 1 to 6: a die</a:t>
            </a:r>
          </a:p>
          <a:p>
            <a:pPr marL="411480" indent="-411480" algn="l">
              <a:lnSpc>
                <a:spcPct val="114999"/>
              </a:lnSpc>
              <a:spcAft>
                <a:spcPts val="1000"/>
              </a:spcAft>
            </a:pPr>
            <a:r>
              <a:rPr lang="en-US" sz="2000" b="1" i="0">
                <a:solidFill>
                  <a:srgbClr val="A64B00"/>
                </a:solidFill>
                <a:latin typeface="Raleway"/>
              </a:rPr>
              <a:t>4 · </a:t>
            </a:r>
            <a:r>
              <a:rPr lang="en-US" sz="2000" b="0" i="0">
                <a:solidFill>
                  <a:srgbClr val="1D2433"/>
                </a:solidFill>
                <a:latin typeface="Raleway"/>
              </a:rPr>
              <a:t>Check - each face owns a slice of width 1/6 of [0, 1): the die is fair</a:t>
            </a:r>
          </a:p>
        </p:txBody>
      </p:sp>
      <p:sp>
        <p:nvSpPr>
          <p:cNvPr id="6" name="Panel label"/>
          <p:cNvSpPr txBox="1"/>
          <p:nvPr/>
        </p:nvSpPr>
        <p:spPr>
          <a:xfrm>
            <a:off x="6858000" y="2514600"/>
            <a:ext cx="4690872" cy="365760"/>
          </a:xfrm>
          <a:prstGeom prst="rect">
            <a:avLst/>
          </a:prstGeom>
          <a:noFill/>
        </p:spPr>
        <p:txBody>
          <a:bodyPr wrap="square" lIns="0" tIns="0" rIns="0" bIns="0" anchor="t">
            <a:noAutofit/>
          </a:bodyPr>
          <a:lstStyle/>
          <a:p>
            <a:pPr algn="l"/>
            <a:r>
              <a:rPr lang="en-US" sz="2200" b="0" i="0">
                <a:solidFill>
                  <a:srgbClr val="843C0B"/>
                </a:solidFill>
                <a:latin typeface="Raleway"/>
              </a:rPr>
              <a:t>In pseudocode</a:t>
            </a:r>
          </a:p>
        </p:txBody>
      </p:sp>
      <p:sp>
        <p:nvSpPr>
          <p:cNvPr id="7" name="Light panel"/>
          <p:cNvSpPr/>
          <p:nvPr/>
        </p:nvSpPr>
        <p:spPr>
          <a:xfrm>
            <a:off x="6858000" y="2971800"/>
            <a:ext cx="4690872" cy="2108200"/>
          </a:xfrm>
          <a:prstGeom prst="roundRect">
            <a:avLst>
              <a:gd name="adj" fmla="val 6000"/>
            </a:avLst>
          </a:prstGeom>
          <a:solidFill>
            <a:srgbClr val="F2F3F5"/>
          </a:solidFill>
          <a:ln w="12700">
            <a:solidFill>
              <a:srgbClr val="D8DBE0"/>
            </a:solidFill>
          </a:ln>
        </p:spPr>
        <p:txBody>
          <a:bodyPr rtlCol="0" anchor="ctr"/>
          <a:lstStyle/>
          <a:p>
            <a:endParaRPr/>
          </a:p>
        </p:txBody>
      </p:sp>
      <p:sp>
        <p:nvSpPr>
          <p:cNvPr id="8" name="Light panel text"/>
          <p:cNvSpPr txBox="1"/>
          <p:nvPr/>
        </p:nvSpPr>
        <p:spPr>
          <a:xfrm>
            <a:off x="7040880" y="3108960"/>
            <a:ext cx="4325112" cy="1833880"/>
          </a:xfrm>
          <a:prstGeom prst="rect">
            <a:avLst/>
          </a:prstGeom>
          <a:noFill/>
        </p:spPr>
        <p:txBody>
          <a:bodyPr wrap="square" lIns="0" tIns="0" rIns="0" bIns="0" anchor="t">
            <a:noAutofit/>
          </a:bodyPr>
          <a:lstStyle/>
          <a:p>
            <a:pPr algn="l"/>
            <a:r>
              <a:rPr lang="en-US" sz="2000" b="0" i="0">
                <a:solidFill>
                  <a:srgbClr val="1D2433"/>
                </a:solidFill>
                <a:latin typeface="Raleway"/>
              </a:rPr>
              <a:t>r = a random float in [0, 1)</a:t>
            </a:r>
          </a:p>
          <a:p>
            <a:pPr algn="l"/>
            <a:r>
              <a:rPr lang="en-US" sz="2000" b="0" i="0">
                <a:solidFill>
                  <a:srgbClr val="1D2433"/>
                </a:solidFill>
                <a:latin typeface="Raleway"/>
              </a:rPr>
              <a:t>stretch: r * 6, now in [0, 6)</a:t>
            </a:r>
          </a:p>
          <a:p>
            <a:pPr algn="l"/>
            <a:r>
              <a:rPr lang="en-US" sz="2000" b="0" i="0">
                <a:solidFill>
                  <a:srgbClr val="1D2433"/>
                </a:solidFill>
                <a:latin typeface="Raleway"/>
              </a:rPr>
              <a:t>cut: int(...), now 0 to 5</a:t>
            </a:r>
          </a:p>
          <a:p>
            <a:pPr algn="l"/>
            <a:r>
              <a:rPr lang="en-US" sz="2000" b="0" i="0">
                <a:solidFill>
                  <a:srgbClr val="1D2433"/>
                </a:solidFill>
                <a:latin typeface="Raleway"/>
              </a:rPr>
              <a:t>shift: + 1, now 1 to 6</a:t>
            </a:r>
          </a:p>
          <a:p>
            <a:pPr algn="l"/>
            <a:r>
              <a:rPr lang="en-US" sz="2000" b="0" i="0">
                <a:solidFill>
                  <a:srgbClr val="1D2433"/>
                </a:solidFill>
                <a:latin typeface="Raleway"/>
              </a:rPr>
              <a:t>print it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name="22 - Solution - Exercise 5: one solution, step by step">
    <p:spTree>
      <p:nvGrpSpPr>
        <p:cNvPr id="1" name=""/>
        <p:cNvGrpSpPr/>
        <p:nvPr/>
      </p:nvGrpSpPr>
      <p:grpSpPr>
        <a:xfrm>
          <a:off x="0" y="0"/>
          <a:ext cx="0" cy="0"/>
          <a:chOff x="0" y="0"/>
          <a:chExt cx="0" cy="0"/>
        </a:xfrm>
      </p:grpSpPr>
      <p:sp>
        <p:nvSpPr>
          <p:cNvPr id="2" name="Slide number"/>
          <p:cNvSpPr txBox="1"/>
          <p:nvPr/>
        </p:nvSpPr>
        <p:spPr>
          <a:xfrm>
            <a:off x="11430000" y="6446520"/>
            <a:ext cx="548640" cy="320040"/>
          </a:xfrm>
          <a:prstGeom prst="rect">
            <a:avLst/>
          </a:prstGeom>
          <a:noFill/>
        </p:spPr>
        <p:txBody>
          <a:bodyPr wrap="none" lIns="0" tIns="0" rIns="0" bIns="0" anchor="ctr">
            <a:spAutoFit/>
          </a:bodyPr>
          <a:lstStyle/>
          <a:p>
            <a:pPr algn="r"/>
            <a:fld id="{007A6A40-1A7B-4A1B-9D78-D7D11C5A8472}" type="slidenum">
              <a:rPr lang="en-US" sz="1200">
                <a:solidFill>
                  <a:srgbClr val="1B3A5C"/>
                </a:solidFill>
                <a:latin typeface="Raleway"/>
              </a:rPr>
              <a:t>24</a:t>
            </a:fld>
            <a:endParaRPr lang="en-US" sz="1200">
              <a:solidFill>
                <a:srgbClr val="1B3A5C"/>
              </a:solidFill>
              <a:latin typeface="Raleway"/>
            </a:endParaRPr>
          </a:p>
        </p:txBody>
      </p:sp>
      <p:sp>
        <p:nvSpPr>
          <p:cNvPr id="3" name="Title"/>
          <p:cNvSpPr txBox="1"/>
          <p:nvPr/>
        </p:nvSpPr>
        <p:spPr>
          <a:xfrm>
            <a:off x="640080" y="502920"/>
            <a:ext cx="11411712" cy="822960"/>
          </a:xfrm>
          <a:prstGeom prst="rect">
            <a:avLst/>
          </a:prstGeom>
          <a:noFill/>
        </p:spPr>
        <p:txBody>
          <a:bodyPr wrap="square" lIns="0" tIns="0" rIns="0" bIns="0" anchor="ctr">
            <a:noAutofit/>
          </a:bodyPr>
          <a:lstStyle/>
          <a:p>
            <a:pPr algn="l"/>
            <a:r>
              <a:rPr lang="en-US" sz="4000" b="1" i="0">
                <a:solidFill>
                  <a:srgbClr val="1F4E79"/>
                </a:solidFill>
                <a:latin typeface="Raleway"/>
              </a:rPr>
              <a:t>Exercise 5: one solution, step by step</a:t>
            </a:r>
          </a:p>
        </p:txBody>
      </p:sp>
      <p:sp>
        <p:nvSpPr>
          <p:cNvPr id="4" name="Code card"/>
          <p:cNvSpPr/>
          <p:nvPr/>
        </p:nvSpPr>
        <p:spPr>
          <a:xfrm>
            <a:off x="640080" y="1508760"/>
            <a:ext cx="6766560" cy="4047743"/>
          </a:xfrm>
          <a:prstGeom prst="roundRect">
            <a:avLst>
              <a:gd name="adj" fmla="val 4000"/>
            </a:avLst>
          </a:prstGeom>
          <a:solidFill>
            <a:srgbClr val="111318"/>
          </a:solidFill>
          <a:ln w="12700">
            <a:solidFill>
              <a:srgbClr val="D8DBE0"/>
            </a:solidFill>
          </a:ln>
        </p:spPr>
        <p:txBody>
          <a:bodyPr rtlCol="0" anchor="ctr"/>
          <a:lstStyle/>
          <a:p>
            <a:endParaRPr/>
          </a:p>
        </p:txBody>
      </p:sp>
      <p:sp>
        <p:nvSpPr>
          <p:cNvPr id="5" name="Code card header"/>
          <p:cNvSpPr/>
          <p:nvPr/>
        </p:nvSpPr>
        <p:spPr>
          <a:xfrm>
            <a:off x="640080" y="1508760"/>
            <a:ext cx="6766560" cy="384048"/>
          </a:xfrm>
          <a:prstGeom prst="roundRect">
            <a:avLst>
              <a:gd name="adj" fmla="val 10000"/>
            </a:avLst>
          </a:prstGeom>
          <a:solidFill>
            <a:srgbClr val="1B1E26"/>
          </a:solidFill>
          <a:ln w="12700">
            <a:solidFill>
              <a:srgbClr val="D8DBE0"/>
            </a:solidFill>
          </a:ln>
        </p:spPr>
        <p:txBody>
          <a:bodyPr rtlCol="0" anchor="ctr"/>
          <a:lstStyle/>
          <a:p>
            <a:endParaRPr/>
          </a:p>
        </p:txBody>
      </p:sp>
      <p:sp>
        <p:nvSpPr>
          <p:cNvPr id="6" name="Code card header fill"/>
          <p:cNvSpPr/>
          <p:nvPr/>
        </p:nvSpPr>
        <p:spPr>
          <a:xfrm>
            <a:off x="658368" y="1700784"/>
            <a:ext cx="6729984" cy="192024"/>
          </a:xfrm>
          <a:prstGeom prst="rect">
            <a:avLst/>
          </a:prstGeom>
          <a:solidFill>
            <a:srgbClr val="1B1E26"/>
          </a:solidFill>
          <a:ln>
            <a:noFill/>
          </a:ln>
        </p:spPr>
        <p:txBody>
          <a:bodyPr rtlCol="0" anchor="ctr"/>
          <a:lstStyle/>
          <a:p>
            <a:endParaRPr/>
          </a:p>
        </p:txBody>
      </p:sp>
      <p:sp>
        <p:nvSpPr>
          <p:cNvPr id="7" name="Oval 6"/>
          <p:cNvSpPr/>
          <p:nvPr/>
        </p:nvSpPr>
        <p:spPr>
          <a:xfrm>
            <a:off x="868680" y="1645919"/>
            <a:ext cx="118872" cy="118872"/>
          </a:xfrm>
          <a:prstGeom prst="ellipse">
            <a:avLst/>
          </a:prstGeom>
          <a:solidFill>
            <a:srgbClr val="FF6B6B"/>
          </a:solidFill>
          <a:ln>
            <a:noFill/>
          </a:ln>
        </p:spPr>
        <p:txBody>
          <a:bodyPr rtlCol="0" anchor="ctr"/>
          <a:lstStyle/>
          <a:p>
            <a:pPr algn="ctr"/>
            <a:endParaRPr/>
          </a:p>
        </p:txBody>
      </p:sp>
      <p:sp>
        <p:nvSpPr>
          <p:cNvPr id="8" name="Oval 7"/>
          <p:cNvSpPr/>
          <p:nvPr/>
        </p:nvSpPr>
        <p:spPr>
          <a:xfrm>
            <a:off x="1143000" y="1645919"/>
            <a:ext cx="118872" cy="118872"/>
          </a:xfrm>
          <a:prstGeom prst="ellipse">
            <a:avLst/>
          </a:prstGeom>
          <a:solidFill>
            <a:srgbClr val="FFD94A"/>
          </a:solidFill>
          <a:ln>
            <a:noFill/>
          </a:ln>
        </p:spPr>
        <p:txBody>
          <a:bodyPr rtlCol="0" anchor="ctr"/>
          <a:lstStyle/>
          <a:p>
            <a:pPr algn="ctr"/>
            <a:endParaRPr/>
          </a:p>
        </p:txBody>
      </p:sp>
      <p:sp>
        <p:nvSpPr>
          <p:cNvPr id="9" name="Oval 8"/>
          <p:cNvSpPr/>
          <p:nvPr/>
        </p:nvSpPr>
        <p:spPr>
          <a:xfrm>
            <a:off x="1417319" y="1645919"/>
            <a:ext cx="118872" cy="118872"/>
          </a:xfrm>
          <a:prstGeom prst="ellipse">
            <a:avLst/>
          </a:prstGeom>
          <a:solidFill>
            <a:srgbClr val="8FE3AB"/>
          </a:solidFill>
          <a:ln>
            <a:noFill/>
          </a:ln>
        </p:spPr>
        <p:txBody>
          <a:bodyPr rtlCol="0" anchor="ctr"/>
          <a:lstStyle/>
          <a:p>
            <a:pPr algn="ctr"/>
            <a:endParaRPr/>
          </a:p>
        </p:txBody>
      </p:sp>
      <p:sp>
        <p:nvSpPr>
          <p:cNvPr id="10" name="Filename"/>
          <p:cNvSpPr txBox="1"/>
          <p:nvPr/>
        </p:nvSpPr>
        <p:spPr>
          <a:xfrm>
            <a:off x="1828800" y="1508760"/>
            <a:ext cx="5394960" cy="384048"/>
          </a:xfrm>
          <a:prstGeom prst="rect">
            <a:avLst/>
          </a:prstGeom>
          <a:noFill/>
        </p:spPr>
        <p:txBody>
          <a:bodyPr wrap="square" lIns="0" tIns="0" rIns="0" bIns="0" anchor="ctr">
            <a:noAutofit/>
          </a:bodyPr>
          <a:lstStyle/>
          <a:p>
            <a:pPr algn="l"/>
            <a:r>
              <a:rPr lang="en-US" sz="1200" b="0" i="0">
                <a:solidFill>
                  <a:srgbClr val="E9EAEE"/>
                </a:solidFill>
                <a:latin typeface="Consolas"/>
              </a:rPr>
              <a:t>die.py</a:t>
            </a:r>
          </a:p>
        </p:txBody>
      </p:sp>
      <p:sp>
        <p:nvSpPr>
          <p:cNvPr id="11" name="Code"/>
          <p:cNvSpPr txBox="1"/>
          <p:nvPr/>
        </p:nvSpPr>
        <p:spPr>
          <a:xfrm>
            <a:off x="1005840" y="2002536"/>
            <a:ext cx="6126480" cy="3462527"/>
          </a:xfrm>
          <a:prstGeom prst="rect">
            <a:avLst/>
          </a:prstGeom>
          <a:noFill/>
        </p:spPr>
        <p:txBody>
          <a:bodyPr wrap="none" lIns="0" tIns="0" rIns="0" bIns="0" anchor="t">
            <a:noAutofit/>
          </a:bodyPr>
          <a:lstStyle/>
          <a:p>
            <a:pPr algn="l"/>
            <a:r>
              <a:rPr lang="en-US" sz="2000" b="0" i="0">
                <a:solidFill>
                  <a:srgbClr val="8FA9E8"/>
                </a:solidFill>
                <a:latin typeface="Consolas"/>
              </a:rPr>
              <a:t>import</a:t>
            </a:r>
            <a:r>
              <a:rPr lang="en-US" sz="2000" b="0" i="0">
                <a:solidFill>
                  <a:srgbClr val="E9EAEE"/>
                </a:solidFill>
                <a:latin typeface="Consolas"/>
              </a:rPr>
              <a:t> random</a:t>
            </a:r>
          </a:p>
          <a:p>
            <a:pPr algn="l"/>
            <a:endParaRPr lang="en-US" sz="2000" b="0" i="0">
              <a:solidFill>
                <a:srgbClr val="E9EAEE"/>
              </a:solidFill>
              <a:latin typeface="Consolas"/>
            </a:endParaRPr>
          </a:p>
          <a:p>
            <a:pPr algn="l"/>
            <a:r>
              <a:rPr lang="en-US" sz="2000" b="0" i="0">
                <a:solidFill>
                  <a:srgbClr val="E9EAEE"/>
                </a:solidFill>
                <a:latin typeface="Consolas"/>
              </a:rPr>
              <a:t>r = random.</a:t>
            </a:r>
            <a:r>
              <a:rPr lang="en-US" sz="2000" b="0" i="0">
                <a:solidFill>
                  <a:srgbClr val="F5B759"/>
                </a:solidFill>
                <a:latin typeface="Consolas"/>
              </a:rPr>
              <a:t>random</a:t>
            </a:r>
            <a:r>
              <a:rPr lang="en-US" sz="2000" b="0" i="0">
                <a:solidFill>
                  <a:srgbClr val="E9EAEE"/>
                </a:solidFill>
                <a:latin typeface="Consolas"/>
              </a:rPr>
              <a:t>()</a:t>
            </a:r>
          </a:p>
          <a:p>
            <a:pPr algn="l"/>
            <a:r>
              <a:rPr lang="en-US" sz="2000" b="0" i="0">
                <a:solidFill>
                  <a:srgbClr val="F5B759"/>
                </a:solidFill>
                <a:latin typeface="Consolas"/>
              </a:rPr>
              <a:t>print</a:t>
            </a:r>
            <a:r>
              <a:rPr lang="en-US" sz="2000" b="0" i="0">
                <a:solidFill>
                  <a:srgbClr val="E9EAEE"/>
                </a:solidFill>
                <a:latin typeface="Consolas"/>
              </a:rPr>
              <a:t>(f"random.random() gave {r}")</a:t>
            </a:r>
          </a:p>
          <a:p>
            <a:pPr algn="l"/>
            <a:endParaRPr lang="en-US" sz="2000" b="0" i="0">
              <a:solidFill>
                <a:srgbClr val="E9EAEE"/>
              </a:solidFill>
              <a:latin typeface="Consolas"/>
            </a:endParaRPr>
          </a:p>
          <a:p>
            <a:pPr algn="l"/>
            <a:r>
              <a:rPr lang="en-US" sz="2000" b="0" i="0">
                <a:solidFill>
                  <a:srgbClr val="E9EAEE"/>
                </a:solidFill>
                <a:latin typeface="Consolas"/>
              </a:rPr>
              <a:t>stretched = r * 6</a:t>
            </a:r>
          </a:p>
          <a:p>
            <a:pPr algn="l"/>
            <a:r>
              <a:rPr lang="en-US" sz="2000" b="0" i="0">
                <a:solidFill>
                  <a:srgbClr val="E9EAEE"/>
                </a:solidFill>
                <a:latin typeface="Consolas"/>
              </a:rPr>
              <a:t>cut = </a:t>
            </a:r>
            <a:r>
              <a:rPr lang="en-US" sz="2000" b="0" i="0">
                <a:solidFill>
                  <a:srgbClr val="F5B759"/>
                </a:solidFill>
                <a:latin typeface="Consolas"/>
              </a:rPr>
              <a:t>int</a:t>
            </a:r>
            <a:r>
              <a:rPr lang="en-US" sz="2000" b="0" i="0">
                <a:solidFill>
                  <a:srgbClr val="E9EAEE"/>
                </a:solidFill>
                <a:latin typeface="Consolas"/>
              </a:rPr>
              <a:t>(stretched)</a:t>
            </a:r>
          </a:p>
          <a:p>
            <a:pPr algn="l"/>
            <a:r>
              <a:rPr lang="en-US" sz="2000" b="0" i="0">
                <a:solidFill>
                  <a:srgbClr val="E9EAEE"/>
                </a:solidFill>
                <a:latin typeface="Consolas"/>
              </a:rPr>
              <a:t>face = cut + 1</a:t>
            </a:r>
          </a:p>
          <a:p>
            <a:pPr algn="l"/>
            <a:r>
              <a:rPr lang="en-US" sz="2000" b="0" i="0">
                <a:solidFill>
                  <a:srgbClr val="F5B759"/>
                </a:solidFill>
                <a:latin typeface="Consolas"/>
              </a:rPr>
              <a:t>print</a:t>
            </a:r>
            <a:r>
              <a:rPr lang="en-US" sz="2000" b="0" i="0">
                <a:solidFill>
                  <a:srgbClr val="E9EAEE"/>
                </a:solidFill>
                <a:latin typeface="Consolas"/>
              </a:rPr>
              <a:t>(f"stretched: {stretched}")</a:t>
            </a:r>
          </a:p>
          <a:p>
            <a:pPr algn="l"/>
            <a:r>
              <a:rPr lang="en-US" sz="2000" b="0" i="0">
                <a:solidFill>
                  <a:srgbClr val="F5B759"/>
                </a:solidFill>
                <a:latin typeface="Consolas"/>
              </a:rPr>
              <a:t>print</a:t>
            </a:r>
            <a:r>
              <a:rPr lang="en-US" sz="2000" b="0" i="0">
                <a:solidFill>
                  <a:srgbClr val="E9EAEE"/>
                </a:solidFill>
                <a:latin typeface="Consolas"/>
              </a:rPr>
              <a:t>(f"cut: {cut}")</a:t>
            </a:r>
          </a:p>
          <a:p>
            <a:pPr algn="l"/>
            <a:r>
              <a:rPr lang="en-US" sz="2000" b="0" i="0">
                <a:solidFill>
                  <a:srgbClr val="F5B759"/>
                </a:solidFill>
                <a:latin typeface="Consolas"/>
              </a:rPr>
              <a:t>print</a:t>
            </a:r>
            <a:r>
              <a:rPr lang="en-US" sz="2000" b="0" i="0">
                <a:solidFill>
                  <a:srgbClr val="E9EAEE"/>
                </a:solidFill>
                <a:latin typeface="Consolas"/>
              </a:rPr>
              <a:t>(f"the die shows {face}")</a:t>
            </a:r>
          </a:p>
        </p:txBody>
      </p:sp>
      <p:sp>
        <p:nvSpPr>
          <p:cNvPr id="12" name="Panel"/>
          <p:cNvSpPr/>
          <p:nvPr/>
        </p:nvSpPr>
        <p:spPr>
          <a:xfrm>
            <a:off x="7772400" y="1508760"/>
            <a:ext cx="3776472" cy="3346703"/>
          </a:xfrm>
          <a:prstGeom prst="roundRect">
            <a:avLst>
              <a:gd name="adj" fmla="val 6000"/>
            </a:avLst>
          </a:prstGeom>
          <a:solidFill>
            <a:srgbClr val="F2F3F5"/>
          </a:solidFill>
          <a:ln w="12700">
            <a:solidFill>
              <a:srgbClr val="D8DBE0"/>
            </a:solidFill>
          </a:ln>
        </p:spPr>
        <p:txBody>
          <a:bodyPr rtlCol="0" anchor="ctr"/>
          <a:lstStyle/>
          <a:p>
            <a:endParaRPr/>
          </a:p>
        </p:txBody>
      </p:sp>
      <p:sp>
        <p:nvSpPr>
          <p:cNvPr id="13" name="Panel text"/>
          <p:cNvSpPr txBox="1"/>
          <p:nvPr/>
        </p:nvSpPr>
        <p:spPr>
          <a:xfrm>
            <a:off x="7909560" y="1618488"/>
            <a:ext cx="3502152" cy="3127248"/>
          </a:xfrm>
          <a:prstGeom prst="rect">
            <a:avLst/>
          </a:prstGeom>
          <a:noFill/>
        </p:spPr>
        <p:txBody>
          <a:bodyPr wrap="square" lIns="0" tIns="0" rIns="0" bIns="0" anchor="t">
            <a:noAutofit/>
          </a:bodyPr>
          <a:lstStyle/>
          <a:p>
            <a:pPr algn="l">
              <a:spcAft>
                <a:spcPts val="600"/>
              </a:spcAft>
            </a:pPr>
            <a:r>
              <a:rPr lang="en-US" sz="2200" b="0" i="0">
                <a:solidFill>
                  <a:srgbClr val="A64B00"/>
                </a:solidFill>
                <a:latin typeface="Raleway"/>
              </a:rPr>
              <a:t>Why it is fair</a:t>
            </a:r>
          </a:p>
          <a:p>
            <a:pPr marL="201168" indent="-201168" algn="l">
              <a:spcAft>
                <a:spcPts val="600"/>
              </a:spcAft>
              <a:buSzPct val="65000"/>
              <a:buFont typeface="Arial" panose="020B0604020202020204" pitchFamily="34" charset="0"/>
              <a:buChar char="•"/>
            </a:pPr>
            <a:r>
              <a:rPr lang="en-US" sz="1600" b="0" i="0">
                <a:solidFill>
                  <a:srgbClr val="A64B00"/>
                </a:solidFill>
                <a:latin typeface="Raleway"/>
              </a:rPr>
              <a:t>Equal slices:</a:t>
            </a:r>
            <a:r>
              <a:rPr lang="en-US" sz="1600" b="0" i="0">
                <a:solidFill>
                  <a:srgbClr val="1D2433"/>
                </a:solidFill>
                <a:latin typeface="Raleway"/>
              </a:rPr>
              <a:t> r falls in [0, 1/6) for a 1, in [1/6, 2/6) for a 2, and so on - six slices of the same size</a:t>
            </a:r>
          </a:p>
          <a:p>
            <a:pPr marL="201168" indent="-201168" algn="l">
              <a:spcAft>
                <a:spcPts val="600"/>
              </a:spcAft>
              <a:buSzPct val="65000"/>
              <a:buFont typeface="Arial" panose="020B0604020202020204" pitchFamily="34" charset="0"/>
              <a:buChar char="•"/>
            </a:pPr>
            <a:r>
              <a:rPr lang="en-US" sz="1600" b="0" i="0">
                <a:solidFill>
                  <a:srgbClr val="A64B00"/>
                </a:solidFill>
                <a:latin typeface="Raleway"/>
              </a:rPr>
              <a:t>The top is safe:</a:t>
            </a:r>
            <a:r>
              <a:rPr lang="en-US" sz="1600" b="0" i="0">
                <a:solidFill>
                  <a:srgbClr val="1D2433"/>
                </a:solidFill>
                <a:latin typeface="Raleway"/>
              </a:rPr>
              <a:t> r is never 1.0, so </a:t>
            </a:r>
            <a:r>
              <a:rPr lang="en-US" sz="1600" b="0" i="0">
                <a:solidFill>
                  <a:srgbClr val="1D2433"/>
                </a:solidFill>
                <a:latin typeface="Consolas"/>
              </a:rPr>
              <a:t>r * 6</a:t>
            </a:r>
            <a:r>
              <a:rPr lang="en-US" sz="1600" b="0" i="0">
                <a:solidFill>
                  <a:srgbClr val="1D2433"/>
                </a:solidFill>
                <a:latin typeface="Raleway"/>
              </a:rPr>
              <a:t> is never 6.0, so the face is never 7</a:t>
            </a:r>
          </a:p>
          <a:p>
            <a:pPr marL="201168" indent="-201168" algn="l">
              <a:spcAft>
                <a:spcPts val="600"/>
              </a:spcAft>
              <a:buSzPct val="65000"/>
              <a:buFont typeface="Arial" panose="020B0604020202020204" pitchFamily="34" charset="0"/>
              <a:buChar char="•"/>
            </a:pPr>
            <a:r>
              <a:rPr lang="en-US" sz="1600" b="0" i="0">
                <a:solidFill>
                  <a:srgbClr val="A64B00"/>
                </a:solidFill>
                <a:latin typeface="Raleway"/>
              </a:rPr>
              <a:t>One line:</a:t>
            </a:r>
            <a:r>
              <a:rPr lang="en-US" sz="1600" b="0" i="0">
                <a:solidFill>
                  <a:srgbClr val="1D2433"/>
                </a:solidFill>
                <a:latin typeface="Raleway"/>
              </a:rPr>
              <a:t> </a:t>
            </a:r>
            <a:r>
              <a:rPr lang="en-US" sz="1600" b="0" i="0">
                <a:solidFill>
                  <a:srgbClr val="1D2433"/>
                </a:solidFill>
                <a:latin typeface="Consolas"/>
              </a:rPr>
              <a:t>int(random.random() * 6) + 1</a:t>
            </a:r>
            <a:r>
              <a:rPr lang="en-US" sz="1600" b="0" i="0">
                <a:solidFill>
                  <a:srgbClr val="1D2433"/>
                </a:solidFill>
                <a:latin typeface="Raleway"/>
              </a:rPr>
              <a:t> is how it is written in real code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23 - Run - Exercise 5: the run">
    <p:spTree>
      <p:nvGrpSpPr>
        <p:cNvPr id="1" name=""/>
        <p:cNvGrpSpPr/>
        <p:nvPr/>
      </p:nvGrpSpPr>
      <p:grpSpPr>
        <a:xfrm>
          <a:off x="0" y="0"/>
          <a:ext cx="0" cy="0"/>
          <a:chOff x="0" y="0"/>
          <a:chExt cx="0" cy="0"/>
        </a:xfrm>
      </p:grpSpPr>
      <p:sp>
        <p:nvSpPr>
          <p:cNvPr id="2" name="Slide number"/>
          <p:cNvSpPr txBox="1"/>
          <p:nvPr/>
        </p:nvSpPr>
        <p:spPr>
          <a:xfrm>
            <a:off x="11430000" y="6446520"/>
            <a:ext cx="548640" cy="320040"/>
          </a:xfrm>
          <a:prstGeom prst="rect">
            <a:avLst/>
          </a:prstGeom>
          <a:noFill/>
        </p:spPr>
        <p:txBody>
          <a:bodyPr wrap="none" lIns="0" tIns="0" rIns="0" bIns="0" anchor="ctr">
            <a:spAutoFit/>
          </a:bodyPr>
          <a:lstStyle/>
          <a:p>
            <a:pPr algn="r"/>
            <a:fld id="{007A6A40-1A7B-4A1B-9D78-D7D11C5A8472}" type="slidenum">
              <a:rPr lang="en-US" sz="1200">
                <a:solidFill>
                  <a:srgbClr val="1B3A5C"/>
                </a:solidFill>
                <a:latin typeface="Raleway"/>
              </a:rPr>
              <a:t>25</a:t>
            </a:fld>
            <a:endParaRPr lang="en-US" sz="1200">
              <a:solidFill>
                <a:srgbClr val="1B3A5C"/>
              </a:solidFill>
              <a:latin typeface="Raleway"/>
            </a:endParaRPr>
          </a:p>
        </p:txBody>
      </p:sp>
      <p:sp>
        <p:nvSpPr>
          <p:cNvPr id="3" name="Title"/>
          <p:cNvSpPr txBox="1"/>
          <p:nvPr/>
        </p:nvSpPr>
        <p:spPr>
          <a:xfrm>
            <a:off x="640080" y="502920"/>
            <a:ext cx="11411712" cy="822960"/>
          </a:xfrm>
          <a:prstGeom prst="rect">
            <a:avLst/>
          </a:prstGeom>
          <a:noFill/>
        </p:spPr>
        <p:txBody>
          <a:bodyPr wrap="square" lIns="0" tIns="0" rIns="0" bIns="0" anchor="ctr">
            <a:noAutofit/>
          </a:bodyPr>
          <a:lstStyle/>
          <a:p>
            <a:pPr algn="l"/>
            <a:r>
              <a:rPr lang="en-US" sz="4000" b="1" i="0">
                <a:solidFill>
                  <a:srgbClr val="1F4E79"/>
                </a:solidFill>
                <a:latin typeface="Raleway"/>
              </a:rPr>
              <a:t>Exercise 5: the run</a:t>
            </a:r>
          </a:p>
        </p:txBody>
      </p:sp>
      <p:sp>
        <p:nvSpPr>
          <p:cNvPr id="4" name="Code card"/>
          <p:cNvSpPr/>
          <p:nvPr/>
        </p:nvSpPr>
        <p:spPr>
          <a:xfrm>
            <a:off x="640080" y="1508760"/>
            <a:ext cx="6035040" cy="3712463"/>
          </a:xfrm>
          <a:prstGeom prst="roundRect">
            <a:avLst>
              <a:gd name="adj" fmla="val 4000"/>
            </a:avLst>
          </a:prstGeom>
          <a:solidFill>
            <a:srgbClr val="111318"/>
          </a:solidFill>
          <a:ln w="12700">
            <a:solidFill>
              <a:srgbClr val="D8DBE0"/>
            </a:solidFill>
          </a:ln>
        </p:spPr>
        <p:txBody>
          <a:bodyPr rtlCol="0" anchor="ctr"/>
          <a:lstStyle/>
          <a:p>
            <a:endParaRPr/>
          </a:p>
        </p:txBody>
      </p:sp>
      <p:sp>
        <p:nvSpPr>
          <p:cNvPr id="5" name="Code card header"/>
          <p:cNvSpPr/>
          <p:nvPr/>
        </p:nvSpPr>
        <p:spPr>
          <a:xfrm>
            <a:off x="640080" y="1508760"/>
            <a:ext cx="6035040" cy="384048"/>
          </a:xfrm>
          <a:prstGeom prst="roundRect">
            <a:avLst>
              <a:gd name="adj" fmla="val 10000"/>
            </a:avLst>
          </a:prstGeom>
          <a:solidFill>
            <a:srgbClr val="1B1E26"/>
          </a:solidFill>
          <a:ln w="12700">
            <a:solidFill>
              <a:srgbClr val="D8DBE0"/>
            </a:solidFill>
          </a:ln>
        </p:spPr>
        <p:txBody>
          <a:bodyPr rtlCol="0" anchor="ctr"/>
          <a:lstStyle/>
          <a:p>
            <a:endParaRPr/>
          </a:p>
        </p:txBody>
      </p:sp>
      <p:sp>
        <p:nvSpPr>
          <p:cNvPr id="6" name="Code card header fill"/>
          <p:cNvSpPr/>
          <p:nvPr/>
        </p:nvSpPr>
        <p:spPr>
          <a:xfrm>
            <a:off x="658368" y="1700784"/>
            <a:ext cx="5998464" cy="192024"/>
          </a:xfrm>
          <a:prstGeom prst="rect">
            <a:avLst/>
          </a:prstGeom>
          <a:solidFill>
            <a:srgbClr val="1B1E26"/>
          </a:solidFill>
          <a:ln>
            <a:noFill/>
          </a:ln>
        </p:spPr>
        <p:txBody>
          <a:bodyPr rtlCol="0" anchor="ctr"/>
          <a:lstStyle/>
          <a:p>
            <a:endParaRPr/>
          </a:p>
        </p:txBody>
      </p:sp>
      <p:sp>
        <p:nvSpPr>
          <p:cNvPr id="7" name="Oval 6"/>
          <p:cNvSpPr/>
          <p:nvPr/>
        </p:nvSpPr>
        <p:spPr>
          <a:xfrm>
            <a:off x="868680" y="1645919"/>
            <a:ext cx="118872" cy="118872"/>
          </a:xfrm>
          <a:prstGeom prst="ellipse">
            <a:avLst/>
          </a:prstGeom>
          <a:solidFill>
            <a:srgbClr val="FF6B6B"/>
          </a:solidFill>
          <a:ln>
            <a:noFill/>
          </a:ln>
        </p:spPr>
        <p:txBody>
          <a:bodyPr rtlCol="0" anchor="ctr"/>
          <a:lstStyle/>
          <a:p>
            <a:pPr algn="ctr"/>
            <a:endParaRPr/>
          </a:p>
        </p:txBody>
      </p:sp>
      <p:sp>
        <p:nvSpPr>
          <p:cNvPr id="8" name="Oval 7"/>
          <p:cNvSpPr/>
          <p:nvPr/>
        </p:nvSpPr>
        <p:spPr>
          <a:xfrm>
            <a:off x="1143000" y="1645919"/>
            <a:ext cx="118872" cy="118872"/>
          </a:xfrm>
          <a:prstGeom prst="ellipse">
            <a:avLst/>
          </a:prstGeom>
          <a:solidFill>
            <a:srgbClr val="FFD94A"/>
          </a:solidFill>
          <a:ln>
            <a:noFill/>
          </a:ln>
        </p:spPr>
        <p:txBody>
          <a:bodyPr rtlCol="0" anchor="ctr"/>
          <a:lstStyle/>
          <a:p>
            <a:pPr algn="ctr"/>
            <a:endParaRPr/>
          </a:p>
        </p:txBody>
      </p:sp>
      <p:sp>
        <p:nvSpPr>
          <p:cNvPr id="9" name="Oval 8"/>
          <p:cNvSpPr/>
          <p:nvPr/>
        </p:nvSpPr>
        <p:spPr>
          <a:xfrm>
            <a:off x="1417319" y="1645919"/>
            <a:ext cx="118872" cy="118872"/>
          </a:xfrm>
          <a:prstGeom prst="ellipse">
            <a:avLst/>
          </a:prstGeom>
          <a:solidFill>
            <a:srgbClr val="8FE3AB"/>
          </a:solidFill>
          <a:ln>
            <a:noFill/>
          </a:ln>
        </p:spPr>
        <p:txBody>
          <a:bodyPr rtlCol="0" anchor="ctr"/>
          <a:lstStyle/>
          <a:p>
            <a:pPr algn="ctr"/>
            <a:endParaRPr/>
          </a:p>
        </p:txBody>
      </p:sp>
      <p:sp>
        <p:nvSpPr>
          <p:cNvPr id="10" name="Filename"/>
          <p:cNvSpPr txBox="1"/>
          <p:nvPr/>
        </p:nvSpPr>
        <p:spPr>
          <a:xfrm>
            <a:off x="1828800" y="1508760"/>
            <a:ext cx="4663440" cy="384048"/>
          </a:xfrm>
          <a:prstGeom prst="rect">
            <a:avLst/>
          </a:prstGeom>
          <a:noFill/>
        </p:spPr>
        <p:txBody>
          <a:bodyPr wrap="square" lIns="0" tIns="0" rIns="0" bIns="0" anchor="ctr">
            <a:noAutofit/>
          </a:bodyPr>
          <a:lstStyle/>
          <a:p>
            <a:pPr algn="l"/>
            <a:r>
              <a:rPr lang="en-US" sz="1200" b="0" i="0">
                <a:solidFill>
                  <a:srgbClr val="E9EAEE"/>
                </a:solidFill>
                <a:latin typeface="Consolas"/>
              </a:rPr>
              <a:t>die.py</a:t>
            </a:r>
          </a:p>
        </p:txBody>
      </p:sp>
      <p:sp>
        <p:nvSpPr>
          <p:cNvPr id="11" name="Code"/>
          <p:cNvSpPr txBox="1"/>
          <p:nvPr/>
        </p:nvSpPr>
        <p:spPr>
          <a:xfrm>
            <a:off x="1005840" y="2002536"/>
            <a:ext cx="5394959" cy="3127247"/>
          </a:xfrm>
          <a:prstGeom prst="rect">
            <a:avLst/>
          </a:prstGeom>
          <a:noFill/>
        </p:spPr>
        <p:txBody>
          <a:bodyPr wrap="none" lIns="0" tIns="0" rIns="0" bIns="0" anchor="t">
            <a:noAutofit/>
          </a:bodyPr>
          <a:lstStyle/>
          <a:p>
            <a:pPr algn="l"/>
            <a:r>
              <a:rPr lang="en-US" sz="1800" b="0" i="0">
                <a:solidFill>
                  <a:srgbClr val="8FA9E8"/>
                </a:solidFill>
                <a:latin typeface="Consolas"/>
              </a:rPr>
              <a:t>import</a:t>
            </a:r>
            <a:r>
              <a:rPr lang="en-US" sz="1800" b="0" i="0">
                <a:solidFill>
                  <a:srgbClr val="E9EAEE"/>
                </a:solidFill>
                <a:latin typeface="Consolas"/>
              </a:rPr>
              <a:t> random</a:t>
            </a:r>
          </a:p>
          <a:p>
            <a:pPr algn="l"/>
            <a:endParaRPr lang="en-US" sz="1800" b="0" i="0">
              <a:solidFill>
                <a:srgbClr val="E9EAEE"/>
              </a:solidFill>
              <a:latin typeface="Consolas"/>
            </a:endParaRPr>
          </a:p>
          <a:p>
            <a:pPr algn="l"/>
            <a:r>
              <a:rPr lang="en-US" sz="1800" b="0" i="0">
                <a:solidFill>
                  <a:srgbClr val="E9EAEE"/>
                </a:solidFill>
                <a:latin typeface="Consolas"/>
              </a:rPr>
              <a:t>r = random.</a:t>
            </a:r>
            <a:r>
              <a:rPr lang="en-US" sz="1800" b="0" i="0">
                <a:solidFill>
                  <a:srgbClr val="F5B759"/>
                </a:solidFill>
                <a:latin typeface="Consolas"/>
              </a:rPr>
              <a:t>random</a:t>
            </a:r>
            <a:r>
              <a:rPr lang="en-US" sz="1800" b="0" i="0">
                <a:solidFill>
                  <a:srgbClr val="E9EAEE"/>
                </a:solidFill>
                <a:latin typeface="Consolas"/>
              </a:rPr>
              <a:t>()</a:t>
            </a:r>
          </a:p>
          <a:p>
            <a:pPr algn="l"/>
            <a:r>
              <a:rPr lang="en-US" sz="1800" b="0" i="0">
                <a:solidFill>
                  <a:srgbClr val="F5B759"/>
                </a:solidFill>
                <a:latin typeface="Consolas"/>
              </a:rPr>
              <a:t>print</a:t>
            </a:r>
            <a:r>
              <a:rPr lang="en-US" sz="1800" b="0" i="0">
                <a:solidFill>
                  <a:srgbClr val="E9EAEE"/>
                </a:solidFill>
                <a:latin typeface="Consolas"/>
              </a:rPr>
              <a:t>(f"random.random() gave {r}")</a:t>
            </a:r>
          </a:p>
          <a:p>
            <a:pPr algn="l"/>
            <a:endParaRPr lang="en-US" sz="1800" b="0" i="0">
              <a:solidFill>
                <a:srgbClr val="E9EAEE"/>
              </a:solidFill>
              <a:latin typeface="Consolas"/>
            </a:endParaRPr>
          </a:p>
          <a:p>
            <a:pPr algn="l"/>
            <a:r>
              <a:rPr lang="en-US" sz="1800" b="0" i="0">
                <a:solidFill>
                  <a:srgbClr val="E9EAEE"/>
                </a:solidFill>
                <a:latin typeface="Consolas"/>
              </a:rPr>
              <a:t>stretched = r * 6</a:t>
            </a:r>
          </a:p>
          <a:p>
            <a:pPr algn="l"/>
            <a:r>
              <a:rPr lang="en-US" sz="1800" b="0" i="0">
                <a:solidFill>
                  <a:srgbClr val="E9EAEE"/>
                </a:solidFill>
                <a:latin typeface="Consolas"/>
              </a:rPr>
              <a:t>cut = </a:t>
            </a:r>
            <a:r>
              <a:rPr lang="en-US" sz="1800" b="0" i="0">
                <a:solidFill>
                  <a:srgbClr val="F5B759"/>
                </a:solidFill>
                <a:latin typeface="Consolas"/>
              </a:rPr>
              <a:t>int</a:t>
            </a:r>
            <a:r>
              <a:rPr lang="en-US" sz="1800" b="0" i="0">
                <a:solidFill>
                  <a:srgbClr val="E9EAEE"/>
                </a:solidFill>
                <a:latin typeface="Consolas"/>
              </a:rPr>
              <a:t>(stretched)</a:t>
            </a:r>
          </a:p>
          <a:p>
            <a:pPr algn="l"/>
            <a:r>
              <a:rPr lang="en-US" sz="1800" b="0" i="0">
                <a:solidFill>
                  <a:srgbClr val="E9EAEE"/>
                </a:solidFill>
                <a:latin typeface="Consolas"/>
              </a:rPr>
              <a:t>face = cut + 1</a:t>
            </a:r>
          </a:p>
          <a:p>
            <a:pPr algn="l"/>
            <a:r>
              <a:rPr lang="en-US" sz="1800" b="0" i="0">
                <a:solidFill>
                  <a:srgbClr val="F5B759"/>
                </a:solidFill>
                <a:latin typeface="Consolas"/>
              </a:rPr>
              <a:t>print</a:t>
            </a:r>
            <a:r>
              <a:rPr lang="en-US" sz="1800" b="0" i="0">
                <a:solidFill>
                  <a:srgbClr val="E9EAEE"/>
                </a:solidFill>
                <a:latin typeface="Consolas"/>
              </a:rPr>
              <a:t>(f"stretched: {stretched}")</a:t>
            </a:r>
          </a:p>
          <a:p>
            <a:pPr algn="l"/>
            <a:r>
              <a:rPr lang="en-US" sz="1800" b="0" i="0">
                <a:solidFill>
                  <a:srgbClr val="F5B759"/>
                </a:solidFill>
                <a:latin typeface="Consolas"/>
              </a:rPr>
              <a:t>print</a:t>
            </a:r>
            <a:r>
              <a:rPr lang="en-US" sz="1800" b="0" i="0">
                <a:solidFill>
                  <a:srgbClr val="E9EAEE"/>
                </a:solidFill>
                <a:latin typeface="Consolas"/>
              </a:rPr>
              <a:t>(f"cut: {cut}")</a:t>
            </a:r>
          </a:p>
          <a:p>
            <a:pPr algn="l"/>
            <a:r>
              <a:rPr lang="en-US" sz="1800" b="0" i="0">
                <a:solidFill>
                  <a:srgbClr val="F5B759"/>
                </a:solidFill>
                <a:latin typeface="Consolas"/>
              </a:rPr>
              <a:t>print</a:t>
            </a:r>
            <a:r>
              <a:rPr lang="en-US" sz="1800" b="0" i="0">
                <a:solidFill>
                  <a:srgbClr val="E9EAEE"/>
                </a:solidFill>
                <a:latin typeface="Consolas"/>
              </a:rPr>
              <a:t>(f"the die shows {face}")</a:t>
            </a:r>
          </a:p>
        </p:txBody>
      </p:sp>
      <p:sp>
        <p:nvSpPr>
          <p:cNvPr id="12" name="Terminal"/>
          <p:cNvSpPr/>
          <p:nvPr/>
        </p:nvSpPr>
        <p:spPr>
          <a:xfrm>
            <a:off x="6949440" y="1508760"/>
            <a:ext cx="4599432" cy="1792224"/>
          </a:xfrm>
          <a:prstGeom prst="roundRect">
            <a:avLst>
              <a:gd name="adj" fmla="val 4000"/>
            </a:avLst>
          </a:prstGeom>
          <a:solidFill>
            <a:srgbClr val="111318"/>
          </a:solidFill>
          <a:ln w="12700">
            <a:solidFill>
              <a:srgbClr val="D8DBE0"/>
            </a:solidFill>
          </a:ln>
        </p:spPr>
        <p:txBody>
          <a:bodyPr rtlCol="0" anchor="ctr"/>
          <a:lstStyle/>
          <a:p>
            <a:endParaRPr/>
          </a:p>
        </p:txBody>
      </p:sp>
      <p:sp>
        <p:nvSpPr>
          <p:cNvPr id="13" name="Terminal header"/>
          <p:cNvSpPr/>
          <p:nvPr/>
        </p:nvSpPr>
        <p:spPr>
          <a:xfrm>
            <a:off x="6949440" y="1508760"/>
            <a:ext cx="4599432" cy="384048"/>
          </a:xfrm>
          <a:prstGeom prst="roundRect">
            <a:avLst>
              <a:gd name="adj" fmla="val 10000"/>
            </a:avLst>
          </a:prstGeom>
          <a:solidFill>
            <a:srgbClr val="1B1E26"/>
          </a:solidFill>
          <a:ln w="12700">
            <a:solidFill>
              <a:srgbClr val="D8DBE0"/>
            </a:solidFill>
          </a:ln>
        </p:spPr>
        <p:txBody>
          <a:bodyPr rtlCol="0" anchor="ctr"/>
          <a:lstStyle/>
          <a:p>
            <a:endParaRPr/>
          </a:p>
        </p:txBody>
      </p:sp>
      <p:sp>
        <p:nvSpPr>
          <p:cNvPr id="14" name="Terminal header fill"/>
          <p:cNvSpPr/>
          <p:nvPr/>
        </p:nvSpPr>
        <p:spPr>
          <a:xfrm>
            <a:off x="6967727" y="1700784"/>
            <a:ext cx="4562856" cy="192024"/>
          </a:xfrm>
          <a:prstGeom prst="rect">
            <a:avLst/>
          </a:prstGeom>
          <a:solidFill>
            <a:srgbClr val="1B1E26"/>
          </a:solidFill>
          <a:ln>
            <a:noFill/>
          </a:ln>
        </p:spPr>
        <p:txBody>
          <a:bodyPr rtlCol="0" anchor="ctr"/>
          <a:lstStyle/>
          <a:p>
            <a:endParaRPr/>
          </a:p>
        </p:txBody>
      </p:sp>
      <p:sp>
        <p:nvSpPr>
          <p:cNvPr id="15" name="Terminal label"/>
          <p:cNvSpPr txBox="1"/>
          <p:nvPr/>
        </p:nvSpPr>
        <p:spPr>
          <a:xfrm>
            <a:off x="7223759" y="1508760"/>
            <a:ext cx="4142232" cy="384048"/>
          </a:xfrm>
          <a:prstGeom prst="rect">
            <a:avLst/>
          </a:prstGeom>
          <a:noFill/>
        </p:spPr>
        <p:txBody>
          <a:bodyPr wrap="square" lIns="0" tIns="0" rIns="0" bIns="0" anchor="ctr">
            <a:noAutofit/>
          </a:bodyPr>
          <a:lstStyle/>
          <a:p>
            <a:pPr algn="l"/>
            <a:r>
              <a:rPr lang="en-US" sz="1200" b="0" i="0">
                <a:solidFill>
                  <a:srgbClr val="E9EAEE"/>
                </a:solidFill>
                <a:latin typeface="Consolas"/>
              </a:rPr>
              <a:t>python die.py (one run)</a:t>
            </a:r>
          </a:p>
        </p:txBody>
      </p:sp>
      <p:sp>
        <p:nvSpPr>
          <p:cNvPr id="16" name="Output"/>
          <p:cNvSpPr txBox="1"/>
          <p:nvPr/>
        </p:nvSpPr>
        <p:spPr>
          <a:xfrm>
            <a:off x="7223759" y="2020824"/>
            <a:ext cx="4142232" cy="1188719"/>
          </a:xfrm>
          <a:prstGeom prst="rect">
            <a:avLst/>
          </a:prstGeom>
          <a:noFill/>
        </p:spPr>
        <p:txBody>
          <a:bodyPr wrap="none" lIns="0" tIns="0" rIns="0" bIns="0" anchor="t">
            <a:noAutofit/>
          </a:bodyPr>
          <a:lstStyle/>
          <a:p>
            <a:pPr algn="l"/>
            <a:r>
              <a:rPr lang="en-US" sz="1800" b="0" i="0">
                <a:solidFill>
                  <a:srgbClr val="E9EAEE"/>
                </a:solidFill>
                <a:latin typeface="Consolas"/>
              </a:rPr>
              <a:t>random.random() gave 0.7303</a:t>
            </a:r>
          </a:p>
          <a:p>
            <a:pPr algn="l"/>
            <a:r>
              <a:rPr lang="en-US" sz="1800" b="0" i="0">
                <a:solidFill>
                  <a:srgbClr val="E9EAEE"/>
                </a:solidFill>
                <a:latin typeface="Consolas"/>
              </a:rPr>
              <a:t>stretched: 4.3818</a:t>
            </a:r>
          </a:p>
          <a:p>
            <a:pPr algn="l"/>
            <a:r>
              <a:rPr lang="en-US" sz="1800" b="0" i="0">
                <a:solidFill>
                  <a:srgbClr val="E9EAEE"/>
                </a:solidFill>
                <a:latin typeface="Consolas"/>
              </a:rPr>
              <a:t>cut: 4</a:t>
            </a:r>
          </a:p>
          <a:p>
            <a:pPr algn="l"/>
            <a:r>
              <a:rPr lang="en-US" sz="1800" b="0" i="0">
                <a:solidFill>
                  <a:srgbClr val="E9EAEE"/>
                </a:solidFill>
                <a:latin typeface="Consolas"/>
              </a:rPr>
              <a:t>the die shows 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24 - Compare - Exercise 5: N sides, and any range">
    <p:spTree>
      <p:nvGrpSpPr>
        <p:cNvPr id="1" name=""/>
        <p:cNvGrpSpPr/>
        <p:nvPr/>
      </p:nvGrpSpPr>
      <p:grpSpPr>
        <a:xfrm>
          <a:off x="0" y="0"/>
          <a:ext cx="0" cy="0"/>
          <a:chOff x="0" y="0"/>
          <a:chExt cx="0" cy="0"/>
        </a:xfrm>
      </p:grpSpPr>
      <p:sp>
        <p:nvSpPr>
          <p:cNvPr id="2" name="Slide number"/>
          <p:cNvSpPr txBox="1"/>
          <p:nvPr/>
        </p:nvSpPr>
        <p:spPr>
          <a:xfrm>
            <a:off x="11430000" y="6446520"/>
            <a:ext cx="548640" cy="320040"/>
          </a:xfrm>
          <a:prstGeom prst="rect">
            <a:avLst/>
          </a:prstGeom>
          <a:noFill/>
        </p:spPr>
        <p:txBody>
          <a:bodyPr wrap="none" lIns="0" tIns="0" rIns="0" bIns="0" anchor="ctr">
            <a:spAutoFit/>
          </a:bodyPr>
          <a:lstStyle/>
          <a:p>
            <a:pPr algn="r"/>
            <a:fld id="{007A6A40-1A7B-4A1B-9D78-D7D11C5A8472}" type="slidenum">
              <a:rPr lang="en-US" sz="1200">
                <a:solidFill>
                  <a:srgbClr val="1B3A5C"/>
                </a:solidFill>
                <a:latin typeface="Raleway"/>
              </a:rPr>
              <a:t>26</a:t>
            </a:fld>
            <a:endParaRPr lang="en-US" sz="1200">
              <a:solidFill>
                <a:srgbClr val="1B3A5C"/>
              </a:solidFill>
              <a:latin typeface="Raleway"/>
            </a:endParaRPr>
          </a:p>
        </p:txBody>
      </p:sp>
      <p:sp>
        <p:nvSpPr>
          <p:cNvPr id="3" name="Title"/>
          <p:cNvSpPr txBox="1"/>
          <p:nvPr/>
        </p:nvSpPr>
        <p:spPr>
          <a:xfrm>
            <a:off x="640080" y="502920"/>
            <a:ext cx="11411712" cy="822960"/>
          </a:xfrm>
          <a:prstGeom prst="rect">
            <a:avLst/>
          </a:prstGeom>
          <a:noFill/>
        </p:spPr>
        <p:txBody>
          <a:bodyPr wrap="square" lIns="0" tIns="0" rIns="0" bIns="0" anchor="ctr">
            <a:noAutofit/>
          </a:bodyPr>
          <a:lstStyle/>
          <a:p>
            <a:pPr algn="l"/>
            <a:r>
              <a:rPr lang="en-US" sz="4000" b="1" i="0">
                <a:solidFill>
                  <a:srgbClr val="1F4E79"/>
                </a:solidFill>
                <a:latin typeface="Raleway"/>
              </a:rPr>
              <a:t>Exercise 5: N sides, and any range</a:t>
            </a:r>
          </a:p>
        </p:txBody>
      </p:sp>
      <p:sp>
        <p:nvSpPr>
          <p:cNvPr id="4" name="Lead"/>
          <p:cNvSpPr txBox="1"/>
          <p:nvPr/>
        </p:nvSpPr>
        <p:spPr>
          <a:xfrm>
            <a:off x="640080" y="1508760"/>
            <a:ext cx="10881360" cy="914400"/>
          </a:xfrm>
          <a:prstGeom prst="rect">
            <a:avLst/>
          </a:prstGeom>
          <a:noFill/>
        </p:spPr>
        <p:txBody>
          <a:bodyPr wrap="square" lIns="0" tIns="0" rIns="0" bIns="0" anchor="t">
            <a:noAutofit/>
          </a:bodyPr>
          <a:lstStyle/>
          <a:p>
            <a:pPr algn="l">
              <a:lnSpc>
                <a:spcPct val="110000"/>
              </a:lnSpc>
            </a:pPr>
            <a:r>
              <a:rPr lang="en-US" sz="2400" b="0" i="0">
                <a:solidFill>
                  <a:srgbClr val="A64B00"/>
                </a:solidFill>
                <a:latin typeface="Raleway"/>
              </a:rPr>
              <a:t>The same three steps, with the task's own numbers in place of 6 and 1.</a:t>
            </a:r>
          </a:p>
        </p:txBody>
      </p:sp>
      <p:sp>
        <p:nvSpPr>
          <p:cNvPr id="5" name="Code card"/>
          <p:cNvSpPr/>
          <p:nvPr/>
        </p:nvSpPr>
        <p:spPr>
          <a:xfrm>
            <a:off x="640080" y="2468880"/>
            <a:ext cx="5349240" cy="1914144"/>
          </a:xfrm>
          <a:prstGeom prst="roundRect">
            <a:avLst>
              <a:gd name="adj" fmla="val 4000"/>
            </a:avLst>
          </a:prstGeom>
          <a:solidFill>
            <a:srgbClr val="111318"/>
          </a:solidFill>
          <a:ln w="12700">
            <a:solidFill>
              <a:srgbClr val="D8DBE0"/>
            </a:solidFill>
          </a:ln>
        </p:spPr>
        <p:txBody>
          <a:bodyPr rtlCol="0" anchor="ctr"/>
          <a:lstStyle/>
          <a:p>
            <a:endParaRPr/>
          </a:p>
        </p:txBody>
      </p:sp>
      <p:sp>
        <p:nvSpPr>
          <p:cNvPr id="6" name="Code card header"/>
          <p:cNvSpPr/>
          <p:nvPr/>
        </p:nvSpPr>
        <p:spPr>
          <a:xfrm>
            <a:off x="640080" y="2468880"/>
            <a:ext cx="5349240" cy="384048"/>
          </a:xfrm>
          <a:prstGeom prst="roundRect">
            <a:avLst>
              <a:gd name="adj" fmla="val 10000"/>
            </a:avLst>
          </a:prstGeom>
          <a:solidFill>
            <a:srgbClr val="1B1E26"/>
          </a:solidFill>
          <a:ln w="12700">
            <a:solidFill>
              <a:srgbClr val="D8DBE0"/>
            </a:solidFill>
          </a:ln>
        </p:spPr>
        <p:txBody>
          <a:bodyPr rtlCol="0" anchor="ctr"/>
          <a:lstStyle/>
          <a:p>
            <a:endParaRPr/>
          </a:p>
        </p:txBody>
      </p:sp>
      <p:sp>
        <p:nvSpPr>
          <p:cNvPr id="7" name="Code card header fill"/>
          <p:cNvSpPr/>
          <p:nvPr/>
        </p:nvSpPr>
        <p:spPr>
          <a:xfrm>
            <a:off x="658368" y="2660904"/>
            <a:ext cx="5312664" cy="192024"/>
          </a:xfrm>
          <a:prstGeom prst="rect">
            <a:avLst/>
          </a:prstGeom>
          <a:solidFill>
            <a:srgbClr val="1B1E26"/>
          </a:solidFill>
          <a:ln>
            <a:noFill/>
          </a:ln>
        </p:spPr>
        <p:txBody>
          <a:bodyPr rtlCol="0" anchor="ctr"/>
          <a:lstStyle/>
          <a:p>
            <a:endParaRPr/>
          </a:p>
        </p:txBody>
      </p:sp>
      <p:sp>
        <p:nvSpPr>
          <p:cNvPr id="8" name="Oval 7"/>
          <p:cNvSpPr/>
          <p:nvPr/>
        </p:nvSpPr>
        <p:spPr>
          <a:xfrm>
            <a:off x="868680" y="2606040"/>
            <a:ext cx="118872" cy="118872"/>
          </a:xfrm>
          <a:prstGeom prst="ellipse">
            <a:avLst/>
          </a:prstGeom>
          <a:solidFill>
            <a:srgbClr val="FF6B6B"/>
          </a:solidFill>
          <a:ln>
            <a:noFill/>
          </a:ln>
        </p:spPr>
        <p:txBody>
          <a:bodyPr rtlCol="0" anchor="ctr"/>
          <a:lstStyle/>
          <a:p>
            <a:pPr algn="ctr"/>
            <a:endParaRPr/>
          </a:p>
        </p:txBody>
      </p:sp>
      <p:sp>
        <p:nvSpPr>
          <p:cNvPr id="9" name="Oval 8"/>
          <p:cNvSpPr/>
          <p:nvPr/>
        </p:nvSpPr>
        <p:spPr>
          <a:xfrm>
            <a:off x="1143000" y="2606040"/>
            <a:ext cx="118872" cy="118872"/>
          </a:xfrm>
          <a:prstGeom prst="ellipse">
            <a:avLst/>
          </a:prstGeom>
          <a:solidFill>
            <a:srgbClr val="FFD94A"/>
          </a:solidFill>
          <a:ln>
            <a:noFill/>
          </a:ln>
        </p:spPr>
        <p:txBody>
          <a:bodyPr rtlCol="0" anchor="ctr"/>
          <a:lstStyle/>
          <a:p>
            <a:pPr algn="ctr"/>
            <a:endParaRPr/>
          </a:p>
        </p:txBody>
      </p:sp>
      <p:sp>
        <p:nvSpPr>
          <p:cNvPr id="10" name="Oval 9"/>
          <p:cNvSpPr/>
          <p:nvPr/>
        </p:nvSpPr>
        <p:spPr>
          <a:xfrm>
            <a:off x="1417319" y="2606040"/>
            <a:ext cx="118872" cy="118872"/>
          </a:xfrm>
          <a:prstGeom prst="ellipse">
            <a:avLst/>
          </a:prstGeom>
          <a:solidFill>
            <a:srgbClr val="8FE3AB"/>
          </a:solidFill>
          <a:ln>
            <a:noFill/>
          </a:ln>
        </p:spPr>
        <p:txBody>
          <a:bodyPr rtlCol="0" anchor="ctr"/>
          <a:lstStyle/>
          <a:p>
            <a:pPr algn="ctr"/>
            <a:endParaRPr/>
          </a:p>
        </p:txBody>
      </p:sp>
      <p:sp>
        <p:nvSpPr>
          <p:cNvPr id="11" name="Filename"/>
          <p:cNvSpPr txBox="1"/>
          <p:nvPr/>
        </p:nvSpPr>
        <p:spPr>
          <a:xfrm>
            <a:off x="1828800" y="2468880"/>
            <a:ext cx="3977639" cy="384048"/>
          </a:xfrm>
          <a:prstGeom prst="rect">
            <a:avLst/>
          </a:prstGeom>
          <a:noFill/>
        </p:spPr>
        <p:txBody>
          <a:bodyPr wrap="square" lIns="0" tIns="0" rIns="0" bIns="0" anchor="ctr">
            <a:noAutofit/>
          </a:bodyPr>
          <a:lstStyle/>
          <a:p>
            <a:pPr algn="l"/>
            <a:r>
              <a:rPr lang="en-US" sz="1200" b="0" i="0">
                <a:solidFill>
                  <a:srgbClr val="E9EAEE"/>
                </a:solidFill>
                <a:latin typeface="Consolas"/>
              </a:rPr>
              <a:t>die_n.py</a:t>
            </a:r>
          </a:p>
        </p:txBody>
      </p:sp>
      <p:sp>
        <p:nvSpPr>
          <p:cNvPr id="12" name="Code"/>
          <p:cNvSpPr txBox="1"/>
          <p:nvPr/>
        </p:nvSpPr>
        <p:spPr>
          <a:xfrm>
            <a:off x="1005840" y="2962656"/>
            <a:ext cx="4709159" cy="1328928"/>
          </a:xfrm>
          <a:prstGeom prst="rect">
            <a:avLst/>
          </a:prstGeom>
          <a:noFill/>
        </p:spPr>
        <p:txBody>
          <a:bodyPr wrap="none" lIns="0" tIns="0" rIns="0" bIns="0" anchor="t">
            <a:noAutofit/>
          </a:bodyPr>
          <a:lstStyle/>
          <a:p>
            <a:pPr algn="l"/>
            <a:r>
              <a:rPr lang="en-US" sz="1600" b="0" i="0">
                <a:solidFill>
                  <a:srgbClr val="8FA9E8"/>
                </a:solidFill>
                <a:latin typeface="Consolas"/>
              </a:rPr>
              <a:t>import</a:t>
            </a:r>
            <a:r>
              <a:rPr lang="en-US" sz="1600" b="0" i="0">
                <a:solidFill>
                  <a:srgbClr val="E9EAEE"/>
                </a:solidFill>
                <a:latin typeface="Consolas"/>
              </a:rPr>
              <a:t> random</a:t>
            </a:r>
          </a:p>
          <a:p>
            <a:pPr algn="l"/>
            <a:r>
              <a:rPr lang="en-US" sz="1600" b="0" i="0">
                <a:solidFill>
                  <a:srgbClr val="E9EAEE"/>
                </a:solidFill>
                <a:latin typeface="Consolas"/>
              </a:rPr>
              <a:t>n = </a:t>
            </a:r>
            <a:r>
              <a:rPr lang="en-US" sz="1600" b="0" i="0">
                <a:solidFill>
                  <a:srgbClr val="F5B759"/>
                </a:solidFill>
                <a:latin typeface="Consolas"/>
              </a:rPr>
              <a:t>int</a:t>
            </a:r>
            <a:r>
              <a:rPr lang="en-US" sz="1600" b="0" i="0">
                <a:solidFill>
                  <a:srgbClr val="E9EAEE"/>
                </a:solidFill>
                <a:latin typeface="Consolas"/>
              </a:rPr>
              <a:t>(</a:t>
            </a:r>
            <a:r>
              <a:rPr lang="en-US" sz="1600" b="0" i="0">
                <a:solidFill>
                  <a:srgbClr val="F5B759"/>
                </a:solidFill>
                <a:latin typeface="Consolas"/>
              </a:rPr>
              <a:t>input</a:t>
            </a:r>
            <a:r>
              <a:rPr lang="en-US" sz="1600" b="0" i="0">
                <a:solidFill>
                  <a:srgbClr val="E9EAEE"/>
                </a:solidFill>
                <a:latin typeface="Consolas"/>
              </a:rPr>
              <a:t>("How many sides? "))</a:t>
            </a:r>
          </a:p>
          <a:p>
            <a:pPr algn="l"/>
            <a:r>
              <a:rPr lang="en-US" sz="1600" b="0" i="0">
                <a:solidFill>
                  <a:srgbClr val="E9EAEE"/>
                </a:solidFill>
                <a:latin typeface="Consolas"/>
              </a:rPr>
              <a:t>r = random.</a:t>
            </a:r>
            <a:r>
              <a:rPr lang="en-US" sz="1600" b="0" i="0">
                <a:solidFill>
                  <a:srgbClr val="F5B759"/>
                </a:solidFill>
                <a:latin typeface="Consolas"/>
              </a:rPr>
              <a:t>random</a:t>
            </a:r>
            <a:r>
              <a:rPr lang="en-US" sz="1600" b="0" i="0">
                <a:solidFill>
                  <a:srgbClr val="E9EAEE"/>
                </a:solidFill>
                <a:latin typeface="Consolas"/>
              </a:rPr>
              <a:t>()</a:t>
            </a:r>
          </a:p>
          <a:p>
            <a:pPr algn="l"/>
            <a:r>
              <a:rPr lang="en-US" sz="1600" b="0" i="0">
                <a:solidFill>
                  <a:srgbClr val="E9EAEE"/>
                </a:solidFill>
                <a:latin typeface="Consolas"/>
              </a:rPr>
              <a:t>face = </a:t>
            </a:r>
            <a:r>
              <a:rPr lang="en-US" sz="1600" b="0" i="0">
                <a:solidFill>
                  <a:srgbClr val="F5B759"/>
                </a:solidFill>
                <a:latin typeface="Consolas"/>
              </a:rPr>
              <a:t>int</a:t>
            </a:r>
            <a:r>
              <a:rPr lang="en-US" sz="1600" b="0" i="0">
                <a:solidFill>
                  <a:srgbClr val="E9EAEE"/>
                </a:solidFill>
                <a:latin typeface="Consolas"/>
              </a:rPr>
              <a:t>(r * n) + 1</a:t>
            </a:r>
          </a:p>
          <a:p>
            <a:pPr algn="l"/>
            <a:r>
              <a:rPr lang="en-US" sz="1600" b="0" i="0">
                <a:solidFill>
                  <a:srgbClr val="F5B759"/>
                </a:solidFill>
                <a:latin typeface="Consolas"/>
              </a:rPr>
              <a:t>print</a:t>
            </a:r>
            <a:r>
              <a:rPr lang="en-US" sz="1600" b="0" i="0">
                <a:solidFill>
                  <a:srgbClr val="E9EAEE"/>
                </a:solidFill>
                <a:latin typeface="Consolas"/>
              </a:rPr>
              <a:t>(f"The die shows {face}")</a:t>
            </a:r>
          </a:p>
        </p:txBody>
      </p:sp>
      <p:sp>
        <p:nvSpPr>
          <p:cNvPr id="13" name="Code card"/>
          <p:cNvSpPr/>
          <p:nvPr/>
        </p:nvSpPr>
        <p:spPr>
          <a:xfrm>
            <a:off x="6199632" y="2468880"/>
            <a:ext cx="5349240" cy="2401824"/>
          </a:xfrm>
          <a:prstGeom prst="roundRect">
            <a:avLst>
              <a:gd name="adj" fmla="val 4000"/>
            </a:avLst>
          </a:prstGeom>
          <a:solidFill>
            <a:srgbClr val="111318"/>
          </a:solidFill>
          <a:ln w="12700">
            <a:solidFill>
              <a:srgbClr val="D8DBE0"/>
            </a:solidFill>
          </a:ln>
        </p:spPr>
        <p:txBody>
          <a:bodyPr rtlCol="0" anchor="ctr"/>
          <a:lstStyle/>
          <a:p>
            <a:endParaRPr/>
          </a:p>
        </p:txBody>
      </p:sp>
      <p:sp>
        <p:nvSpPr>
          <p:cNvPr id="14" name="Code card header"/>
          <p:cNvSpPr/>
          <p:nvPr/>
        </p:nvSpPr>
        <p:spPr>
          <a:xfrm>
            <a:off x="6199632" y="2468880"/>
            <a:ext cx="5349240" cy="384048"/>
          </a:xfrm>
          <a:prstGeom prst="roundRect">
            <a:avLst>
              <a:gd name="adj" fmla="val 10000"/>
            </a:avLst>
          </a:prstGeom>
          <a:solidFill>
            <a:srgbClr val="1B1E26"/>
          </a:solidFill>
          <a:ln w="12700">
            <a:solidFill>
              <a:srgbClr val="D8DBE0"/>
            </a:solidFill>
          </a:ln>
        </p:spPr>
        <p:txBody>
          <a:bodyPr rtlCol="0" anchor="ctr"/>
          <a:lstStyle/>
          <a:p>
            <a:endParaRPr/>
          </a:p>
        </p:txBody>
      </p:sp>
      <p:sp>
        <p:nvSpPr>
          <p:cNvPr id="15" name="Code card header fill"/>
          <p:cNvSpPr/>
          <p:nvPr/>
        </p:nvSpPr>
        <p:spPr>
          <a:xfrm>
            <a:off x="6217920" y="2660904"/>
            <a:ext cx="5312664" cy="192024"/>
          </a:xfrm>
          <a:prstGeom prst="rect">
            <a:avLst/>
          </a:prstGeom>
          <a:solidFill>
            <a:srgbClr val="1B1E26"/>
          </a:solidFill>
          <a:ln>
            <a:noFill/>
          </a:ln>
        </p:spPr>
        <p:txBody>
          <a:bodyPr rtlCol="0" anchor="ctr"/>
          <a:lstStyle/>
          <a:p>
            <a:endParaRPr/>
          </a:p>
        </p:txBody>
      </p:sp>
      <p:sp>
        <p:nvSpPr>
          <p:cNvPr id="16" name="Oval 15"/>
          <p:cNvSpPr/>
          <p:nvPr/>
        </p:nvSpPr>
        <p:spPr>
          <a:xfrm>
            <a:off x="6428232" y="2606040"/>
            <a:ext cx="118872" cy="118872"/>
          </a:xfrm>
          <a:prstGeom prst="ellipse">
            <a:avLst/>
          </a:prstGeom>
          <a:solidFill>
            <a:srgbClr val="FF6B6B"/>
          </a:solidFill>
          <a:ln>
            <a:noFill/>
          </a:ln>
        </p:spPr>
        <p:txBody>
          <a:bodyPr rtlCol="0" anchor="ctr"/>
          <a:lstStyle/>
          <a:p>
            <a:pPr algn="ctr"/>
            <a:endParaRPr/>
          </a:p>
        </p:txBody>
      </p:sp>
      <p:sp>
        <p:nvSpPr>
          <p:cNvPr id="17" name="Oval 16"/>
          <p:cNvSpPr/>
          <p:nvPr/>
        </p:nvSpPr>
        <p:spPr>
          <a:xfrm>
            <a:off x="6702552" y="2606040"/>
            <a:ext cx="118872" cy="118872"/>
          </a:xfrm>
          <a:prstGeom prst="ellipse">
            <a:avLst/>
          </a:prstGeom>
          <a:solidFill>
            <a:srgbClr val="FFD94A"/>
          </a:solidFill>
          <a:ln>
            <a:noFill/>
          </a:ln>
        </p:spPr>
        <p:txBody>
          <a:bodyPr rtlCol="0" anchor="ctr"/>
          <a:lstStyle/>
          <a:p>
            <a:pPr algn="ctr"/>
            <a:endParaRPr/>
          </a:p>
        </p:txBody>
      </p:sp>
      <p:sp>
        <p:nvSpPr>
          <p:cNvPr id="18" name="Oval 17"/>
          <p:cNvSpPr/>
          <p:nvPr/>
        </p:nvSpPr>
        <p:spPr>
          <a:xfrm>
            <a:off x="6976872" y="2606040"/>
            <a:ext cx="118872" cy="118872"/>
          </a:xfrm>
          <a:prstGeom prst="ellipse">
            <a:avLst/>
          </a:prstGeom>
          <a:solidFill>
            <a:srgbClr val="8FE3AB"/>
          </a:solidFill>
          <a:ln>
            <a:noFill/>
          </a:ln>
        </p:spPr>
        <p:txBody>
          <a:bodyPr rtlCol="0" anchor="ctr"/>
          <a:lstStyle/>
          <a:p>
            <a:pPr algn="ctr"/>
            <a:endParaRPr/>
          </a:p>
        </p:txBody>
      </p:sp>
      <p:sp>
        <p:nvSpPr>
          <p:cNvPr id="19" name="Filename"/>
          <p:cNvSpPr txBox="1"/>
          <p:nvPr/>
        </p:nvSpPr>
        <p:spPr>
          <a:xfrm>
            <a:off x="7388352" y="2468880"/>
            <a:ext cx="3977639" cy="384048"/>
          </a:xfrm>
          <a:prstGeom prst="rect">
            <a:avLst/>
          </a:prstGeom>
          <a:noFill/>
        </p:spPr>
        <p:txBody>
          <a:bodyPr wrap="square" lIns="0" tIns="0" rIns="0" bIns="0" anchor="ctr">
            <a:noAutofit/>
          </a:bodyPr>
          <a:lstStyle/>
          <a:p>
            <a:pPr algn="l"/>
            <a:r>
              <a:rPr lang="en-US" sz="1200" b="0" i="0">
                <a:solidFill>
                  <a:srgbClr val="E9EAEE"/>
                </a:solidFill>
                <a:latin typeface="Consolas"/>
              </a:rPr>
              <a:t>random_range.py</a:t>
            </a:r>
          </a:p>
        </p:txBody>
      </p:sp>
      <p:sp>
        <p:nvSpPr>
          <p:cNvPr id="20" name="Code"/>
          <p:cNvSpPr txBox="1"/>
          <p:nvPr/>
        </p:nvSpPr>
        <p:spPr>
          <a:xfrm>
            <a:off x="6565392" y="2962656"/>
            <a:ext cx="4709159" cy="1816608"/>
          </a:xfrm>
          <a:prstGeom prst="rect">
            <a:avLst/>
          </a:prstGeom>
          <a:noFill/>
        </p:spPr>
        <p:txBody>
          <a:bodyPr wrap="none" lIns="0" tIns="0" rIns="0" bIns="0" anchor="t">
            <a:noAutofit/>
          </a:bodyPr>
          <a:lstStyle/>
          <a:p>
            <a:pPr algn="l"/>
            <a:r>
              <a:rPr lang="en-US" sz="1600" b="0" i="0">
                <a:solidFill>
                  <a:srgbClr val="8FA9E8"/>
                </a:solidFill>
                <a:latin typeface="Consolas"/>
              </a:rPr>
              <a:t>import</a:t>
            </a:r>
            <a:r>
              <a:rPr lang="en-US" sz="1600" b="0" i="0">
                <a:solidFill>
                  <a:srgbClr val="E9EAEE"/>
                </a:solidFill>
                <a:latin typeface="Consolas"/>
              </a:rPr>
              <a:t> random</a:t>
            </a:r>
          </a:p>
          <a:p>
            <a:pPr algn="l"/>
            <a:r>
              <a:rPr lang="en-US" sz="1600" b="0" i="0">
                <a:solidFill>
                  <a:srgbClr val="E9EAEE"/>
                </a:solidFill>
                <a:latin typeface="Consolas"/>
              </a:rPr>
              <a:t>low = </a:t>
            </a:r>
            <a:r>
              <a:rPr lang="en-US" sz="1600" b="0" i="0">
                <a:solidFill>
                  <a:srgbClr val="F5B759"/>
                </a:solidFill>
                <a:latin typeface="Consolas"/>
              </a:rPr>
              <a:t>int</a:t>
            </a:r>
            <a:r>
              <a:rPr lang="en-US" sz="1600" b="0" i="0">
                <a:solidFill>
                  <a:srgbClr val="E9EAEE"/>
                </a:solidFill>
                <a:latin typeface="Consolas"/>
              </a:rPr>
              <a:t>(</a:t>
            </a:r>
            <a:r>
              <a:rPr lang="en-US" sz="1600" b="0" i="0">
                <a:solidFill>
                  <a:srgbClr val="F5B759"/>
                </a:solidFill>
                <a:latin typeface="Consolas"/>
              </a:rPr>
              <a:t>input</a:t>
            </a:r>
            <a:r>
              <a:rPr lang="en-US" sz="1600" b="0" i="0">
                <a:solidFill>
                  <a:srgbClr val="E9EAEE"/>
                </a:solidFill>
                <a:latin typeface="Consolas"/>
              </a:rPr>
              <a:t>("Lowest: "))</a:t>
            </a:r>
          </a:p>
          <a:p>
            <a:pPr algn="l"/>
            <a:r>
              <a:rPr lang="en-US" sz="1600" b="0" i="0">
                <a:solidFill>
                  <a:srgbClr val="E9EAEE"/>
                </a:solidFill>
                <a:latin typeface="Consolas"/>
              </a:rPr>
              <a:t>high = </a:t>
            </a:r>
            <a:r>
              <a:rPr lang="en-US" sz="1600" b="0" i="0">
                <a:solidFill>
                  <a:srgbClr val="F5B759"/>
                </a:solidFill>
                <a:latin typeface="Consolas"/>
              </a:rPr>
              <a:t>int</a:t>
            </a:r>
            <a:r>
              <a:rPr lang="en-US" sz="1600" b="0" i="0">
                <a:solidFill>
                  <a:srgbClr val="E9EAEE"/>
                </a:solidFill>
                <a:latin typeface="Consolas"/>
              </a:rPr>
              <a:t>(</a:t>
            </a:r>
            <a:r>
              <a:rPr lang="en-US" sz="1600" b="0" i="0">
                <a:solidFill>
                  <a:srgbClr val="F5B759"/>
                </a:solidFill>
                <a:latin typeface="Consolas"/>
              </a:rPr>
              <a:t>input</a:t>
            </a:r>
            <a:r>
              <a:rPr lang="en-US" sz="1600" b="0" i="0">
                <a:solidFill>
                  <a:srgbClr val="E9EAEE"/>
                </a:solidFill>
                <a:latin typeface="Consolas"/>
              </a:rPr>
              <a:t>("Highest: "))</a:t>
            </a:r>
          </a:p>
          <a:p>
            <a:pPr algn="l"/>
            <a:r>
              <a:rPr lang="en-US" sz="1600" b="0" i="0">
                <a:solidFill>
                  <a:srgbClr val="E9EAEE"/>
                </a:solidFill>
                <a:latin typeface="Consolas"/>
              </a:rPr>
              <a:t>count = high - low + 1</a:t>
            </a:r>
          </a:p>
          <a:p>
            <a:pPr algn="l"/>
            <a:r>
              <a:rPr lang="en-US" sz="1600" b="0" i="0">
                <a:solidFill>
                  <a:srgbClr val="E9EAEE"/>
                </a:solidFill>
                <a:latin typeface="Consolas"/>
              </a:rPr>
              <a:t>r = random.</a:t>
            </a:r>
            <a:r>
              <a:rPr lang="en-US" sz="1600" b="0" i="0">
                <a:solidFill>
                  <a:srgbClr val="F5B759"/>
                </a:solidFill>
                <a:latin typeface="Consolas"/>
              </a:rPr>
              <a:t>random</a:t>
            </a:r>
            <a:r>
              <a:rPr lang="en-US" sz="1600" b="0" i="0">
                <a:solidFill>
                  <a:srgbClr val="E9EAEE"/>
                </a:solidFill>
                <a:latin typeface="Consolas"/>
              </a:rPr>
              <a:t>()</a:t>
            </a:r>
          </a:p>
          <a:p>
            <a:pPr algn="l"/>
            <a:r>
              <a:rPr lang="en-US" sz="1600" b="0" i="0">
                <a:solidFill>
                  <a:srgbClr val="E9EAEE"/>
                </a:solidFill>
                <a:latin typeface="Consolas"/>
              </a:rPr>
              <a:t>value = </a:t>
            </a:r>
            <a:r>
              <a:rPr lang="en-US" sz="1600" b="0" i="0">
                <a:solidFill>
                  <a:srgbClr val="F5B759"/>
                </a:solidFill>
                <a:latin typeface="Consolas"/>
              </a:rPr>
              <a:t>int</a:t>
            </a:r>
            <a:r>
              <a:rPr lang="en-US" sz="1600" b="0" i="0">
                <a:solidFill>
                  <a:srgbClr val="E9EAEE"/>
                </a:solidFill>
                <a:latin typeface="Consolas"/>
              </a:rPr>
              <a:t>(r * count) + low</a:t>
            </a:r>
          </a:p>
          <a:p>
            <a:pPr algn="l"/>
            <a:r>
              <a:rPr lang="en-US" sz="1600" b="0" i="0">
                <a:solidFill>
                  <a:srgbClr val="F5B759"/>
                </a:solidFill>
                <a:latin typeface="Consolas"/>
              </a:rPr>
              <a:t>print</a:t>
            </a:r>
            <a:r>
              <a:rPr lang="en-US" sz="1600" b="0" i="0">
                <a:solidFill>
                  <a:srgbClr val="E9EAEE"/>
                </a:solidFill>
                <a:latin typeface="Consolas"/>
              </a:rPr>
              <a:t>(f"Picked {value}")</a:t>
            </a:r>
          </a:p>
        </p:txBody>
      </p:sp>
      <p:sp>
        <p:nvSpPr>
          <p:cNvPr id="21" name="Verdict"/>
          <p:cNvSpPr/>
          <p:nvPr/>
        </p:nvSpPr>
        <p:spPr>
          <a:xfrm>
            <a:off x="640080" y="5035296"/>
            <a:ext cx="10908792" cy="1136903"/>
          </a:xfrm>
          <a:prstGeom prst="roundRect">
            <a:avLst>
              <a:gd name="adj" fmla="val 8000"/>
            </a:avLst>
          </a:prstGeom>
          <a:solidFill>
            <a:srgbClr val="FBE5D6"/>
          </a:solidFill>
          <a:ln w="15875">
            <a:solidFill>
              <a:srgbClr val="A64B00"/>
            </a:solidFill>
          </a:ln>
        </p:spPr>
        <p:txBody>
          <a:bodyPr rtlCol="0" anchor="ctr"/>
          <a:lstStyle/>
          <a:p>
            <a:endParaRPr/>
          </a:p>
        </p:txBody>
      </p:sp>
      <p:sp>
        <p:nvSpPr>
          <p:cNvPr id="22" name="Verdict text"/>
          <p:cNvSpPr txBox="1"/>
          <p:nvPr/>
        </p:nvSpPr>
        <p:spPr>
          <a:xfrm>
            <a:off x="822960" y="5126736"/>
            <a:ext cx="10515600" cy="954023"/>
          </a:xfrm>
          <a:prstGeom prst="rect">
            <a:avLst/>
          </a:prstGeom>
          <a:noFill/>
        </p:spPr>
        <p:txBody>
          <a:bodyPr wrap="square" lIns="0" tIns="0" rIns="0" bIns="0" anchor="ctr">
            <a:noAutofit/>
          </a:bodyPr>
          <a:lstStyle/>
          <a:p>
            <a:pPr algn="l">
              <a:spcAft>
                <a:spcPts val="400"/>
              </a:spcAft>
            </a:pPr>
            <a:r>
              <a:rPr lang="en-US" sz="1800" b="0" i="0">
                <a:solidFill>
                  <a:srgbClr val="843C0B"/>
                </a:solidFill>
                <a:latin typeface="Raleway"/>
              </a:rPr>
              <a:t>N sides: stretch by N, cut, shift by 1. N = 6 is the die; N = 2 is a coin.</a:t>
            </a:r>
          </a:p>
          <a:p>
            <a:pPr algn="l">
              <a:spcAft>
                <a:spcPts val="400"/>
              </a:spcAft>
            </a:pPr>
            <a:r>
              <a:rPr lang="en-US" sz="1800" b="0" i="0">
                <a:solidFill>
                  <a:srgbClr val="843C0B"/>
                </a:solidFill>
                <a:latin typeface="Raleway"/>
              </a:rPr>
              <a:t>A range: high - low + 1 values, so stretch by that count and shift by low. Check: 0.0 gives low, 0.999 gives high.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25 - Compare - Exercise 5: is doubling a die two dice?">
    <p:spTree>
      <p:nvGrpSpPr>
        <p:cNvPr id="1" name=""/>
        <p:cNvGrpSpPr/>
        <p:nvPr/>
      </p:nvGrpSpPr>
      <p:grpSpPr>
        <a:xfrm>
          <a:off x="0" y="0"/>
          <a:ext cx="0" cy="0"/>
          <a:chOff x="0" y="0"/>
          <a:chExt cx="0" cy="0"/>
        </a:xfrm>
      </p:grpSpPr>
      <p:sp>
        <p:nvSpPr>
          <p:cNvPr id="2" name="Slide number"/>
          <p:cNvSpPr txBox="1"/>
          <p:nvPr/>
        </p:nvSpPr>
        <p:spPr>
          <a:xfrm>
            <a:off x="11430000" y="6446520"/>
            <a:ext cx="548640" cy="320040"/>
          </a:xfrm>
          <a:prstGeom prst="rect">
            <a:avLst/>
          </a:prstGeom>
          <a:noFill/>
        </p:spPr>
        <p:txBody>
          <a:bodyPr wrap="none" lIns="0" tIns="0" rIns="0" bIns="0" anchor="ctr">
            <a:spAutoFit/>
          </a:bodyPr>
          <a:lstStyle/>
          <a:p>
            <a:pPr algn="r"/>
            <a:fld id="{007A6A40-1A7B-4A1B-9D78-D7D11C5A8472}" type="slidenum">
              <a:rPr lang="en-US" sz="1200">
                <a:solidFill>
                  <a:srgbClr val="1B3A5C"/>
                </a:solidFill>
                <a:latin typeface="Raleway"/>
              </a:rPr>
              <a:t>27</a:t>
            </a:fld>
            <a:endParaRPr lang="en-US" sz="1200">
              <a:solidFill>
                <a:srgbClr val="1B3A5C"/>
              </a:solidFill>
              <a:latin typeface="Raleway"/>
            </a:endParaRPr>
          </a:p>
        </p:txBody>
      </p:sp>
      <p:sp>
        <p:nvSpPr>
          <p:cNvPr id="3" name="Title"/>
          <p:cNvSpPr txBox="1"/>
          <p:nvPr/>
        </p:nvSpPr>
        <p:spPr>
          <a:xfrm>
            <a:off x="640080" y="502920"/>
            <a:ext cx="11411712" cy="822960"/>
          </a:xfrm>
          <a:prstGeom prst="rect">
            <a:avLst/>
          </a:prstGeom>
          <a:noFill/>
        </p:spPr>
        <p:txBody>
          <a:bodyPr wrap="square" lIns="0" tIns="0" rIns="0" bIns="0" anchor="ctr">
            <a:noAutofit/>
          </a:bodyPr>
          <a:lstStyle/>
          <a:p>
            <a:pPr algn="l"/>
            <a:r>
              <a:rPr lang="en-US" sz="4000" b="1" i="0">
                <a:solidFill>
                  <a:srgbClr val="1F4E79"/>
                </a:solidFill>
                <a:latin typeface="Raleway"/>
              </a:rPr>
              <a:t>Exercise 5: is doubling a die two dice?</a:t>
            </a:r>
          </a:p>
        </p:txBody>
      </p:sp>
      <p:sp>
        <p:nvSpPr>
          <p:cNvPr id="4" name="Lead"/>
          <p:cNvSpPr txBox="1"/>
          <p:nvPr/>
        </p:nvSpPr>
        <p:spPr>
          <a:xfrm>
            <a:off x="640080" y="1508760"/>
            <a:ext cx="10881360" cy="502920"/>
          </a:xfrm>
          <a:prstGeom prst="rect">
            <a:avLst/>
          </a:prstGeom>
          <a:noFill/>
        </p:spPr>
        <p:txBody>
          <a:bodyPr wrap="square" lIns="0" tIns="0" rIns="0" bIns="0" anchor="t">
            <a:noAutofit/>
          </a:bodyPr>
          <a:lstStyle/>
          <a:p>
            <a:pPr algn="l">
              <a:lnSpc>
                <a:spcPct val="110000"/>
              </a:lnSpc>
            </a:pPr>
            <a:r>
              <a:rPr lang="en-US" sz="2400" b="0" i="0">
                <a:solidFill>
                  <a:srgbClr val="A64B00"/>
                </a:solidFill>
                <a:latin typeface="Raleway"/>
              </a:rPr>
              <a:t>Dana rolled one die and doubled it. Noam rolled two. Same thing?</a:t>
            </a:r>
          </a:p>
        </p:txBody>
      </p:sp>
      <p:sp>
        <p:nvSpPr>
          <p:cNvPr id="5" name="Code card"/>
          <p:cNvSpPr/>
          <p:nvPr/>
        </p:nvSpPr>
        <p:spPr>
          <a:xfrm>
            <a:off x="640080" y="2057400"/>
            <a:ext cx="5349240" cy="1670303"/>
          </a:xfrm>
          <a:prstGeom prst="roundRect">
            <a:avLst>
              <a:gd name="adj" fmla="val 4000"/>
            </a:avLst>
          </a:prstGeom>
          <a:solidFill>
            <a:srgbClr val="111318"/>
          </a:solidFill>
          <a:ln w="12700">
            <a:solidFill>
              <a:srgbClr val="D8DBE0"/>
            </a:solidFill>
          </a:ln>
        </p:spPr>
        <p:txBody>
          <a:bodyPr rtlCol="0" anchor="ctr"/>
          <a:lstStyle/>
          <a:p>
            <a:endParaRPr/>
          </a:p>
        </p:txBody>
      </p:sp>
      <p:sp>
        <p:nvSpPr>
          <p:cNvPr id="6" name="Code card header"/>
          <p:cNvSpPr/>
          <p:nvPr/>
        </p:nvSpPr>
        <p:spPr>
          <a:xfrm>
            <a:off x="640080" y="2057400"/>
            <a:ext cx="5349240" cy="384048"/>
          </a:xfrm>
          <a:prstGeom prst="roundRect">
            <a:avLst>
              <a:gd name="adj" fmla="val 10000"/>
            </a:avLst>
          </a:prstGeom>
          <a:solidFill>
            <a:srgbClr val="1B1E26"/>
          </a:solidFill>
          <a:ln w="12700">
            <a:solidFill>
              <a:srgbClr val="D8DBE0"/>
            </a:solidFill>
          </a:ln>
        </p:spPr>
        <p:txBody>
          <a:bodyPr rtlCol="0" anchor="ctr"/>
          <a:lstStyle/>
          <a:p>
            <a:endParaRPr/>
          </a:p>
        </p:txBody>
      </p:sp>
      <p:sp>
        <p:nvSpPr>
          <p:cNvPr id="7" name="Code card header fill"/>
          <p:cNvSpPr/>
          <p:nvPr/>
        </p:nvSpPr>
        <p:spPr>
          <a:xfrm>
            <a:off x="658368" y="2249424"/>
            <a:ext cx="5312664" cy="192024"/>
          </a:xfrm>
          <a:prstGeom prst="rect">
            <a:avLst/>
          </a:prstGeom>
          <a:solidFill>
            <a:srgbClr val="1B1E26"/>
          </a:solidFill>
          <a:ln>
            <a:noFill/>
          </a:ln>
        </p:spPr>
        <p:txBody>
          <a:bodyPr rtlCol="0" anchor="ctr"/>
          <a:lstStyle/>
          <a:p>
            <a:endParaRPr/>
          </a:p>
        </p:txBody>
      </p:sp>
      <p:sp>
        <p:nvSpPr>
          <p:cNvPr id="8" name="Oval 7"/>
          <p:cNvSpPr/>
          <p:nvPr/>
        </p:nvSpPr>
        <p:spPr>
          <a:xfrm>
            <a:off x="868680" y="2194560"/>
            <a:ext cx="118872" cy="118872"/>
          </a:xfrm>
          <a:prstGeom prst="ellipse">
            <a:avLst/>
          </a:prstGeom>
          <a:solidFill>
            <a:srgbClr val="FF6B6B"/>
          </a:solidFill>
          <a:ln>
            <a:noFill/>
          </a:ln>
        </p:spPr>
        <p:txBody>
          <a:bodyPr rtlCol="0" anchor="ctr"/>
          <a:lstStyle/>
          <a:p>
            <a:pPr algn="ctr"/>
            <a:endParaRPr/>
          </a:p>
        </p:txBody>
      </p:sp>
      <p:sp>
        <p:nvSpPr>
          <p:cNvPr id="9" name="Oval 8"/>
          <p:cNvSpPr/>
          <p:nvPr/>
        </p:nvSpPr>
        <p:spPr>
          <a:xfrm>
            <a:off x="1143000" y="2194560"/>
            <a:ext cx="118872" cy="118872"/>
          </a:xfrm>
          <a:prstGeom prst="ellipse">
            <a:avLst/>
          </a:prstGeom>
          <a:solidFill>
            <a:srgbClr val="FFD94A"/>
          </a:solidFill>
          <a:ln>
            <a:noFill/>
          </a:ln>
        </p:spPr>
        <p:txBody>
          <a:bodyPr rtlCol="0" anchor="ctr"/>
          <a:lstStyle/>
          <a:p>
            <a:pPr algn="ctr"/>
            <a:endParaRPr/>
          </a:p>
        </p:txBody>
      </p:sp>
      <p:sp>
        <p:nvSpPr>
          <p:cNvPr id="10" name="Oval 9"/>
          <p:cNvSpPr/>
          <p:nvPr/>
        </p:nvSpPr>
        <p:spPr>
          <a:xfrm>
            <a:off x="1417319" y="2194560"/>
            <a:ext cx="118872" cy="118872"/>
          </a:xfrm>
          <a:prstGeom prst="ellipse">
            <a:avLst/>
          </a:prstGeom>
          <a:solidFill>
            <a:srgbClr val="8FE3AB"/>
          </a:solidFill>
          <a:ln>
            <a:noFill/>
          </a:ln>
        </p:spPr>
        <p:txBody>
          <a:bodyPr rtlCol="0" anchor="ctr"/>
          <a:lstStyle/>
          <a:p>
            <a:pPr algn="ctr"/>
            <a:endParaRPr/>
          </a:p>
        </p:txBody>
      </p:sp>
      <p:sp>
        <p:nvSpPr>
          <p:cNvPr id="11" name="Filename"/>
          <p:cNvSpPr txBox="1"/>
          <p:nvPr/>
        </p:nvSpPr>
        <p:spPr>
          <a:xfrm>
            <a:off x="1828800" y="2057400"/>
            <a:ext cx="3977639" cy="384048"/>
          </a:xfrm>
          <a:prstGeom prst="rect">
            <a:avLst/>
          </a:prstGeom>
          <a:noFill/>
        </p:spPr>
        <p:txBody>
          <a:bodyPr wrap="square" lIns="0" tIns="0" rIns="0" bIns="0" anchor="ctr">
            <a:noAutofit/>
          </a:bodyPr>
          <a:lstStyle/>
          <a:p>
            <a:pPr algn="l"/>
            <a:r>
              <a:rPr lang="en-US" sz="1200" b="0" i="0">
                <a:solidFill>
                  <a:srgbClr val="E9EAEE"/>
                </a:solidFill>
                <a:latin typeface="Consolas"/>
              </a:rPr>
              <a:t>double_die.py</a:t>
            </a:r>
          </a:p>
        </p:txBody>
      </p:sp>
      <p:sp>
        <p:nvSpPr>
          <p:cNvPr id="12" name="Code"/>
          <p:cNvSpPr txBox="1"/>
          <p:nvPr/>
        </p:nvSpPr>
        <p:spPr>
          <a:xfrm>
            <a:off x="1005840" y="2551176"/>
            <a:ext cx="4709159" cy="1085087"/>
          </a:xfrm>
          <a:prstGeom prst="rect">
            <a:avLst/>
          </a:prstGeom>
          <a:noFill/>
        </p:spPr>
        <p:txBody>
          <a:bodyPr wrap="none" lIns="0" tIns="0" rIns="0" bIns="0" anchor="t">
            <a:noAutofit/>
          </a:bodyPr>
          <a:lstStyle/>
          <a:p>
            <a:pPr algn="l"/>
            <a:r>
              <a:rPr lang="en-US" sz="1600" b="0" i="0">
                <a:solidFill>
                  <a:srgbClr val="8FA9E8"/>
                </a:solidFill>
                <a:latin typeface="Consolas"/>
              </a:rPr>
              <a:t>import</a:t>
            </a:r>
            <a:r>
              <a:rPr lang="en-US" sz="1600" b="0" i="0">
                <a:solidFill>
                  <a:srgbClr val="E9EAEE"/>
                </a:solidFill>
                <a:latin typeface="Consolas"/>
              </a:rPr>
              <a:t> random</a:t>
            </a:r>
          </a:p>
          <a:p>
            <a:pPr algn="l"/>
            <a:r>
              <a:rPr lang="en-US" sz="1600" b="0" i="0">
                <a:solidFill>
                  <a:srgbClr val="E9EAEE"/>
                </a:solidFill>
                <a:latin typeface="Consolas"/>
              </a:rPr>
              <a:t>face = </a:t>
            </a:r>
            <a:r>
              <a:rPr lang="en-US" sz="1600" b="0" i="0">
                <a:solidFill>
                  <a:srgbClr val="F5B759"/>
                </a:solidFill>
                <a:latin typeface="Consolas"/>
              </a:rPr>
              <a:t>int</a:t>
            </a:r>
            <a:r>
              <a:rPr lang="en-US" sz="1600" b="0" i="0">
                <a:solidFill>
                  <a:srgbClr val="E9EAEE"/>
                </a:solidFill>
                <a:latin typeface="Consolas"/>
              </a:rPr>
              <a:t>(random.</a:t>
            </a:r>
            <a:r>
              <a:rPr lang="en-US" sz="1600" b="0" i="0">
                <a:solidFill>
                  <a:srgbClr val="F5B759"/>
                </a:solidFill>
                <a:latin typeface="Consolas"/>
              </a:rPr>
              <a:t>random</a:t>
            </a:r>
            <a:r>
              <a:rPr lang="en-US" sz="1600" b="0" i="0">
                <a:solidFill>
                  <a:srgbClr val="E9EAEE"/>
                </a:solidFill>
                <a:latin typeface="Consolas"/>
              </a:rPr>
              <a:t>() * 6) + 1</a:t>
            </a:r>
          </a:p>
          <a:p>
            <a:pPr algn="l"/>
            <a:r>
              <a:rPr lang="en-US" sz="1600" b="0" i="0">
                <a:solidFill>
                  <a:srgbClr val="E9EAEE"/>
                </a:solidFill>
                <a:latin typeface="Consolas"/>
              </a:rPr>
              <a:t>total = 2 * face</a:t>
            </a:r>
          </a:p>
          <a:p>
            <a:pPr algn="l"/>
            <a:r>
              <a:rPr lang="en-US" sz="1600" b="0" i="0">
                <a:solidFill>
                  <a:srgbClr val="F5B759"/>
                </a:solidFill>
                <a:latin typeface="Consolas"/>
              </a:rPr>
              <a:t>print</a:t>
            </a:r>
            <a:r>
              <a:rPr lang="en-US" sz="1600" b="0" i="0">
                <a:solidFill>
                  <a:srgbClr val="E9EAEE"/>
                </a:solidFill>
                <a:latin typeface="Consolas"/>
              </a:rPr>
              <a:t>(f"Doubled: {total}")</a:t>
            </a:r>
          </a:p>
        </p:txBody>
      </p:sp>
      <p:sp>
        <p:nvSpPr>
          <p:cNvPr id="13" name="Code card"/>
          <p:cNvSpPr/>
          <p:nvPr/>
        </p:nvSpPr>
        <p:spPr>
          <a:xfrm>
            <a:off x="6199632" y="2057400"/>
            <a:ext cx="5349240" cy="1914144"/>
          </a:xfrm>
          <a:prstGeom prst="roundRect">
            <a:avLst>
              <a:gd name="adj" fmla="val 4000"/>
            </a:avLst>
          </a:prstGeom>
          <a:solidFill>
            <a:srgbClr val="111318"/>
          </a:solidFill>
          <a:ln w="12700">
            <a:solidFill>
              <a:srgbClr val="D8DBE0"/>
            </a:solidFill>
          </a:ln>
        </p:spPr>
        <p:txBody>
          <a:bodyPr rtlCol="0" anchor="ctr"/>
          <a:lstStyle/>
          <a:p>
            <a:endParaRPr/>
          </a:p>
        </p:txBody>
      </p:sp>
      <p:sp>
        <p:nvSpPr>
          <p:cNvPr id="14" name="Code card header"/>
          <p:cNvSpPr/>
          <p:nvPr/>
        </p:nvSpPr>
        <p:spPr>
          <a:xfrm>
            <a:off x="6199632" y="2057400"/>
            <a:ext cx="5349240" cy="384048"/>
          </a:xfrm>
          <a:prstGeom prst="roundRect">
            <a:avLst>
              <a:gd name="adj" fmla="val 10000"/>
            </a:avLst>
          </a:prstGeom>
          <a:solidFill>
            <a:srgbClr val="1B1E26"/>
          </a:solidFill>
          <a:ln w="12700">
            <a:solidFill>
              <a:srgbClr val="D8DBE0"/>
            </a:solidFill>
          </a:ln>
        </p:spPr>
        <p:txBody>
          <a:bodyPr rtlCol="0" anchor="ctr"/>
          <a:lstStyle/>
          <a:p>
            <a:endParaRPr/>
          </a:p>
        </p:txBody>
      </p:sp>
      <p:sp>
        <p:nvSpPr>
          <p:cNvPr id="15" name="Code card header fill"/>
          <p:cNvSpPr/>
          <p:nvPr/>
        </p:nvSpPr>
        <p:spPr>
          <a:xfrm>
            <a:off x="6217920" y="2249424"/>
            <a:ext cx="5312664" cy="192024"/>
          </a:xfrm>
          <a:prstGeom prst="rect">
            <a:avLst/>
          </a:prstGeom>
          <a:solidFill>
            <a:srgbClr val="1B1E26"/>
          </a:solidFill>
          <a:ln>
            <a:noFill/>
          </a:ln>
        </p:spPr>
        <p:txBody>
          <a:bodyPr rtlCol="0" anchor="ctr"/>
          <a:lstStyle/>
          <a:p>
            <a:endParaRPr/>
          </a:p>
        </p:txBody>
      </p:sp>
      <p:sp>
        <p:nvSpPr>
          <p:cNvPr id="16" name="Oval 15"/>
          <p:cNvSpPr/>
          <p:nvPr/>
        </p:nvSpPr>
        <p:spPr>
          <a:xfrm>
            <a:off x="6428232" y="2194560"/>
            <a:ext cx="118872" cy="118872"/>
          </a:xfrm>
          <a:prstGeom prst="ellipse">
            <a:avLst/>
          </a:prstGeom>
          <a:solidFill>
            <a:srgbClr val="FF6B6B"/>
          </a:solidFill>
          <a:ln>
            <a:noFill/>
          </a:ln>
        </p:spPr>
        <p:txBody>
          <a:bodyPr rtlCol="0" anchor="ctr"/>
          <a:lstStyle/>
          <a:p>
            <a:pPr algn="ctr"/>
            <a:endParaRPr/>
          </a:p>
        </p:txBody>
      </p:sp>
      <p:sp>
        <p:nvSpPr>
          <p:cNvPr id="17" name="Oval 16"/>
          <p:cNvSpPr/>
          <p:nvPr/>
        </p:nvSpPr>
        <p:spPr>
          <a:xfrm>
            <a:off x="6702552" y="2194560"/>
            <a:ext cx="118872" cy="118872"/>
          </a:xfrm>
          <a:prstGeom prst="ellipse">
            <a:avLst/>
          </a:prstGeom>
          <a:solidFill>
            <a:srgbClr val="FFD94A"/>
          </a:solidFill>
          <a:ln>
            <a:noFill/>
          </a:ln>
        </p:spPr>
        <p:txBody>
          <a:bodyPr rtlCol="0" anchor="ctr"/>
          <a:lstStyle/>
          <a:p>
            <a:pPr algn="ctr"/>
            <a:endParaRPr/>
          </a:p>
        </p:txBody>
      </p:sp>
      <p:sp>
        <p:nvSpPr>
          <p:cNvPr id="18" name="Oval 17"/>
          <p:cNvSpPr/>
          <p:nvPr/>
        </p:nvSpPr>
        <p:spPr>
          <a:xfrm>
            <a:off x="6976872" y="2194560"/>
            <a:ext cx="118872" cy="118872"/>
          </a:xfrm>
          <a:prstGeom prst="ellipse">
            <a:avLst/>
          </a:prstGeom>
          <a:solidFill>
            <a:srgbClr val="8FE3AB"/>
          </a:solidFill>
          <a:ln>
            <a:noFill/>
          </a:ln>
        </p:spPr>
        <p:txBody>
          <a:bodyPr rtlCol="0" anchor="ctr"/>
          <a:lstStyle/>
          <a:p>
            <a:pPr algn="ctr"/>
            <a:endParaRPr/>
          </a:p>
        </p:txBody>
      </p:sp>
      <p:sp>
        <p:nvSpPr>
          <p:cNvPr id="19" name="Filename"/>
          <p:cNvSpPr txBox="1"/>
          <p:nvPr/>
        </p:nvSpPr>
        <p:spPr>
          <a:xfrm>
            <a:off x="7388352" y="2057400"/>
            <a:ext cx="3977639" cy="384048"/>
          </a:xfrm>
          <a:prstGeom prst="rect">
            <a:avLst/>
          </a:prstGeom>
          <a:noFill/>
        </p:spPr>
        <p:txBody>
          <a:bodyPr wrap="square" lIns="0" tIns="0" rIns="0" bIns="0" anchor="ctr">
            <a:noAutofit/>
          </a:bodyPr>
          <a:lstStyle/>
          <a:p>
            <a:pPr algn="l"/>
            <a:r>
              <a:rPr lang="en-US" sz="1200" b="0" i="0">
                <a:solidFill>
                  <a:srgbClr val="E9EAEE"/>
                </a:solidFill>
                <a:latin typeface="Consolas"/>
              </a:rPr>
              <a:t>two_dice.py</a:t>
            </a:r>
          </a:p>
        </p:txBody>
      </p:sp>
      <p:sp>
        <p:nvSpPr>
          <p:cNvPr id="20" name="Code"/>
          <p:cNvSpPr txBox="1"/>
          <p:nvPr/>
        </p:nvSpPr>
        <p:spPr>
          <a:xfrm>
            <a:off x="6565392" y="2551176"/>
            <a:ext cx="4709159" cy="1328928"/>
          </a:xfrm>
          <a:prstGeom prst="rect">
            <a:avLst/>
          </a:prstGeom>
          <a:noFill/>
        </p:spPr>
        <p:txBody>
          <a:bodyPr wrap="none" lIns="0" tIns="0" rIns="0" bIns="0" anchor="t">
            <a:noAutofit/>
          </a:bodyPr>
          <a:lstStyle/>
          <a:p>
            <a:pPr algn="l"/>
            <a:r>
              <a:rPr lang="en-US" sz="1600" b="0" i="0">
                <a:solidFill>
                  <a:srgbClr val="8FA9E8"/>
                </a:solidFill>
                <a:latin typeface="Consolas"/>
              </a:rPr>
              <a:t>import</a:t>
            </a:r>
            <a:r>
              <a:rPr lang="en-US" sz="1600" b="0" i="0">
                <a:solidFill>
                  <a:srgbClr val="E9EAEE"/>
                </a:solidFill>
                <a:latin typeface="Consolas"/>
              </a:rPr>
              <a:t> random</a:t>
            </a:r>
          </a:p>
          <a:p>
            <a:pPr algn="l"/>
            <a:r>
              <a:rPr lang="en-US" sz="1600" b="0" i="0">
                <a:solidFill>
                  <a:srgbClr val="E9EAEE"/>
                </a:solidFill>
                <a:latin typeface="Consolas"/>
              </a:rPr>
              <a:t>first = </a:t>
            </a:r>
            <a:r>
              <a:rPr lang="en-US" sz="1600" b="0" i="0">
                <a:solidFill>
                  <a:srgbClr val="F5B759"/>
                </a:solidFill>
                <a:latin typeface="Consolas"/>
              </a:rPr>
              <a:t>int</a:t>
            </a:r>
            <a:r>
              <a:rPr lang="en-US" sz="1600" b="0" i="0">
                <a:solidFill>
                  <a:srgbClr val="E9EAEE"/>
                </a:solidFill>
                <a:latin typeface="Consolas"/>
              </a:rPr>
              <a:t>(random.</a:t>
            </a:r>
            <a:r>
              <a:rPr lang="en-US" sz="1600" b="0" i="0">
                <a:solidFill>
                  <a:srgbClr val="F5B759"/>
                </a:solidFill>
                <a:latin typeface="Consolas"/>
              </a:rPr>
              <a:t>random</a:t>
            </a:r>
            <a:r>
              <a:rPr lang="en-US" sz="1600" b="0" i="0">
                <a:solidFill>
                  <a:srgbClr val="E9EAEE"/>
                </a:solidFill>
                <a:latin typeface="Consolas"/>
              </a:rPr>
              <a:t>() * 6) + 1</a:t>
            </a:r>
          </a:p>
          <a:p>
            <a:pPr algn="l"/>
            <a:r>
              <a:rPr lang="en-US" sz="1600" b="0" i="0">
                <a:solidFill>
                  <a:srgbClr val="E9EAEE"/>
                </a:solidFill>
                <a:latin typeface="Consolas"/>
              </a:rPr>
              <a:t>second = </a:t>
            </a:r>
            <a:r>
              <a:rPr lang="en-US" sz="1600" b="0" i="0">
                <a:solidFill>
                  <a:srgbClr val="F5B759"/>
                </a:solidFill>
                <a:latin typeface="Consolas"/>
              </a:rPr>
              <a:t>int</a:t>
            </a:r>
            <a:r>
              <a:rPr lang="en-US" sz="1600" b="0" i="0">
                <a:solidFill>
                  <a:srgbClr val="E9EAEE"/>
                </a:solidFill>
                <a:latin typeface="Consolas"/>
              </a:rPr>
              <a:t>(random.</a:t>
            </a:r>
            <a:r>
              <a:rPr lang="en-US" sz="1600" b="0" i="0">
                <a:solidFill>
                  <a:srgbClr val="F5B759"/>
                </a:solidFill>
                <a:latin typeface="Consolas"/>
              </a:rPr>
              <a:t>random</a:t>
            </a:r>
            <a:r>
              <a:rPr lang="en-US" sz="1600" b="0" i="0">
                <a:solidFill>
                  <a:srgbClr val="E9EAEE"/>
                </a:solidFill>
                <a:latin typeface="Consolas"/>
              </a:rPr>
              <a:t>() * 6) + 1</a:t>
            </a:r>
          </a:p>
          <a:p>
            <a:pPr algn="l"/>
            <a:r>
              <a:rPr lang="en-US" sz="1600" b="0" i="0">
                <a:solidFill>
                  <a:srgbClr val="E9EAEE"/>
                </a:solidFill>
                <a:latin typeface="Consolas"/>
              </a:rPr>
              <a:t>total = first + second</a:t>
            </a:r>
          </a:p>
          <a:p>
            <a:pPr algn="l"/>
            <a:r>
              <a:rPr lang="en-US" sz="1600" b="0" i="0">
                <a:solidFill>
                  <a:srgbClr val="F5B759"/>
                </a:solidFill>
                <a:latin typeface="Consolas"/>
              </a:rPr>
              <a:t>print</a:t>
            </a:r>
            <a:r>
              <a:rPr lang="en-US" sz="1600" b="0" i="0">
                <a:solidFill>
                  <a:srgbClr val="E9EAEE"/>
                </a:solidFill>
                <a:latin typeface="Consolas"/>
              </a:rPr>
              <a:t>(f"Two dice: {total}")</a:t>
            </a:r>
          </a:p>
        </p:txBody>
      </p:sp>
      <p:sp>
        <p:nvSpPr>
          <p:cNvPr id="21" name="Panel"/>
          <p:cNvSpPr/>
          <p:nvPr/>
        </p:nvSpPr>
        <p:spPr>
          <a:xfrm>
            <a:off x="640080" y="4136136"/>
            <a:ext cx="10908792" cy="1700000"/>
          </a:xfrm>
          <a:prstGeom prst="roundRect">
            <a:avLst>
              <a:gd name="adj" fmla="val 6000"/>
            </a:avLst>
          </a:prstGeom>
          <a:solidFill>
            <a:srgbClr val="F2F3F5"/>
          </a:solidFill>
          <a:ln w="12700">
            <a:solidFill>
              <a:srgbClr val="D8DBE0"/>
            </a:solidFill>
          </a:ln>
        </p:spPr>
        <p:txBody>
          <a:bodyPr rtlCol="0" anchor="ctr"/>
          <a:lstStyle/>
          <a:p>
            <a:endParaRPr/>
          </a:p>
        </p:txBody>
      </p:sp>
      <p:sp>
        <p:nvSpPr>
          <p:cNvPr id="22" name="Panel text"/>
          <p:cNvSpPr txBox="1"/>
          <p:nvPr/>
        </p:nvSpPr>
        <p:spPr>
          <a:xfrm>
            <a:off x="822960" y="4245864"/>
            <a:ext cx="10543032" cy="1480544"/>
          </a:xfrm>
          <a:prstGeom prst="rect">
            <a:avLst/>
          </a:prstGeom>
          <a:noFill/>
        </p:spPr>
        <p:txBody>
          <a:bodyPr wrap="square" lIns="0" tIns="0" rIns="0" bIns="0" anchor="t">
            <a:noAutofit/>
          </a:bodyPr>
          <a:lstStyle/>
          <a:p>
            <a:pPr algn="l">
              <a:spcAft>
                <a:spcPts val="600"/>
              </a:spcAft>
            </a:pPr>
            <a:r>
              <a:rPr lang="en-US" sz="2200" b="0" i="0">
                <a:solidFill>
                  <a:srgbClr val="A64B00"/>
                </a:solidFill>
                <a:latin typeface="Raleway"/>
              </a:rPr>
              <a:t>Think about</a:t>
            </a:r>
          </a:p>
          <a:p>
            <a:pPr marL="201168" indent="-201168" algn="l">
              <a:spcAft>
                <a:spcPts val="600"/>
              </a:spcAft>
              <a:buSzPct val="65000"/>
              <a:buFont typeface="Arial" panose="020B0604020202020204" pitchFamily="34" charset="0"/>
              <a:buChar char="•"/>
            </a:pPr>
            <a:r>
              <a:rPr lang="en-US" sz="1600" b="0" i="0">
                <a:solidFill>
                  <a:srgbClr val="1D2433"/>
                </a:solidFill>
                <a:latin typeface="Raleway"/>
              </a:rPr>
              <a:t>Can Dana's program ever print 7? Can it print 3?</a:t>
            </a:r>
          </a:p>
          <a:p>
            <a:pPr marL="201168" indent="-201168" algn="l">
              <a:spcAft>
                <a:spcPts val="600"/>
              </a:spcAft>
              <a:buSzPct val="65000"/>
              <a:buFont typeface="Arial" panose="020B0604020202020204" pitchFamily="34" charset="0"/>
              <a:buChar char="•"/>
            </a:pPr>
            <a:r>
              <a:rPr lang="en-US" sz="1600" b="0" i="0">
                <a:solidFill>
                  <a:srgbClr val="1D2433"/>
                </a:solidFill>
                <a:latin typeface="Raleway"/>
              </a:rPr>
              <a:t>Which total does Noam's program print most often, and why?</a:t>
            </a:r>
          </a:p>
          <a:p>
            <a:pPr marL="201168" indent="-201168" algn="l">
              <a:spcAft>
                <a:spcPts val="600"/>
              </a:spcAft>
              <a:buSzPct val="65000"/>
              <a:buFont typeface="Arial" panose="020B0604020202020204" pitchFamily="34" charset="0"/>
              <a:buChar char="•"/>
            </a:pPr>
            <a:r>
              <a:rPr lang="en-US" sz="1600" b="0" i="0">
                <a:solidFill>
                  <a:srgbClr val="1D2433"/>
                </a:solidFill>
                <a:latin typeface="Raleway"/>
              </a:rPr>
              <a:t>How many times does each program call </a:t>
            </a:r>
            <a:r>
              <a:rPr lang="en-US" sz="1600" b="0" i="0">
                <a:solidFill>
                  <a:srgbClr val="1D2433"/>
                </a:solidFill>
                <a:latin typeface="Consolas"/>
              </a:rPr>
              <a:t>random.random()</a:t>
            </a:r>
            <a:r>
              <a:rPr lang="en-US" sz="1600" b="0" i="0">
                <a:solidFill>
                  <a:srgbClr val="1D2433"/>
                </a:solidFill>
                <a:latin typeface="Raleway"/>
              </a:rPr>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25 - Compare - Exercise 5: is doubling a die two dice?">
    <p:spTree>
      <p:nvGrpSpPr>
        <p:cNvPr id="1" name=""/>
        <p:cNvGrpSpPr/>
        <p:nvPr/>
      </p:nvGrpSpPr>
      <p:grpSpPr>
        <a:xfrm>
          <a:off x="0" y="0"/>
          <a:ext cx="0" cy="0"/>
          <a:chOff x="0" y="0"/>
          <a:chExt cx="0" cy="0"/>
        </a:xfrm>
      </p:grpSpPr>
      <p:sp>
        <p:nvSpPr>
          <p:cNvPr id="2" name="Slide number"/>
          <p:cNvSpPr txBox="1"/>
          <p:nvPr/>
        </p:nvSpPr>
        <p:spPr>
          <a:xfrm>
            <a:off x="11430000" y="6446520"/>
            <a:ext cx="548640" cy="320040"/>
          </a:xfrm>
          <a:prstGeom prst="rect">
            <a:avLst/>
          </a:prstGeom>
          <a:noFill/>
        </p:spPr>
        <p:txBody>
          <a:bodyPr wrap="none" lIns="0" tIns="0" rIns="0" bIns="0" anchor="ctr">
            <a:spAutoFit/>
          </a:bodyPr>
          <a:lstStyle/>
          <a:p>
            <a:pPr algn="r"/>
            <a:fld id="{007A6A40-1A7B-4A1B-9D78-D7D11C5A8472}" type="slidenum">
              <a:rPr lang="en-US" sz="1200">
                <a:solidFill>
                  <a:srgbClr val="1B3A5C"/>
                </a:solidFill>
                <a:latin typeface="Raleway"/>
              </a:rPr>
              <a:t>28</a:t>
            </a:fld>
            <a:endParaRPr lang="en-US" sz="1200">
              <a:solidFill>
                <a:srgbClr val="1B3A5C"/>
              </a:solidFill>
              <a:latin typeface="Raleway"/>
            </a:endParaRPr>
          </a:p>
        </p:txBody>
      </p:sp>
      <p:sp>
        <p:nvSpPr>
          <p:cNvPr id="3" name="Title"/>
          <p:cNvSpPr txBox="1"/>
          <p:nvPr/>
        </p:nvSpPr>
        <p:spPr>
          <a:xfrm>
            <a:off x="640080" y="502920"/>
            <a:ext cx="11411712" cy="822960"/>
          </a:xfrm>
          <a:prstGeom prst="rect">
            <a:avLst/>
          </a:prstGeom>
          <a:noFill/>
        </p:spPr>
        <p:txBody>
          <a:bodyPr wrap="square" lIns="0" tIns="0" rIns="0" bIns="0" anchor="ctr">
            <a:noAutofit/>
          </a:bodyPr>
          <a:lstStyle/>
          <a:p>
            <a:pPr algn="l"/>
            <a:r>
              <a:rPr lang="en-US" sz="4000" b="1" i="0">
                <a:solidFill>
                  <a:srgbClr val="1F4E79"/>
                </a:solidFill>
                <a:latin typeface="Raleway"/>
              </a:rPr>
              <a:t>Exercise 5: is doubling a die two dice?</a:t>
            </a:r>
          </a:p>
        </p:txBody>
      </p:sp>
      <p:sp>
        <p:nvSpPr>
          <p:cNvPr id="4" name="Lead"/>
          <p:cNvSpPr txBox="1"/>
          <p:nvPr/>
        </p:nvSpPr>
        <p:spPr>
          <a:xfrm>
            <a:off x="640080" y="1508760"/>
            <a:ext cx="10881360" cy="502920"/>
          </a:xfrm>
          <a:prstGeom prst="rect">
            <a:avLst/>
          </a:prstGeom>
          <a:noFill/>
        </p:spPr>
        <p:txBody>
          <a:bodyPr wrap="square" lIns="0" tIns="0" rIns="0" bIns="0" anchor="t">
            <a:noAutofit/>
          </a:bodyPr>
          <a:lstStyle/>
          <a:p>
            <a:pPr algn="l">
              <a:lnSpc>
                <a:spcPct val="110000"/>
              </a:lnSpc>
            </a:pPr>
            <a:r>
              <a:rPr lang="en-US" sz="2400" b="0" i="0">
                <a:solidFill>
                  <a:srgbClr val="A64B00"/>
                </a:solidFill>
                <a:latin typeface="Raleway"/>
              </a:rPr>
              <a:t>Dana rolled one die and doubled it. Noam rolled two. Same thing?</a:t>
            </a:r>
          </a:p>
        </p:txBody>
      </p:sp>
      <p:sp>
        <p:nvSpPr>
          <p:cNvPr id="5" name="Code card"/>
          <p:cNvSpPr/>
          <p:nvPr/>
        </p:nvSpPr>
        <p:spPr>
          <a:xfrm>
            <a:off x="640080" y="2057400"/>
            <a:ext cx="5349240" cy="1670303"/>
          </a:xfrm>
          <a:prstGeom prst="roundRect">
            <a:avLst>
              <a:gd name="adj" fmla="val 4000"/>
            </a:avLst>
          </a:prstGeom>
          <a:solidFill>
            <a:srgbClr val="111318"/>
          </a:solidFill>
          <a:ln w="12700">
            <a:solidFill>
              <a:srgbClr val="D8DBE0"/>
            </a:solidFill>
          </a:ln>
        </p:spPr>
        <p:txBody>
          <a:bodyPr rtlCol="0" anchor="ctr"/>
          <a:lstStyle/>
          <a:p>
            <a:endParaRPr/>
          </a:p>
        </p:txBody>
      </p:sp>
      <p:sp>
        <p:nvSpPr>
          <p:cNvPr id="6" name="Code card header"/>
          <p:cNvSpPr/>
          <p:nvPr/>
        </p:nvSpPr>
        <p:spPr>
          <a:xfrm>
            <a:off x="640080" y="2057400"/>
            <a:ext cx="5349240" cy="384048"/>
          </a:xfrm>
          <a:prstGeom prst="roundRect">
            <a:avLst>
              <a:gd name="adj" fmla="val 10000"/>
            </a:avLst>
          </a:prstGeom>
          <a:solidFill>
            <a:srgbClr val="1B1E26"/>
          </a:solidFill>
          <a:ln w="12700">
            <a:solidFill>
              <a:srgbClr val="D8DBE0"/>
            </a:solidFill>
          </a:ln>
        </p:spPr>
        <p:txBody>
          <a:bodyPr rtlCol="0" anchor="ctr"/>
          <a:lstStyle/>
          <a:p>
            <a:endParaRPr/>
          </a:p>
        </p:txBody>
      </p:sp>
      <p:sp>
        <p:nvSpPr>
          <p:cNvPr id="7" name="Code card header fill"/>
          <p:cNvSpPr/>
          <p:nvPr/>
        </p:nvSpPr>
        <p:spPr>
          <a:xfrm>
            <a:off x="658368" y="2249424"/>
            <a:ext cx="5312664" cy="192024"/>
          </a:xfrm>
          <a:prstGeom prst="rect">
            <a:avLst/>
          </a:prstGeom>
          <a:solidFill>
            <a:srgbClr val="1B1E26"/>
          </a:solidFill>
          <a:ln>
            <a:noFill/>
          </a:ln>
        </p:spPr>
        <p:txBody>
          <a:bodyPr rtlCol="0" anchor="ctr"/>
          <a:lstStyle/>
          <a:p>
            <a:endParaRPr/>
          </a:p>
        </p:txBody>
      </p:sp>
      <p:sp>
        <p:nvSpPr>
          <p:cNvPr id="8" name="Oval 7"/>
          <p:cNvSpPr/>
          <p:nvPr/>
        </p:nvSpPr>
        <p:spPr>
          <a:xfrm>
            <a:off x="868680" y="2194560"/>
            <a:ext cx="118872" cy="118872"/>
          </a:xfrm>
          <a:prstGeom prst="ellipse">
            <a:avLst/>
          </a:prstGeom>
          <a:solidFill>
            <a:srgbClr val="FF6B6B"/>
          </a:solidFill>
          <a:ln>
            <a:noFill/>
          </a:ln>
        </p:spPr>
        <p:txBody>
          <a:bodyPr rtlCol="0" anchor="ctr"/>
          <a:lstStyle/>
          <a:p>
            <a:pPr algn="ctr"/>
            <a:endParaRPr/>
          </a:p>
        </p:txBody>
      </p:sp>
      <p:sp>
        <p:nvSpPr>
          <p:cNvPr id="9" name="Oval 8"/>
          <p:cNvSpPr/>
          <p:nvPr/>
        </p:nvSpPr>
        <p:spPr>
          <a:xfrm>
            <a:off x="1143000" y="2194560"/>
            <a:ext cx="118872" cy="118872"/>
          </a:xfrm>
          <a:prstGeom prst="ellipse">
            <a:avLst/>
          </a:prstGeom>
          <a:solidFill>
            <a:srgbClr val="FFD94A"/>
          </a:solidFill>
          <a:ln>
            <a:noFill/>
          </a:ln>
        </p:spPr>
        <p:txBody>
          <a:bodyPr rtlCol="0" anchor="ctr"/>
          <a:lstStyle/>
          <a:p>
            <a:pPr algn="ctr"/>
            <a:endParaRPr/>
          </a:p>
        </p:txBody>
      </p:sp>
      <p:sp>
        <p:nvSpPr>
          <p:cNvPr id="10" name="Oval 9"/>
          <p:cNvSpPr/>
          <p:nvPr/>
        </p:nvSpPr>
        <p:spPr>
          <a:xfrm>
            <a:off x="1417319" y="2194560"/>
            <a:ext cx="118872" cy="118872"/>
          </a:xfrm>
          <a:prstGeom prst="ellipse">
            <a:avLst/>
          </a:prstGeom>
          <a:solidFill>
            <a:srgbClr val="8FE3AB"/>
          </a:solidFill>
          <a:ln>
            <a:noFill/>
          </a:ln>
        </p:spPr>
        <p:txBody>
          <a:bodyPr rtlCol="0" anchor="ctr"/>
          <a:lstStyle/>
          <a:p>
            <a:pPr algn="ctr"/>
            <a:endParaRPr/>
          </a:p>
        </p:txBody>
      </p:sp>
      <p:sp>
        <p:nvSpPr>
          <p:cNvPr id="11" name="Filename"/>
          <p:cNvSpPr txBox="1"/>
          <p:nvPr/>
        </p:nvSpPr>
        <p:spPr>
          <a:xfrm>
            <a:off x="1828800" y="2057400"/>
            <a:ext cx="3977639" cy="384048"/>
          </a:xfrm>
          <a:prstGeom prst="rect">
            <a:avLst/>
          </a:prstGeom>
          <a:noFill/>
        </p:spPr>
        <p:txBody>
          <a:bodyPr wrap="square" lIns="0" tIns="0" rIns="0" bIns="0" anchor="ctr">
            <a:noAutofit/>
          </a:bodyPr>
          <a:lstStyle/>
          <a:p>
            <a:pPr algn="l"/>
            <a:r>
              <a:rPr lang="en-US" sz="1200" b="0" i="0">
                <a:solidFill>
                  <a:srgbClr val="E9EAEE"/>
                </a:solidFill>
                <a:latin typeface="Consolas"/>
              </a:rPr>
              <a:t>double_die.py</a:t>
            </a:r>
          </a:p>
        </p:txBody>
      </p:sp>
      <p:sp>
        <p:nvSpPr>
          <p:cNvPr id="12" name="Code"/>
          <p:cNvSpPr txBox="1"/>
          <p:nvPr/>
        </p:nvSpPr>
        <p:spPr>
          <a:xfrm>
            <a:off x="1005840" y="2551176"/>
            <a:ext cx="4709159" cy="1085087"/>
          </a:xfrm>
          <a:prstGeom prst="rect">
            <a:avLst/>
          </a:prstGeom>
          <a:noFill/>
        </p:spPr>
        <p:txBody>
          <a:bodyPr wrap="none" lIns="0" tIns="0" rIns="0" bIns="0" anchor="t">
            <a:noAutofit/>
          </a:bodyPr>
          <a:lstStyle/>
          <a:p>
            <a:pPr algn="l"/>
            <a:r>
              <a:rPr lang="en-US" sz="1600" b="0" i="0">
                <a:solidFill>
                  <a:srgbClr val="8FA9E8"/>
                </a:solidFill>
                <a:latin typeface="Consolas"/>
              </a:rPr>
              <a:t>import</a:t>
            </a:r>
            <a:r>
              <a:rPr lang="en-US" sz="1600" b="0" i="0">
                <a:solidFill>
                  <a:srgbClr val="E9EAEE"/>
                </a:solidFill>
                <a:latin typeface="Consolas"/>
              </a:rPr>
              <a:t> random</a:t>
            </a:r>
          </a:p>
          <a:p>
            <a:pPr algn="l"/>
            <a:r>
              <a:rPr lang="en-US" sz="1600" b="0" i="0">
                <a:solidFill>
                  <a:srgbClr val="E9EAEE"/>
                </a:solidFill>
                <a:latin typeface="Consolas"/>
              </a:rPr>
              <a:t>face = </a:t>
            </a:r>
            <a:r>
              <a:rPr lang="en-US" sz="1600" b="0" i="0">
                <a:solidFill>
                  <a:srgbClr val="F5B759"/>
                </a:solidFill>
                <a:latin typeface="Consolas"/>
              </a:rPr>
              <a:t>int</a:t>
            </a:r>
            <a:r>
              <a:rPr lang="en-US" sz="1600" b="0" i="0">
                <a:solidFill>
                  <a:srgbClr val="E9EAEE"/>
                </a:solidFill>
                <a:latin typeface="Consolas"/>
              </a:rPr>
              <a:t>(random.</a:t>
            </a:r>
            <a:r>
              <a:rPr lang="en-US" sz="1600" b="0" i="0">
                <a:solidFill>
                  <a:srgbClr val="F5B759"/>
                </a:solidFill>
                <a:latin typeface="Consolas"/>
              </a:rPr>
              <a:t>random</a:t>
            </a:r>
            <a:r>
              <a:rPr lang="en-US" sz="1600" b="0" i="0">
                <a:solidFill>
                  <a:srgbClr val="E9EAEE"/>
                </a:solidFill>
                <a:latin typeface="Consolas"/>
              </a:rPr>
              <a:t>() * 6) + 1</a:t>
            </a:r>
          </a:p>
          <a:p>
            <a:pPr algn="l"/>
            <a:r>
              <a:rPr lang="en-US" sz="1600" b="0" i="0">
                <a:solidFill>
                  <a:srgbClr val="E9EAEE"/>
                </a:solidFill>
                <a:latin typeface="Consolas"/>
              </a:rPr>
              <a:t>total = 2 * face</a:t>
            </a:r>
          </a:p>
          <a:p>
            <a:pPr algn="l"/>
            <a:r>
              <a:rPr lang="en-US" sz="1600" b="0" i="0">
                <a:solidFill>
                  <a:srgbClr val="F5B759"/>
                </a:solidFill>
                <a:latin typeface="Consolas"/>
              </a:rPr>
              <a:t>print</a:t>
            </a:r>
            <a:r>
              <a:rPr lang="en-US" sz="1600" b="0" i="0">
                <a:solidFill>
                  <a:srgbClr val="E9EAEE"/>
                </a:solidFill>
                <a:latin typeface="Consolas"/>
              </a:rPr>
              <a:t>(f"Doubled: {total}")</a:t>
            </a:r>
          </a:p>
        </p:txBody>
      </p:sp>
      <p:sp>
        <p:nvSpPr>
          <p:cNvPr id="13" name="Code card"/>
          <p:cNvSpPr/>
          <p:nvPr/>
        </p:nvSpPr>
        <p:spPr>
          <a:xfrm>
            <a:off x="6199632" y="2057400"/>
            <a:ext cx="5349240" cy="1914144"/>
          </a:xfrm>
          <a:prstGeom prst="roundRect">
            <a:avLst>
              <a:gd name="adj" fmla="val 4000"/>
            </a:avLst>
          </a:prstGeom>
          <a:solidFill>
            <a:srgbClr val="111318"/>
          </a:solidFill>
          <a:ln w="12700">
            <a:solidFill>
              <a:srgbClr val="D8DBE0"/>
            </a:solidFill>
          </a:ln>
        </p:spPr>
        <p:txBody>
          <a:bodyPr rtlCol="0" anchor="ctr"/>
          <a:lstStyle/>
          <a:p>
            <a:endParaRPr/>
          </a:p>
        </p:txBody>
      </p:sp>
      <p:sp>
        <p:nvSpPr>
          <p:cNvPr id="14" name="Code card header"/>
          <p:cNvSpPr/>
          <p:nvPr/>
        </p:nvSpPr>
        <p:spPr>
          <a:xfrm>
            <a:off x="6199632" y="2057400"/>
            <a:ext cx="5349240" cy="384048"/>
          </a:xfrm>
          <a:prstGeom prst="roundRect">
            <a:avLst>
              <a:gd name="adj" fmla="val 10000"/>
            </a:avLst>
          </a:prstGeom>
          <a:solidFill>
            <a:srgbClr val="1B1E26"/>
          </a:solidFill>
          <a:ln w="12700">
            <a:solidFill>
              <a:srgbClr val="D8DBE0"/>
            </a:solidFill>
          </a:ln>
        </p:spPr>
        <p:txBody>
          <a:bodyPr rtlCol="0" anchor="ctr"/>
          <a:lstStyle/>
          <a:p>
            <a:endParaRPr/>
          </a:p>
        </p:txBody>
      </p:sp>
      <p:sp>
        <p:nvSpPr>
          <p:cNvPr id="15" name="Code card header fill"/>
          <p:cNvSpPr/>
          <p:nvPr/>
        </p:nvSpPr>
        <p:spPr>
          <a:xfrm>
            <a:off x="6217920" y="2249424"/>
            <a:ext cx="5312664" cy="192024"/>
          </a:xfrm>
          <a:prstGeom prst="rect">
            <a:avLst/>
          </a:prstGeom>
          <a:solidFill>
            <a:srgbClr val="1B1E26"/>
          </a:solidFill>
          <a:ln>
            <a:noFill/>
          </a:ln>
        </p:spPr>
        <p:txBody>
          <a:bodyPr rtlCol="0" anchor="ctr"/>
          <a:lstStyle/>
          <a:p>
            <a:endParaRPr/>
          </a:p>
        </p:txBody>
      </p:sp>
      <p:sp>
        <p:nvSpPr>
          <p:cNvPr id="16" name="Oval 15"/>
          <p:cNvSpPr/>
          <p:nvPr/>
        </p:nvSpPr>
        <p:spPr>
          <a:xfrm>
            <a:off x="6428232" y="2194560"/>
            <a:ext cx="118872" cy="118872"/>
          </a:xfrm>
          <a:prstGeom prst="ellipse">
            <a:avLst/>
          </a:prstGeom>
          <a:solidFill>
            <a:srgbClr val="FF6B6B"/>
          </a:solidFill>
          <a:ln>
            <a:noFill/>
          </a:ln>
        </p:spPr>
        <p:txBody>
          <a:bodyPr rtlCol="0" anchor="ctr"/>
          <a:lstStyle/>
          <a:p>
            <a:pPr algn="ctr"/>
            <a:endParaRPr/>
          </a:p>
        </p:txBody>
      </p:sp>
      <p:sp>
        <p:nvSpPr>
          <p:cNvPr id="17" name="Oval 16"/>
          <p:cNvSpPr/>
          <p:nvPr/>
        </p:nvSpPr>
        <p:spPr>
          <a:xfrm>
            <a:off x="6702552" y="2194560"/>
            <a:ext cx="118872" cy="118872"/>
          </a:xfrm>
          <a:prstGeom prst="ellipse">
            <a:avLst/>
          </a:prstGeom>
          <a:solidFill>
            <a:srgbClr val="FFD94A"/>
          </a:solidFill>
          <a:ln>
            <a:noFill/>
          </a:ln>
        </p:spPr>
        <p:txBody>
          <a:bodyPr rtlCol="0" anchor="ctr"/>
          <a:lstStyle/>
          <a:p>
            <a:pPr algn="ctr"/>
            <a:endParaRPr/>
          </a:p>
        </p:txBody>
      </p:sp>
      <p:sp>
        <p:nvSpPr>
          <p:cNvPr id="18" name="Oval 17"/>
          <p:cNvSpPr/>
          <p:nvPr/>
        </p:nvSpPr>
        <p:spPr>
          <a:xfrm>
            <a:off x="6976872" y="2194560"/>
            <a:ext cx="118872" cy="118872"/>
          </a:xfrm>
          <a:prstGeom prst="ellipse">
            <a:avLst/>
          </a:prstGeom>
          <a:solidFill>
            <a:srgbClr val="8FE3AB"/>
          </a:solidFill>
          <a:ln>
            <a:noFill/>
          </a:ln>
        </p:spPr>
        <p:txBody>
          <a:bodyPr rtlCol="0" anchor="ctr"/>
          <a:lstStyle/>
          <a:p>
            <a:pPr algn="ctr"/>
            <a:endParaRPr/>
          </a:p>
        </p:txBody>
      </p:sp>
      <p:sp>
        <p:nvSpPr>
          <p:cNvPr id="19" name="Filename"/>
          <p:cNvSpPr txBox="1"/>
          <p:nvPr/>
        </p:nvSpPr>
        <p:spPr>
          <a:xfrm>
            <a:off x="7388352" y="2057400"/>
            <a:ext cx="3977639" cy="384048"/>
          </a:xfrm>
          <a:prstGeom prst="rect">
            <a:avLst/>
          </a:prstGeom>
          <a:noFill/>
        </p:spPr>
        <p:txBody>
          <a:bodyPr wrap="square" lIns="0" tIns="0" rIns="0" bIns="0" anchor="ctr">
            <a:noAutofit/>
          </a:bodyPr>
          <a:lstStyle/>
          <a:p>
            <a:pPr algn="l"/>
            <a:r>
              <a:rPr lang="en-US" sz="1200" b="0" i="0">
                <a:solidFill>
                  <a:srgbClr val="E9EAEE"/>
                </a:solidFill>
                <a:latin typeface="Consolas"/>
              </a:rPr>
              <a:t>two_dice.py</a:t>
            </a:r>
          </a:p>
        </p:txBody>
      </p:sp>
      <p:sp>
        <p:nvSpPr>
          <p:cNvPr id="20" name="Code"/>
          <p:cNvSpPr txBox="1"/>
          <p:nvPr/>
        </p:nvSpPr>
        <p:spPr>
          <a:xfrm>
            <a:off x="6565392" y="2551176"/>
            <a:ext cx="4709159" cy="1328928"/>
          </a:xfrm>
          <a:prstGeom prst="rect">
            <a:avLst/>
          </a:prstGeom>
          <a:noFill/>
        </p:spPr>
        <p:txBody>
          <a:bodyPr wrap="none" lIns="0" tIns="0" rIns="0" bIns="0" anchor="t">
            <a:noAutofit/>
          </a:bodyPr>
          <a:lstStyle/>
          <a:p>
            <a:pPr algn="l"/>
            <a:r>
              <a:rPr lang="en-US" sz="1600" b="0" i="0">
                <a:solidFill>
                  <a:srgbClr val="8FA9E8"/>
                </a:solidFill>
                <a:latin typeface="Consolas"/>
              </a:rPr>
              <a:t>import</a:t>
            </a:r>
            <a:r>
              <a:rPr lang="en-US" sz="1600" b="0" i="0">
                <a:solidFill>
                  <a:srgbClr val="E9EAEE"/>
                </a:solidFill>
                <a:latin typeface="Consolas"/>
              </a:rPr>
              <a:t> random</a:t>
            </a:r>
          </a:p>
          <a:p>
            <a:pPr algn="l"/>
            <a:r>
              <a:rPr lang="en-US" sz="1600" b="0" i="0">
                <a:solidFill>
                  <a:srgbClr val="E9EAEE"/>
                </a:solidFill>
                <a:latin typeface="Consolas"/>
              </a:rPr>
              <a:t>first = </a:t>
            </a:r>
            <a:r>
              <a:rPr lang="en-US" sz="1600" b="0" i="0">
                <a:solidFill>
                  <a:srgbClr val="F5B759"/>
                </a:solidFill>
                <a:latin typeface="Consolas"/>
              </a:rPr>
              <a:t>int</a:t>
            </a:r>
            <a:r>
              <a:rPr lang="en-US" sz="1600" b="0" i="0">
                <a:solidFill>
                  <a:srgbClr val="E9EAEE"/>
                </a:solidFill>
                <a:latin typeface="Consolas"/>
              </a:rPr>
              <a:t>(random.</a:t>
            </a:r>
            <a:r>
              <a:rPr lang="en-US" sz="1600" b="0" i="0">
                <a:solidFill>
                  <a:srgbClr val="F5B759"/>
                </a:solidFill>
                <a:latin typeface="Consolas"/>
              </a:rPr>
              <a:t>random</a:t>
            </a:r>
            <a:r>
              <a:rPr lang="en-US" sz="1600" b="0" i="0">
                <a:solidFill>
                  <a:srgbClr val="E9EAEE"/>
                </a:solidFill>
                <a:latin typeface="Consolas"/>
              </a:rPr>
              <a:t>() * 6) + 1</a:t>
            </a:r>
          </a:p>
          <a:p>
            <a:pPr algn="l"/>
            <a:r>
              <a:rPr lang="en-US" sz="1600" b="0" i="0">
                <a:solidFill>
                  <a:srgbClr val="E9EAEE"/>
                </a:solidFill>
                <a:latin typeface="Consolas"/>
              </a:rPr>
              <a:t>second = </a:t>
            </a:r>
            <a:r>
              <a:rPr lang="en-US" sz="1600" b="0" i="0">
                <a:solidFill>
                  <a:srgbClr val="F5B759"/>
                </a:solidFill>
                <a:latin typeface="Consolas"/>
              </a:rPr>
              <a:t>int</a:t>
            </a:r>
            <a:r>
              <a:rPr lang="en-US" sz="1600" b="0" i="0">
                <a:solidFill>
                  <a:srgbClr val="E9EAEE"/>
                </a:solidFill>
                <a:latin typeface="Consolas"/>
              </a:rPr>
              <a:t>(random.</a:t>
            </a:r>
            <a:r>
              <a:rPr lang="en-US" sz="1600" b="0" i="0">
                <a:solidFill>
                  <a:srgbClr val="F5B759"/>
                </a:solidFill>
                <a:latin typeface="Consolas"/>
              </a:rPr>
              <a:t>random</a:t>
            </a:r>
            <a:r>
              <a:rPr lang="en-US" sz="1600" b="0" i="0">
                <a:solidFill>
                  <a:srgbClr val="E9EAEE"/>
                </a:solidFill>
                <a:latin typeface="Consolas"/>
              </a:rPr>
              <a:t>() * 6) + 1</a:t>
            </a:r>
          </a:p>
          <a:p>
            <a:pPr algn="l"/>
            <a:r>
              <a:rPr lang="en-US" sz="1600" b="0" i="0">
                <a:solidFill>
                  <a:srgbClr val="E9EAEE"/>
                </a:solidFill>
                <a:latin typeface="Consolas"/>
              </a:rPr>
              <a:t>total = first + second</a:t>
            </a:r>
          </a:p>
          <a:p>
            <a:pPr algn="l"/>
            <a:r>
              <a:rPr lang="en-US" sz="1600" b="0" i="0">
                <a:solidFill>
                  <a:srgbClr val="F5B759"/>
                </a:solidFill>
                <a:latin typeface="Consolas"/>
              </a:rPr>
              <a:t>print</a:t>
            </a:r>
            <a:r>
              <a:rPr lang="en-US" sz="1600" b="0" i="0">
                <a:solidFill>
                  <a:srgbClr val="E9EAEE"/>
                </a:solidFill>
                <a:latin typeface="Consolas"/>
              </a:rPr>
              <a:t>(f"Two dice: {total}")</a:t>
            </a:r>
          </a:p>
        </p:txBody>
      </p:sp>
      <p:sp>
        <p:nvSpPr>
          <p:cNvPr id="21" name="Verdict"/>
          <p:cNvSpPr/>
          <p:nvPr/>
        </p:nvSpPr>
        <p:spPr>
          <a:xfrm>
            <a:off x="640080" y="4136136"/>
            <a:ext cx="10908792" cy="2036063"/>
          </a:xfrm>
          <a:prstGeom prst="roundRect">
            <a:avLst>
              <a:gd name="adj" fmla="val 8000"/>
            </a:avLst>
          </a:prstGeom>
          <a:solidFill>
            <a:srgbClr val="FBE5D6"/>
          </a:solidFill>
          <a:ln w="15875">
            <a:solidFill>
              <a:srgbClr val="A64B00"/>
            </a:solidFill>
          </a:ln>
        </p:spPr>
        <p:txBody>
          <a:bodyPr rtlCol="0" anchor="ctr"/>
          <a:lstStyle/>
          <a:p>
            <a:endParaRPr/>
          </a:p>
        </p:txBody>
      </p:sp>
      <p:sp>
        <p:nvSpPr>
          <p:cNvPr id="22" name="Verdict text"/>
          <p:cNvSpPr txBox="1"/>
          <p:nvPr/>
        </p:nvSpPr>
        <p:spPr>
          <a:xfrm>
            <a:off x="822960" y="4227576"/>
            <a:ext cx="10515600" cy="1853183"/>
          </a:xfrm>
          <a:prstGeom prst="rect">
            <a:avLst/>
          </a:prstGeom>
          <a:noFill/>
        </p:spPr>
        <p:txBody>
          <a:bodyPr wrap="square" lIns="0" tIns="0" rIns="0" bIns="0" anchor="ctr">
            <a:noAutofit/>
          </a:bodyPr>
          <a:lstStyle/>
          <a:p>
            <a:pPr algn="l">
              <a:spcAft>
                <a:spcPts val="400"/>
              </a:spcAft>
            </a:pPr>
            <a:r>
              <a:rPr lang="en-US" sz="1800" b="0" i="0">
                <a:solidFill>
                  <a:srgbClr val="A64B00"/>
                </a:solidFill>
                <a:latin typeface="Raleway"/>
              </a:rPr>
              <a:t>No.</a:t>
            </a:r>
            <a:r>
              <a:rPr lang="en-US" sz="1800" b="0" i="0">
                <a:solidFill>
                  <a:srgbClr val="843C0B"/>
                </a:solidFill>
                <a:latin typeface="Raleway"/>
              </a:rPr>
              <a:t> Dana's total is always even, and 2, 4, ..., 12 are equally likely. Noam's can be 7, and 7 is the most likely sum.</a:t>
            </a:r>
          </a:p>
          <a:p>
            <a:pPr algn="l">
              <a:spcAft>
                <a:spcPts val="400"/>
              </a:spcAft>
            </a:pPr>
            <a:r>
              <a:rPr lang="en-US" sz="1800" b="0" i="0">
                <a:solidFill>
                  <a:srgbClr val="843C0B"/>
                </a:solidFill>
                <a:latin typeface="Raleway"/>
              </a:rPr>
              <a:t>Each call to </a:t>
            </a:r>
            <a:r>
              <a:rPr lang="en-US" sz="1800" b="0" i="0">
                <a:solidFill>
                  <a:srgbClr val="843C0B"/>
                </a:solidFill>
                <a:latin typeface="Consolas"/>
              </a:rPr>
              <a:t>random.random()</a:t>
            </a:r>
            <a:r>
              <a:rPr lang="en-US" sz="1800" b="0" i="0">
                <a:solidFill>
                  <a:srgbClr val="843C0B"/>
                </a:solidFill>
                <a:latin typeface="Raleway"/>
              </a:rPr>
              <a:t> is a fresh draw: two independent values need two calls.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26 - Practice - Extra: if there is time">
    <p:spTree>
      <p:nvGrpSpPr>
        <p:cNvPr id="1" name=""/>
        <p:cNvGrpSpPr/>
        <p:nvPr/>
      </p:nvGrpSpPr>
      <p:grpSpPr>
        <a:xfrm>
          <a:off x="0" y="0"/>
          <a:ext cx="0" cy="0"/>
          <a:chOff x="0" y="0"/>
          <a:chExt cx="0" cy="0"/>
        </a:xfrm>
      </p:grpSpPr>
      <p:sp>
        <p:nvSpPr>
          <p:cNvPr id="2" name="Slide number"/>
          <p:cNvSpPr txBox="1"/>
          <p:nvPr/>
        </p:nvSpPr>
        <p:spPr>
          <a:xfrm>
            <a:off x="11430000" y="6446520"/>
            <a:ext cx="548640" cy="320040"/>
          </a:xfrm>
          <a:prstGeom prst="rect">
            <a:avLst/>
          </a:prstGeom>
          <a:noFill/>
        </p:spPr>
        <p:txBody>
          <a:bodyPr wrap="none" lIns="0" tIns="0" rIns="0" bIns="0" anchor="ctr">
            <a:spAutoFit/>
          </a:bodyPr>
          <a:lstStyle/>
          <a:p>
            <a:pPr algn="r"/>
            <a:fld id="{007A6A40-1A7B-4A1B-9D78-D7D11C5A8472}" type="slidenum">
              <a:rPr lang="en-US" sz="1200">
                <a:solidFill>
                  <a:srgbClr val="1B3A5C"/>
                </a:solidFill>
                <a:latin typeface="Raleway"/>
              </a:rPr>
              <a:t>29</a:t>
            </a:fld>
            <a:endParaRPr lang="en-US" sz="1200">
              <a:solidFill>
                <a:srgbClr val="1B3A5C"/>
              </a:solidFill>
              <a:latin typeface="Raleway"/>
            </a:endParaRPr>
          </a:p>
        </p:txBody>
      </p:sp>
      <p:sp>
        <p:nvSpPr>
          <p:cNvPr id="3" name="Title"/>
          <p:cNvSpPr txBox="1"/>
          <p:nvPr/>
        </p:nvSpPr>
        <p:spPr>
          <a:xfrm>
            <a:off x="640080" y="502920"/>
            <a:ext cx="11411712" cy="822960"/>
          </a:xfrm>
          <a:prstGeom prst="rect">
            <a:avLst/>
          </a:prstGeom>
          <a:noFill/>
        </p:spPr>
        <p:txBody>
          <a:bodyPr wrap="square" lIns="0" tIns="0" rIns="0" bIns="0" anchor="ctr">
            <a:noAutofit/>
          </a:bodyPr>
          <a:lstStyle/>
          <a:p>
            <a:pPr algn="l"/>
            <a:r>
              <a:rPr lang="en-US" sz="4000" b="1" i="0">
                <a:solidFill>
                  <a:srgbClr val="1F4E79"/>
                </a:solidFill>
                <a:latin typeface="Raleway"/>
              </a:rPr>
              <a:t>Extra: if there is time</a:t>
            </a:r>
          </a:p>
        </p:txBody>
      </p:sp>
      <p:sp>
        <p:nvSpPr>
          <p:cNvPr id="4" name="Strip Warm-up"/>
          <p:cNvSpPr/>
          <p:nvPr/>
        </p:nvSpPr>
        <p:spPr>
          <a:xfrm>
            <a:off x="640080" y="1389888"/>
            <a:ext cx="928116"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Warm-up</a:t>
            </a:r>
          </a:p>
        </p:txBody>
      </p:sp>
      <p:sp>
        <p:nvSpPr>
          <p:cNvPr id="5" name="Strip Receipt &amp; time"/>
          <p:cNvSpPr/>
          <p:nvPr/>
        </p:nvSpPr>
        <p:spPr>
          <a:xfrm>
            <a:off x="1677924" y="1389888"/>
            <a:ext cx="1472184"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Receipt &amp; time</a:t>
            </a:r>
          </a:p>
        </p:txBody>
      </p:sp>
      <p:sp>
        <p:nvSpPr>
          <p:cNvPr id="6" name="Strip Bugs"/>
          <p:cNvSpPr/>
          <p:nvPr/>
        </p:nvSpPr>
        <p:spPr>
          <a:xfrm>
            <a:off x="3259836" y="1389888"/>
            <a:ext cx="694944"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Bugs</a:t>
            </a:r>
          </a:p>
        </p:txBody>
      </p:sp>
      <p:sp>
        <p:nvSpPr>
          <p:cNvPr id="7" name="Strip Booleans"/>
          <p:cNvSpPr/>
          <p:nvPr/>
        </p:nvSpPr>
        <p:spPr>
          <a:xfrm>
            <a:off x="4064508" y="1389888"/>
            <a:ext cx="1005840"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Booleans</a:t>
            </a:r>
          </a:p>
        </p:txBody>
      </p:sp>
      <p:sp>
        <p:nvSpPr>
          <p:cNvPr id="8" name="Strip Randomness"/>
          <p:cNvSpPr/>
          <p:nvPr/>
        </p:nvSpPr>
        <p:spPr>
          <a:xfrm>
            <a:off x="5180076" y="1389888"/>
            <a:ext cx="1161288"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Randomness</a:t>
            </a:r>
          </a:p>
        </p:txBody>
      </p:sp>
      <p:sp>
        <p:nvSpPr>
          <p:cNvPr id="9" name="Strip Extra"/>
          <p:cNvSpPr/>
          <p:nvPr/>
        </p:nvSpPr>
        <p:spPr>
          <a:xfrm>
            <a:off x="6451092" y="1389888"/>
            <a:ext cx="772668" cy="310896"/>
          </a:xfrm>
          <a:prstGeom prst="roundRect">
            <a:avLst>
              <a:gd name="adj" fmla="val 50000"/>
            </a:avLst>
          </a:prstGeom>
          <a:solidFill>
            <a:srgbClr val="A64B00"/>
          </a:solidFill>
          <a:ln w="12700">
            <a:solidFill>
              <a:srgbClr val="A64B00"/>
            </a:solidFill>
          </a:ln>
        </p:spPr>
        <p:txBody>
          <a:bodyPr lIns="45720" tIns="0" rIns="45720" bIns="0" rtlCol="0" anchor="ctr"/>
          <a:lstStyle/>
          <a:p>
            <a:pPr algn="ctr"/>
            <a:r>
              <a:rPr lang="en-US" sz="1100" b="0" i="0">
                <a:solidFill>
                  <a:srgbClr val="FFFFFF"/>
                </a:solidFill>
                <a:latin typeface="Raleway"/>
              </a:rPr>
              <a:t>Extra</a:t>
            </a:r>
          </a:p>
        </p:txBody>
      </p:sp>
      <p:sp>
        <p:nvSpPr>
          <p:cNvPr id="10" name="Strip Wrap-up"/>
          <p:cNvSpPr/>
          <p:nvPr/>
        </p:nvSpPr>
        <p:spPr>
          <a:xfrm>
            <a:off x="7333488" y="1389888"/>
            <a:ext cx="928116"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Wrap-up</a:t>
            </a:r>
          </a:p>
        </p:txBody>
      </p:sp>
      <p:sp>
        <p:nvSpPr>
          <p:cNvPr id="11" name="Level"/>
          <p:cNvSpPr/>
          <p:nvPr/>
        </p:nvSpPr>
        <p:spPr>
          <a:xfrm>
            <a:off x="11137392" y="1362456"/>
            <a:ext cx="914400" cy="365760"/>
          </a:xfrm>
          <a:prstGeom prst="roundRect">
            <a:avLst>
              <a:gd name="adj" fmla="val 50000"/>
            </a:avLst>
          </a:prstGeom>
          <a:solidFill>
            <a:srgbClr val="FBE5D6"/>
          </a:solidFill>
          <a:ln w="12700">
            <a:solidFill>
              <a:srgbClr val="A64B00"/>
            </a:solidFill>
          </a:ln>
        </p:spPr>
        <p:txBody>
          <a:bodyPr lIns="73152" tIns="0" rIns="73152" bIns="0" rtlCol="0" anchor="ctr"/>
          <a:lstStyle/>
          <a:p>
            <a:pPr algn="ctr"/>
            <a:r>
              <a:rPr lang="en-US" sz="1200" b="0" i="0" spc="100">
                <a:solidFill>
                  <a:srgbClr val="843C0B"/>
                </a:solidFill>
                <a:latin typeface="Raleway"/>
              </a:rPr>
              <a:t>EXTRA</a:t>
            </a:r>
          </a:p>
        </p:txBody>
      </p:sp>
      <p:sp>
        <p:nvSpPr>
          <p:cNvPr id="12" name="Lead"/>
          <p:cNvSpPr txBox="1"/>
          <p:nvPr/>
        </p:nvSpPr>
        <p:spPr>
          <a:xfrm>
            <a:off x="640080" y="1965960"/>
            <a:ext cx="10881360" cy="822960"/>
          </a:xfrm>
          <a:prstGeom prst="rect">
            <a:avLst/>
          </a:prstGeom>
          <a:noFill/>
        </p:spPr>
        <p:txBody>
          <a:bodyPr wrap="square" lIns="0" tIns="0" rIns="0" bIns="0" anchor="t">
            <a:noAutofit/>
          </a:bodyPr>
          <a:lstStyle/>
          <a:p>
            <a:pPr algn="l">
              <a:lnSpc>
                <a:spcPct val="110000"/>
              </a:lnSpc>
            </a:pPr>
            <a:r>
              <a:rPr lang="en-US" sz="2200" b="0" i="0">
                <a:solidFill>
                  <a:srgbClr val="1D2433"/>
                </a:solidFill>
                <a:latin typeface="Raleway"/>
              </a:rPr>
              <a:t>Two more exercises. In class if we are ahead of the plan; otherwise the first thing to try at home.</a:t>
            </a:r>
          </a:p>
        </p:txBody>
      </p:sp>
      <p:sp>
        <p:nvSpPr>
          <p:cNvPr id="13" name="Task 1"/>
          <p:cNvSpPr/>
          <p:nvPr/>
        </p:nvSpPr>
        <p:spPr>
          <a:xfrm>
            <a:off x="640080" y="3017520"/>
            <a:ext cx="5317236" cy="1828800"/>
          </a:xfrm>
          <a:prstGeom prst="roundRect">
            <a:avLst>
              <a:gd name="adj" fmla="val 6000"/>
            </a:avLst>
          </a:prstGeom>
          <a:solidFill>
            <a:srgbClr val="F2F3F5"/>
          </a:solidFill>
          <a:ln w="12700">
            <a:solidFill>
              <a:srgbClr val="D8DBE0"/>
            </a:solidFill>
          </a:ln>
        </p:spPr>
        <p:txBody>
          <a:bodyPr rtlCol="0" anchor="ctr"/>
          <a:lstStyle/>
          <a:p>
            <a:endParaRPr/>
          </a:p>
        </p:txBody>
      </p:sp>
      <p:sp>
        <p:nvSpPr>
          <p:cNvPr id="14" name="Task 1 text"/>
          <p:cNvSpPr txBox="1"/>
          <p:nvPr/>
        </p:nvSpPr>
        <p:spPr>
          <a:xfrm>
            <a:off x="822959" y="3127248"/>
            <a:ext cx="4951475" cy="1609344"/>
          </a:xfrm>
          <a:prstGeom prst="rect">
            <a:avLst/>
          </a:prstGeom>
          <a:noFill/>
        </p:spPr>
        <p:txBody>
          <a:bodyPr wrap="square" lIns="0" tIns="0" rIns="0" bIns="0" anchor="ctr">
            <a:noAutofit/>
          </a:bodyPr>
          <a:lstStyle/>
          <a:p>
            <a:pPr algn="l">
              <a:spcAft>
                <a:spcPts val="400"/>
              </a:spcAft>
            </a:pPr>
            <a:r>
              <a:rPr lang="en-US" sz="2200" b="0" i="0">
                <a:solidFill>
                  <a:srgbClr val="A64B00"/>
                </a:solidFill>
                <a:latin typeface="Raleway"/>
              </a:rPr>
              <a:t>Extra 1: The clock</a:t>
            </a:r>
          </a:p>
          <a:p>
            <a:pPr algn="l"/>
            <a:r>
              <a:rPr lang="en-US" sz="1800" b="0" i="0">
                <a:solidFill>
                  <a:srgbClr val="1D2433"/>
                </a:solidFill>
                <a:latin typeface="Raleway"/>
              </a:rPr>
              <a:t>22:45 plus 150 minutes: the two operators of exercise 2, with a wrap-around at 24.</a:t>
            </a:r>
          </a:p>
        </p:txBody>
      </p:sp>
      <p:sp>
        <p:nvSpPr>
          <p:cNvPr id="15" name="Task 2"/>
          <p:cNvSpPr/>
          <p:nvPr/>
        </p:nvSpPr>
        <p:spPr>
          <a:xfrm>
            <a:off x="6231636" y="3017520"/>
            <a:ext cx="5317236" cy="1828800"/>
          </a:xfrm>
          <a:prstGeom prst="roundRect">
            <a:avLst>
              <a:gd name="adj" fmla="val 6000"/>
            </a:avLst>
          </a:prstGeom>
          <a:solidFill>
            <a:srgbClr val="F2F3F5"/>
          </a:solidFill>
          <a:ln w="12700">
            <a:solidFill>
              <a:srgbClr val="D8DBE0"/>
            </a:solidFill>
          </a:ln>
        </p:spPr>
        <p:txBody>
          <a:bodyPr rtlCol="0" anchor="ctr"/>
          <a:lstStyle/>
          <a:p>
            <a:endParaRPr/>
          </a:p>
        </p:txBody>
      </p:sp>
      <p:sp>
        <p:nvSpPr>
          <p:cNvPr id="16" name="Task 2 text"/>
          <p:cNvSpPr txBox="1"/>
          <p:nvPr/>
        </p:nvSpPr>
        <p:spPr>
          <a:xfrm>
            <a:off x="6414516" y="3127248"/>
            <a:ext cx="4951475" cy="1609344"/>
          </a:xfrm>
          <a:prstGeom prst="rect">
            <a:avLst/>
          </a:prstGeom>
          <a:noFill/>
        </p:spPr>
        <p:txBody>
          <a:bodyPr wrap="square" lIns="0" tIns="0" rIns="0" bIns="0" anchor="ctr">
            <a:noAutofit/>
          </a:bodyPr>
          <a:lstStyle/>
          <a:p>
            <a:pPr algn="l">
              <a:spcAft>
                <a:spcPts val="400"/>
              </a:spcAft>
            </a:pPr>
            <a:r>
              <a:rPr lang="en-US" sz="2200" b="0" i="0">
                <a:solidFill>
                  <a:srgbClr val="A64B00"/>
                </a:solidFill>
                <a:latin typeface="Raleway"/>
              </a:rPr>
              <a:t>Extra 2: Four digits</a:t>
            </a:r>
          </a:p>
          <a:p>
            <a:pPr algn="l"/>
            <a:r>
              <a:rPr lang="en-US" sz="1800" b="0" i="0">
                <a:solidFill>
                  <a:srgbClr val="1D2433"/>
                </a:solidFill>
                <a:latin typeface="Raleway"/>
              </a:rPr>
              <a:t>The digits of a four-digit number, their sum, and the number backwards - with // and % only.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par>
                                <p:cTn id="16" presetID="10" presetClass="entr" presetSubtype="0" fill="hold"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27 - Exercise - Extra 1: The clock">
    <p:spTree>
      <p:nvGrpSpPr>
        <p:cNvPr id="1" name=""/>
        <p:cNvGrpSpPr/>
        <p:nvPr/>
      </p:nvGrpSpPr>
      <p:grpSpPr>
        <a:xfrm>
          <a:off x="0" y="0"/>
          <a:ext cx="0" cy="0"/>
          <a:chOff x="0" y="0"/>
          <a:chExt cx="0" cy="0"/>
        </a:xfrm>
      </p:grpSpPr>
      <p:sp>
        <p:nvSpPr>
          <p:cNvPr id="2" name="Slide number"/>
          <p:cNvSpPr txBox="1"/>
          <p:nvPr/>
        </p:nvSpPr>
        <p:spPr>
          <a:xfrm>
            <a:off x="11430000" y="6446520"/>
            <a:ext cx="548640" cy="320040"/>
          </a:xfrm>
          <a:prstGeom prst="rect">
            <a:avLst/>
          </a:prstGeom>
          <a:noFill/>
        </p:spPr>
        <p:txBody>
          <a:bodyPr wrap="none" lIns="0" tIns="0" rIns="0" bIns="0" anchor="ctr">
            <a:spAutoFit/>
          </a:bodyPr>
          <a:lstStyle/>
          <a:p>
            <a:pPr algn="r"/>
            <a:fld id="{007A6A40-1A7B-4A1B-9D78-D7D11C5A8472}" type="slidenum">
              <a:rPr lang="en-US" sz="1200">
                <a:solidFill>
                  <a:srgbClr val="1B3A5C"/>
                </a:solidFill>
                <a:latin typeface="Raleway"/>
              </a:rPr>
              <a:t>30</a:t>
            </a:fld>
            <a:endParaRPr lang="en-US" sz="1200">
              <a:solidFill>
                <a:srgbClr val="1B3A5C"/>
              </a:solidFill>
              <a:latin typeface="Raleway"/>
            </a:endParaRPr>
          </a:p>
        </p:txBody>
      </p:sp>
      <p:sp>
        <p:nvSpPr>
          <p:cNvPr id="3" name="Title"/>
          <p:cNvSpPr txBox="1"/>
          <p:nvPr/>
        </p:nvSpPr>
        <p:spPr>
          <a:xfrm>
            <a:off x="640080" y="502920"/>
            <a:ext cx="11411712" cy="822960"/>
          </a:xfrm>
          <a:prstGeom prst="rect">
            <a:avLst/>
          </a:prstGeom>
          <a:noFill/>
        </p:spPr>
        <p:txBody>
          <a:bodyPr wrap="square" lIns="0" tIns="0" rIns="0" bIns="0" anchor="ctr">
            <a:noAutofit/>
          </a:bodyPr>
          <a:lstStyle/>
          <a:p>
            <a:pPr algn="l"/>
            <a:r>
              <a:rPr lang="en-US" sz="4000" b="1" i="0">
                <a:solidFill>
                  <a:srgbClr val="1F4E79"/>
                </a:solidFill>
                <a:latin typeface="Raleway"/>
              </a:rPr>
              <a:t>Extra 1: The clock</a:t>
            </a:r>
          </a:p>
        </p:txBody>
      </p:sp>
      <p:sp>
        <p:nvSpPr>
          <p:cNvPr id="4" name="Strip Warm-up"/>
          <p:cNvSpPr/>
          <p:nvPr/>
        </p:nvSpPr>
        <p:spPr>
          <a:xfrm>
            <a:off x="640080" y="1389888"/>
            <a:ext cx="928116"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Warm-up</a:t>
            </a:r>
          </a:p>
        </p:txBody>
      </p:sp>
      <p:sp>
        <p:nvSpPr>
          <p:cNvPr id="5" name="Strip Receipt &amp; time"/>
          <p:cNvSpPr/>
          <p:nvPr/>
        </p:nvSpPr>
        <p:spPr>
          <a:xfrm>
            <a:off x="1677924" y="1389888"/>
            <a:ext cx="1472184"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Receipt &amp; time</a:t>
            </a:r>
          </a:p>
        </p:txBody>
      </p:sp>
      <p:sp>
        <p:nvSpPr>
          <p:cNvPr id="6" name="Strip Bugs"/>
          <p:cNvSpPr/>
          <p:nvPr/>
        </p:nvSpPr>
        <p:spPr>
          <a:xfrm>
            <a:off x="3259836" y="1389888"/>
            <a:ext cx="694944"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Bugs</a:t>
            </a:r>
          </a:p>
        </p:txBody>
      </p:sp>
      <p:sp>
        <p:nvSpPr>
          <p:cNvPr id="7" name="Strip Booleans"/>
          <p:cNvSpPr/>
          <p:nvPr/>
        </p:nvSpPr>
        <p:spPr>
          <a:xfrm>
            <a:off x="4064508" y="1389888"/>
            <a:ext cx="1005840"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Booleans</a:t>
            </a:r>
          </a:p>
        </p:txBody>
      </p:sp>
      <p:sp>
        <p:nvSpPr>
          <p:cNvPr id="8" name="Strip Randomness"/>
          <p:cNvSpPr/>
          <p:nvPr/>
        </p:nvSpPr>
        <p:spPr>
          <a:xfrm>
            <a:off x="5180076" y="1389888"/>
            <a:ext cx="1161288"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Randomness</a:t>
            </a:r>
          </a:p>
        </p:txBody>
      </p:sp>
      <p:sp>
        <p:nvSpPr>
          <p:cNvPr id="9" name="Strip Extra"/>
          <p:cNvSpPr/>
          <p:nvPr/>
        </p:nvSpPr>
        <p:spPr>
          <a:xfrm>
            <a:off x="6451092" y="1389888"/>
            <a:ext cx="772668" cy="310896"/>
          </a:xfrm>
          <a:prstGeom prst="roundRect">
            <a:avLst>
              <a:gd name="adj" fmla="val 50000"/>
            </a:avLst>
          </a:prstGeom>
          <a:solidFill>
            <a:srgbClr val="A64B00"/>
          </a:solidFill>
          <a:ln w="12700">
            <a:solidFill>
              <a:srgbClr val="A64B00"/>
            </a:solidFill>
          </a:ln>
        </p:spPr>
        <p:txBody>
          <a:bodyPr lIns="45720" tIns="0" rIns="45720" bIns="0" rtlCol="0" anchor="ctr"/>
          <a:lstStyle/>
          <a:p>
            <a:pPr algn="ctr"/>
            <a:r>
              <a:rPr lang="en-US" sz="1100" b="0" i="0">
                <a:solidFill>
                  <a:srgbClr val="FFFFFF"/>
                </a:solidFill>
                <a:latin typeface="Raleway"/>
              </a:rPr>
              <a:t>Extra</a:t>
            </a:r>
          </a:p>
        </p:txBody>
      </p:sp>
      <p:sp>
        <p:nvSpPr>
          <p:cNvPr id="10" name="Strip Wrap-up"/>
          <p:cNvSpPr/>
          <p:nvPr/>
        </p:nvSpPr>
        <p:spPr>
          <a:xfrm>
            <a:off x="7333488" y="1389888"/>
            <a:ext cx="928116"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Wrap-up</a:t>
            </a:r>
          </a:p>
        </p:txBody>
      </p:sp>
      <p:sp>
        <p:nvSpPr>
          <p:cNvPr id="11" name="Level"/>
          <p:cNvSpPr/>
          <p:nvPr/>
        </p:nvSpPr>
        <p:spPr>
          <a:xfrm>
            <a:off x="11137392" y="1362456"/>
            <a:ext cx="914400" cy="365760"/>
          </a:xfrm>
          <a:prstGeom prst="roundRect">
            <a:avLst>
              <a:gd name="adj" fmla="val 50000"/>
            </a:avLst>
          </a:prstGeom>
          <a:solidFill>
            <a:srgbClr val="FBE5D6"/>
          </a:solidFill>
          <a:ln w="12700">
            <a:solidFill>
              <a:srgbClr val="A64B00"/>
            </a:solidFill>
          </a:ln>
        </p:spPr>
        <p:txBody>
          <a:bodyPr lIns="73152" tIns="0" rIns="73152" bIns="0" rtlCol="0" anchor="ctr"/>
          <a:lstStyle/>
          <a:p>
            <a:pPr algn="ctr"/>
            <a:r>
              <a:rPr lang="en-US" sz="1200" b="0" i="0" spc="100">
                <a:solidFill>
                  <a:srgbClr val="843C0B"/>
                </a:solidFill>
                <a:latin typeface="Raleway"/>
              </a:rPr>
              <a:t>EXTRA</a:t>
            </a:r>
          </a:p>
        </p:txBody>
      </p:sp>
      <p:sp>
        <p:nvSpPr>
          <p:cNvPr id="12" name="Lead"/>
          <p:cNvSpPr txBox="1"/>
          <p:nvPr/>
        </p:nvSpPr>
        <p:spPr>
          <a:xfrm>
            <a:off x="640080" y="1965960"/>
            <a:ext cx="6035040" cy="914400"/>
          </a:xfrm>
          <a:prstGeom prst="rect">
            <a:avLst/>
          </a:prstGeom>
          <a:noFill/>
        </p:spPr>
        <p:txBody>
          <a:bodyPr wrap="square" lIns="0" tIns="0" rIns="0" bIns="0" anchor="t">
            <a:noAutofit/>
          </a:bodyPr>
          <a:lstStyle/>
          <a:p>
            <a:pPr algn="l">
              <a:lnSpc>
                <a:spcPct val="110000"/>
              </a:lnSpc>
            </a:pPr>
            <a:r>
              <a:rPr lang="en-US" sz="2400" b="0" i="0">
                <a:solidFill>
                  <a:srgbClr val="A64B00"/>
                </a:solidFill>
                <a:latin typeface="Raleway"/>
              </a:rPr>
              <a:t>Task: it is 22:45. A film lasts 150 minutes. When does it end?</a:t>
            </a:r>
          </a:p>
        </p:txBody>
      </p:sp>
      <p:sp>
        <p:nvSpPr>
          <p:cNvPr id="13" name="Task bullets"/>
          <p:cNvSpPr txBox="1"/>
          <p:nvPr/>
        </p:nvSpPr>
        <p:spPr>
          <a:xfrm>
            <a:off x="640080" y="2971800"/>
            <a:ext cx="6035040" cy="3200400"/>
          </a:xfrm>
          <a:prstGeom prst="rect">
            <a:avLst/>
          </a:prstGeom>
          <a:noFill/>
        </p:spPr>
        <p:txBody>
          <a:bodyPr wrap="square" lIns="0" tIns="0" rIns="0" bIns="0" anchor="t">
            <a:noAutofit/>
          </a:bodyPr>
          <a:lstStyle/>
          <a:p>
            <a:pPr marL="274320" indent="-274320" algn="l">
              <a:lnSpc>
                <a:spcPct val="114999"/>
              </a:lnSpc>
              <a:spcAft>
                <a:spcPts val="800"/>
              </a:spcAft>
              <a:buClr>
                <a:srgbClr val="A64B00"/>
              </a:buClr>
              <a:buSzPct val="65000"/>
              <a:buFont typeface="Arial" panose="020B0604020202020204" pitchFamily="34" charset="0"/>
              <a:buChar char="•"/>
            </a:pPr>
            <a:r>
              <a:rPr lang="en-US" sz="2200" b="0" i="0">
                <a:solidFill>
                  <a:srgbClr val="1D2433"/>
                </a:solidFill>
                <a:latin typeface="Raleway"/>
              </a:rPr>
              <a:t>Read the hour, the minutes and the duration in minutes</a:t>
            </a:r>
          </a:p>
          <a:p>
            <a:pPr marL="274320" indent="-274320" algn="l">
              <a:lnSpc>
                <a:spcPct val="114999"/>
              </a:lnSpc>
              <a:spcAft>
                <a:spcPts val="800"/>
              </a:spcAft>
              <a:buClr>
                <a:srgbClr val="A64B00"/>
              </a:buClr>
              <a:buSzPct val="65000"/>
              <a:buFont typeface="Arial" panose="020B0604020202020204" pitchFamily="34" charset="0"/>
              <a:buChar char="•"/>
            </a:pPr>
            <a:r>
              <a:rPr lang="en-US" sz="2200" b="0" i="0">
                <a:solidFill>
                  <a:srgbClr val="1D2433"/>
                </a:solidFill>
                <a:latin typeface="Raleway"/>
              </a:rPr>
              <a:t>Print the time when the film ends, on a 24-hour clock</a:t>
            </a:r>
          </a:p>
          <a:p>
            <a:pPr marL="274320" indent="-274320" algn="l">
              <a:lnSpc>
                <a:spcPct val="114999"/>
              </a:lnSpc>
              <a:spcAft>
                <a:spcPts val="800"/>
              </a:spcAft>
              <a:buClr>
                <a:srgbClr val="A64B00"/>
              </a:buClr>
              <a:buSzPct val="65000"/>
              <a:buFont typeface="Arial" panose="020B0604020202020204" pitchFamily="34" charset="0"/>
              <a:buChar char="•"/>
            </a:pPr>
            <a:r>
              <a:rPr lang="en-US" sz="2200" b="0" i="0">
                <a:solidFill>
                  <a:srgbClr val="1D2433"/>
                </a:solidFill>
                <a:latin typeface="Raleway"/>
              </a:rPr>
              <a:t>22:45 plus 150 minutes is 1:15 the next day - the hours wrap around at 24</a:t>
            </a:r>
          </a:p>
        </p:txBody>
      </p:sp>
      <p:sp>
        <p:nvSpPr>
          <p:cNvPr id="14" name="Terminal"/>
          <p:cNvSpPr/>
          <p:nvPr/>
        </p:nvSpPr>
        <p:spPr>
          <a:xfrm>
            <a:off x="7040880" y="1965960"/>
            <a:ext cx="4507992" cy="1792224"/>
          </a:xfrm>
          <a:prstGeom prst="roundRect">
            <a:avLst>
              <a:gd name="adj" fmla="val 4000"/>
            </a:avLst>
          </a:prstGeom>
          <a:solidFill>
            <a:srgbClr val="111318"/>
          </a:solidFill>
          <a:ln w="12700">
            <a:solidFill>
              <a:srgbClr val="D8DBE0"/>
            </a:solidFill>
          </a:ln>
        </p:spPr>
        <p:txBody>
          <a:bodyPr rtlCol="0" anchor="ctr"/>
          <a:lstStyle/>
          <a:p>
            <a:endParaRPr/>
          </a:p>
        </p:txBody>
      </p:sp>
      <p:sp>
        <p:nvSpPr>
          <p:cNvPr id="15" name="Terminal header"/>
          <p:cNvSpPr/>
          <p:nvPr/>
        </p:nvSpPr>
        <p:spPr>
          <a:xfrm>
            <a:off x="7040880" y="1965960"/>
            <a:ext cx="4507992" cy="384048"/>
          </a:xfrm>
          <a:prstGeom prst="roundRect">
            <a:avLst>
              <a:gd name="adj" fmla="val 10000"/>
            </a:avLst>
          </a:prstGeom>
          <a:solidFill>
            <a:srgbClr val="1B1E26"/>
          </a:solidFill>
          <a:ln w="12700">
            <a:solidFill>
              <a:srgbClr val="D8DBE0"/>
            </a:solidFill>
          </a:ln>
        </p:spPr>
        <p:txBody>
          <a:bodyPr rtlCol="0" anchor="ctr"/>
          <a:lstStyle/>
          <a:p>
            <a:endParaRPr/>
          </a:p>
        </p:txBody>
      </p:sp>
      <p:sp>
        <p:nvSpPr>
          <p:cNvPr id="16" name="Terminal header fill"/>
          <p:cNvSpPr/>
          <p:nvPr/>
        </p:nvSpPr>
        <p:spPr>
          <a:xfrm>
            <a:off x="7059168" y="2157984"/>
            <a:ext cx="4471416" cy="192024"/>
          </a:xfrm>
          <a:prstGeom prst="rect">
            <a:avLst/>
          </a:prstGeom>
          <a:solidFill>
            <a:srgbClr val="1B1E26"/>
          </a:solidFill>
          <a:ln>
            <a:noFill/>
          </a:ln>
        </p:spPr>
        <p:txBody>
          <a:bodyPr rtlCol="0" anchor="ctr"/>
          <a:lstStyle/>
          <a:p>
            <a:endParaRPr/>
          </a:p>
        </p:txBody>
      </p:sp>
      <p:sp>
        <p:nvSpPr>
          <p:cNvPr id="17" name="Terminal label"/>
          <p:cNvSpPr txBox="1"/>
          <p:nvPr/>
        </p:nvSpPr>
        <p:spPr>
          <a:xfrm>
            <a:off x="7315200" y="1965960"/>
            <a:ext cx="4050792" cy="384048"/>
          </a:xfrm>
          <a:prstGeom prst="rect">
            <a:avLst/>
          </a:prstGeom>
          <a:noFill/>
        </p:spPr>
        <p:txBody>
          <a:bodyPr wrap="square" lIns="0" tIns="0" rIns="0" bIns="0" anchor="ctr">
            <a:noAutofit/>
          </a:bodyPr>
          <a:lstStyle/>
          <a:p>
            <a:pPr algn="l"/>
            <a:r>
              <a:rPr lang="en-US" sz="1200" b="0" i="0">
                <a:solidFill>
                  <a:srgbClr val="E9EAEE"/>
                </a:solidFill>
                <a:latin typeface="Consolas"/>
              </a:rPr>
              <a:t>terminal</a:t>
            </a:r>
          </a:p>
        </p:txBody>
      </p:sp>
      <p:sp>
        <p:nvSpPr>
          <p:cNvPr id="18" name="Output"/>
          <p:cNvSpPr txBox="1"/>
          <p:nvPr/>
        </p:nvSpPr>
        <p:spPr>
          <a:xfrm>
            <a:off x="7315200" y="2478024"/>
            <a:ext cx="4050792" cy="1188719"/>
          </a:xfrm>
          <a:prstGeom prst="rect">
            <a:avLst/>
          </a:prstGeom>
          <a:noFill/>
        </p:spPr>
        <p:txBody>
          <a:bodyPr wrap="none" lIns="0" tIns="0" rIns="0" bIns="0" anchor="t">
            <a:noAutofit/>
          </a:bodyPr>
          <a:lstStyle/>
          <a:p>
            <a:pPr algn="l"/>
            <a:r>
              <a:rPr lang="en-US" sz="1800" b="0" i="0">
                <a:solidFill>
                  <a:srgbClr val="E9EAEE"/>
                </a:solidFill>
                <a:latin typeface="Consolas"/>
              </a:rPr>
              <a:t>Hours now: 22</a:t>
            </a:r>
          </a:p>
          <a:p>
            <a:pPr algn="l"/>
            <a:r>
              <a:rPr lang="en-US" sz="1800" b="0" i="0">
                <a:solidFill>
                  <a:srgbClr val="E9EAEE"/>
                </a:solidFill>
                <a:latin typeface="Consolas"/>
              </a:rPr>
              <a:t>Minutes now: 45</a:t>
            </a:r>
          </a:p>
          <a:p>
            <a:pPr algn="l"/>
            <a:r>
              <a:rPr lang="en-US" sz="1800" b="0" i="0">
                <a:solidFill>
                  <a:srgbClr val="E9EAEE"/>
                </a:solidFill>
                <a:latin typeface="Consolas"/>
              </a:rPr>
              <a:t>Duration in minutes: 150</a:t>
            </a:r>
          </a:p>
          <a:p>
            <a:pPr algn="l"/>
            <a:r>
              <a:rPr lang="en-US" sz="1800" b="0" i="0">
                <a:solidFill>
                  <a:srgbClr val="E9EAEE"/>
                </a:solidFill>
                <a:latin typeface="Consolas"/>
              </a:rPr>
              <a:t>Ends at 1:15</a:t>
            </a:r>
          </a:p>
        </p:txBody>
      </p:sp>
      <p:sp>
        <p:nvSpPr>
          <p:cNvPr id="19" name="Panel"/>
          <p:cNvSpPr/>
          <p:nvPr/>
        </p:nvSpPr>
        <p:spPr>
          <a:xfrm>
            <a:off x="7040880" y="3986783"/>
            <a:ext cx="4507992" cy="2230374"/>
          </a:xfrm>
          <a:prstGeom prst="roundRect">
            <a:avLst>
              <a:gd name="adj" fmla="val 6000"/>
            </a:avLst>
          </a:prstGeom>
          <a:solidFill>
            <a:srgbClr val="F2F3F5"/>
          </a:solidFill>
          <a:ln w="12700">
            <a:solidFill>
              <a:srgbClr val="D8DBE0"/>
            </a:solidFill>
          </a:ln>
        </p:spPr>
        <p:txBody>
          <a:bodyPr rtlCol="0" anchor="ctr"/>
          <a:lstStyle/>
          <a:p>
            <a:endParaRPr/>
          </a:p>
        </p:txBody>
      </p:sp>
      <p:sp>
        <p:nvSpPr>
          <p:cNvPr id="20" name="Panel text"/>
          <p:cNvSpPr txBox="1"/>
          <p:nvPr/>
        </p:nvSpPr>
        <p:spPr>
          <a:xfrm>
            <a:off x="7178040" y="4096511"/>
            <a:ext cx="4233672" cy="2010918"/>
          </a:xfrm>
          <a:prstGeom prst="rect">
            <a:avLst/>
          </a:prstGeom>
          <a:noFill/>
        </p:spPr>
        <p:txBody>
          <a:bodyPr wrap="square" lIns="0" tIns="0" rIns="0" bIns="0" anchor="t">
            <a:noAutofit/>
          </a:bodyPr>
          <a:lstStyle/>
          <a:p>
            <a:pPr algn="l">
              <a:spcAft>
                <a:spcPts val="600"/>
              </a:spcAft>
            </a:pPr>
            <a:r>
              <a:rPr lang="en-US" sz="2200" b="0" i="0">
                <a:solidFill>
                  <a:srgbClr val="A64B00"/>
                </a:solidFill>
                <a:latin typeface="Raleway"/>
              </a:rPr>
              <a:t>Think about</a:t>
            </a:r>
          </a:p>
          <a:p>
            <a:pPr marL="201168" indent="-201168" algn="l">
              <a:spcAft>
                <a:spcPts val="600"/>
              </a:spcAft>
              <a:buSzPct val="65000"/>
              <a:buFont typeface="Arial" panose="020B0604020202020204" pitchFamily="34" charset="0"/>
              <a:buChar char="•"/>
            </a:pPr>
            <a:r>
              <a:rPr lang="en-US" sz="1800" b="0" i="0">
                <a:solidFill>
                  <a:srgbClr val="1D2433"/>
                </a:solidFill>
                <a:latin typeface="Raleway"/>
              </a:rPr>
              <a:t>Turn everything into minutes first, then back into hours and minutes</a:t>
            </a:r>
          </a:p>
          <a:p>
            <a:pPr marL="201168" indent="-201168" algn="l">
              <a:spcAft>
                <a:spcPts val="600"/>
              </a:spcAft>
              <a:buSzPct val="65000"/>
              <a:buFont typeface="Arial" panose="020B0604020202020204" pitchFamily="34" charset="0"/>
              <a:buChar char="•"/>
            </a:pPr>
            <a:r>
              <a:rPr lang="en-US" sz="1800" b="0" i="0">
                <a:solidFill>
                  <a:srgbClr val="A64B00"/>
                </a:solidFill>
                <a:latin typeface="Raleway"/>
              </a:rPr>
              <a:t>Wrapping around 24:</a:t>
            </a:r>
            <a:r>
              <a:rPr lang="en-US" sz="1800" b="0" i="0">
                <a:solidFill>
                  <a:srgbClr val="1D2433"/>
                </a:solidFill>
                <a:latin typeface="Raleway"/>
              </a:rPr>
              <a:t> what does </a:t>
            </a:r>
            <a:r>
              <a:rPr lang="en-US" sz="1800" b="0" i="0">
                <a:solidFill>
                  <a:srgbClr val="1D2433"/>
                </a:solidFill>
                <a:latin typeface="Consolas"/>
              </a:rPr>
              <a:t>%</a:t>
            </a:r>
            <a:r>
              <a:rPr lang="en-US" sz="1800" b="0" i="0">
                <a:solidFill>
                  <a:srgbClr val="1D2433"/>
                </a:solidFill>
                <a:latin typeface="Raleway"/>
              </a:rPr>
              <a:t> do for you?</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28 - Solution - Extra 1: one solution">
    <p:spTree>
      <p:nvGrpSpPr>
        <p:cNvPr id="1" name=""/>
        <p:cNvGrpSpPr/>
        <p:nvPr/>
      </p:nvGrpSpPr>
      <p:grpSpPr>
        <a:xfrm>
          <a:off x="0" y="0"/>
          <a:ext cx="0" cy="0"/>
          <a:chOff x="0" y="0"/>
          <a:chExt cx="0" cy="0"/>
        </a:xfrm>
      </p:grpSpPr>
      <p:sp>
        <p:nvSpPr>
          <p:cNvPr id="2" name="Slide number"/>
          <p:cNvSpPr txBox="1"/>
          <p:nvPr/>
        </p:nvSpPr>
        <p:spPr>
          <a:xfrm>
            <a:off x="11430000" y="6446520"/>
            <a:ext cx="548640" cy="320040"/>
          </a:xfrm>
          <a:prstGeom prst="rect">
            <a:avLst/>
          </a:prstGeom>
          <a:noFill/>
        </p:spPr>
        <p:txBody>
          <a:bodyPr wrap="none" lIns="0" tIns="0" rIns="0" bIns="0" anchor="ctr">
            <a:spAutoFit/>
          </a:bodyPr>
          <a:lstStyle/>
          <a:p>
            <a:pPr algn="r"/>
            <a:fld id="{007A6A40-1A7B-4A1B-9D78-D7D11C5A8472}" type="slidenum">
              <a:rPr lang="en-US" sz="1200">
                <a:solidFill>
                  <a:srgbClr val="1B3A5C"/>
                </a:solidFill>
                <a:latin typeface="Raleway"/>
              </a:rPr>
              <a:t>31</a:t>
            </a:fld>
            <a:endParaRPr lang="en-US" sz="1200">
              <a:solidFill>
                <a:srgbClr val="1B3A5C"/>
              </a:solidFill>
              <a:latin typeface="Raleway"/>
            </a:endParaRPr>
          </a:p>
        </p:txBody>
      </p:sp>
      <p:sp>
        <p:nvSpPr>
          <p:cNvPr id="3" name="Title"/>
          <p:cNvSpPr txBox="1"/>
          <p:nvPr/>
        </p:nvSpPr>
        <p:spPr>
          <a:xfrm>
            <a:off x="640080" y="502920"/>
            <a:ext cx="11411712" cy="822960"/>
          </a:xfrm>
          <a:prstGeom prst="rect">
            <a:avLst/>
          </a:prstGeom>
          <a:noFill/>
        </p:spPr>
        <p:txBody>
          <a:bodyPr wrap="square" lIns="0" tIns="0" rIns="0" bIns="0" anchor="ctr">
            <a:noAutofit/>
          </a:bodyPr>
          <a:lstStyle/>
          <a:p>
            <a:pPr algn="l"/>
            <a:r>
              <a:rPr lang="en-US" sz="4000" b="1" i="0">
                <a:solidFill>
                  <a:srgbClr val="1F4E79"/>
                </a:solidFill>
                <a:latin typeface="Raleway"/>
              </a:rPr>
              <a:t>Extra 1: one solution</a:t>
            </a:r>
          </a:p>
        </p:txBody>
      </p:sp>
      <p:sp>
        <p:nvSpPr>
          <p:cNvPr id="4" name="Code card"/>
          <p:cNvSpPr/>
          <p:nvPr/>
        </p:nvSpPr>
        <p:spPr>
          <a:xfrm>
            <a:off x="640080" y="1508760"/>
            <a:ext cx="6766560" cy="2889504"/>
          </a:xfrm>
          <a:prstGeom prst="roundRect">
            <a:avLst>
              <a:gd name="adj" fmla="val 4000"/>
            </a:avLst>
          </a:prstGeom>
          <a:solidFill>
            <a:srgbClr val="111318"/>
          </a:solidFill>
          <a:ln w="12700">
            <a:solidFill>
              <a:srgbClr val="D8DBE0"/>
            </a:solidFill>
          </a:ln>
        </p:spPr>
        <p:txBody>
          <a:bodyPr rtlCol="0" anchor="ctr"/>
          <a:lstStyle/>
          <a:p>
            <a:endParaRPr/>
          </a:p>
        </p:txBody>
      </p:sp>
      <p:sp>
        <p:nvSpPr>
          <p:cNvPr id="5" name="Code card header"/>
          <p:cNvSpPr/>
          <p:nvPr/>
        </p:nvSpPr>
        <p:spPr>
          <a:xfrm>
            <a:off x="640080" y="1508760"/>
            <a:ext cx="6766560" cy="384048"/>
          </a:xfrm>
          <a:prstGeom prst="roundRect">
            <a:avLst>
              <a:gd name="adj" fmla="val 10000"/>
            </a:avLst>
          </a:prstGeom>
          <a:solidFill>
            <a:srgbClr val="1B1E26"/>
          </a:solidFill>
          <a:ln w="12700">
            <a:solidFill>
              <a:srgbClr val="D8DBE0"/>
            </a:solidFill>
          </a:ln>
        </p:spPr>
        <p:txBody>
          <a:bodyPr rtlCol="0" anchor="ctr"/>
          <a:lstStyle/>
          <a:p>
            <a:endParaRPr/>
          </a:p>
        </p:txBody>
      </p:sp>
      <p:sp>
        <p:nvSpPr>
          <p:cNvPr id="6" name="Code card header fill"/>
          <p:cNvSpPr/>
          <p:nvPr/>
        </p:nvSpPr>
        <p:spPr>
          <a:xfrm>
            <a:off x="658368" y="1700784"/>
            <a:ext cx="6729984" cy="192024"/>
          </a:xfrm>
          <a:prstGeom prst="rect">
            <a:avLst/>
          </a:prstGeom>
          <a:solidFill>
            <a:srgbClr val="1B1E26"/>
          </a:solidFill>
          <a:ln>
            <a:noFill/>
          </a:ln>
        </p:spPr>
        <p:txBody>
          <a:bodyPr rtlCol="0" anchor="ctr"/>
          <a:lstStyle/>
          <a:p>
            <a:endParaRPr/>
          </a:p>
        </p:txBody>
      </p:sp>
      <p:sp>
        <p:nvSpPr>
          <p:cNvPr id="7" name="Oval 6"/>
          <p:cNvSpPr/>
          <p:nvPr/>
        </p:nvSpPr>
        <p:spPr>
          <a:xfrm>
            <a:off x="868680" y="1645919"/>
            <a:ext cx="118872" cy="118872"/>
          </a:xfrm>
          <a:prstGeom prst="ellipse">
            <a:avLst/>
          </a:prstGeom>
          <a:solidFill>
            <a:srgbClr val="FF6B6B"/>
          </a:solidFill>
          <a:ln>
            <a:noFill/>
          </a:ln>
        </p:spPr>
        <p:txBody>
          <a:bodyPr rtlCol="0" anchor="ctr"/>
          <a:lstStyle/>
          <a:p>
            <a:pPr algn="ctr"/>
            <a:endParaRPr/>
          </a:p>
        </p:txBody>
      </p:sp>
      <p:sp>
        <p:nvSpPr>
          <p:cNvPr id="8" name="Oval 7"/>
          <p:cNvSpPr/>
          <p:nvPr/>
        </p:nvSpPr>
        <p:spPr>
          <a:xfrm>
            <a:off x="1143000" y="1645919"/>
            <a:ext cx="118872" cy="118872"/>
          </a:xfrm>
          <a:prstGeom prst="ellipse">
            <a:avLst/>
          </a:prstGeom>
          <a:solidFill>
            <a:srgbClr val="FFD94A"/>
          </a:solidFill>
          <a:ln>
            <a:noFill/>
          </a:ln>
        </p:spPr>
        <p:txBody>
          <a:bodyPr rtlCol="0" anchor="ctr"/>
          <a:lstStyle/>
          <a:p>
            <a:pPr algn="ctr"/>
            <a:endParaRPr/>
          </a:p>
        </p:txBody>
      </p:sp>
      <p:sp>
        <p:nvSpPr>
          <p:cNvPr id="9" name="Oval 8"/>
          <p:cNvSpPr/>
          <p:nvPr/>
        </p:nvSpPr>
        <p:spPr>
          <a:xfrm>
            <a:off x="1417319" y="1645919"/>
            <a:ext cx="118872" cy="118872"/>
          </a:xfrm>
          <a:prstGeom prst="ellipse">
            <a:avLst/>
          </a:prstGeom>
          <a:solidFill>
            <a:srgbClr val="8FE3AB"/>
          </a:solidFill>
          <a:ln>
            <a:noFill/>
          </a:ln>
        </p:spPr>
        <p:txBody>
          <a:bodyPr rtlCol="0" anchor="ctr"/>
          <a:lstStyle/>
          <a:p>
            <a:pPr algn="ctr"/>
            <a:endParaRPr/>
          </a:p>
        </p:txBody>
      </p:sp>
      <p:sp>
        <p:nvSpPr>
          <p:cNvPr id="10" name="Filename"/>
          <p:cNvSpPr txBox="1"/>
          <p:nvPr/>
        </p:nvSpPr>
        <p:spPr>
          <a:xfrm>
            <a:off x="1828800" y="1508760"/>
            <a:ext cx="5394960" cy="384048"/>
          </a:xfrm>
          <a:prstGeom prst="rect">
            <a:avLst/>
          </a:prstGeom>
          <a:noFill/>
        </p:spPr>
        <p:txBody>
          <a:bodyPr wrap="square" lIns="0" tIns="0" rIns="0" bIns="0" anchor="ctr">
            <a:noAutofit/>
          </a:bodyPr>
          <a:lstStyle/>
          <a:p>
            <a:pPr algn="l"/>
            <a:r>
              <a:rPr lang="en-US" sz="1200" b="0" i="0">
                <a:solidFill>
                  <a:srgbClr val="E9EAEE"/>
                </a:solidFill>
                <a:latin typeface="Consolas"/>
              </a:rPr>
              <a:t>clock.py</a:t>
            </a:r>
          </a:p>
        </p:txBody>
      </p:sp>
      <p:sp>
        <p:nvSpPr>
          <p:cNvPr id="11" name="Code"/>
          <p:cNvSpPr txBox="1"/>
          <p:nvPr/>
        </p:nvSpPr>
        <p:spPr>
          <a:xfrm>
            <a:off x="1005840" y="2002536"/>
            <a:ext cx="6126480" cy="2304288"/>
          </a:xfrm>
          <a:prstGeom prst="rect">
            <a:avLst/>
          </a:prstGeom>
          <a:noFill/>
        </p:spPr>
        <p:txBody>
          <a:bodyPr wrap="none" lIns="0" tIns="0" rIns="0" bIns="0" anchor="t">
            <a:noAutofit/>
          </a:bodyPr>
          <a:lstStyle/>
          <a:p>
            <a:pPr algn="l"/>
            <a:r>
              <a:rPr lang="en-US" sz="1600" b="0" i="0">
                <a:solidFill>
                  <a:srgbClr val="E9EAEE"/>
                </a:solidFill>
                <a:latin typeface="Consolas"/>
              </a:rPr>
              <a:t>hours = </a:t>
            </a:r>
            <a:r>
              <a:rPr lang="en-US" sz="1600" b="0" i="0">
                <a:solidFill>
                  <a:srgbClr val="F5B759"/>
                </a:solidFill>
                <a:latin typeface="Consolas"/>
              </a:rPr>
              <a:t>int</a:t>
            </a:r>
            <a:r>
              <a:rPr lang="en-US" sz="1600" b="0" i="0">
                <a:solidFill>
                  <a:srgbClr val="E9EAEE"/>
                </a:solidFill>
                <a:latin typeface="Consolas"/>
              </a:rPr>
              <a:t>(</a:t>
            </a:r>
            <a:r>
              <a:rPr lang="en-US" sz="1600" b="0" i="0">
                <a:solidFill>
                  <a:srgbClr val="F5B759"/>
                </a:solidFill>
                <a:latin typeface="Consolas"/>
              </a:rPr>
              <a:t>input</a:t>
            </a:r>
            <a:r>
              <a:rPr lang="en-US" sz="1600" b="0" i="0">
                <a:solidFill>
                  <a:srgbClr val="E9EAEE"/>
                </a:solidFill>
                <a:latin typeface="Consolas"/>
              </a:rPr>
              <a:t>("Hours now: "))</a:t>
            </a:r>
          </a:p>
          <a:p>
            <a:pPr algn="l"/>
            <a:r>
              <a:rPr lang="en-US" sz="1600" b="0" i="0">
                <a:solidFill>
                  <a:srgbClr val="E9EAEE"/>
                </a:solidFill>
                <a:latin typeface="Consolas"/>
              </a:rPr>
              <a:t>minutes = </a:t>
            </a:r>
            <a:r>
              <a:rPr lang="en-US" sz="1600" b="0" i="0">
                <a:solidFill>
                  <a:srgbClr val="F5B759"/>
                </a:solidFill>
                <a:latin typeface="Consolas"/>
              </a:rPr>
              <a:t>int</a:t>
            </a:r>
            <a:r>
              <a:rPr lang="en-US" sz="1600" b="0" i="0">
                <a:solidFill>
                  <a:srgbClr val="E9EAEE"/>
                </a:solidFill>
                <a:latin typeface="Consolas"/>
              </a:rPr>
              <a:t>(</a:t>
            </a:r>
            <a:r>
              <a:rPr lang="en-US" sz="1600" b="0" i="0">
                <a:solidFill>
                  <a:srgbClr val="F5B759"/>
                </a:solidFill>
                <a:latin typeface="Consolas"/>
              </a:rPr>
              <a:t>input</a:t>
            </a:r>
            <a:r>
              <a:rPr lang="en-US" sz="1600" b="0" i="0">
                <a:solidFill>
                  <a:srgbClr val="E9EAEE"/>
                </a:solidFill>
                <a:latin typeface="Consolas"/>
              </a:rPr>
              <a:t>("Minutes now: "))</a:t>
            </a:r>
          </a:p>
          <a:p>
            <a:pPr algn="l"/>
            <a:r>
              <a:rPr lang="en-US" sz="1600" b="0" i="0">
                <a:solidFill>
                  <a:srgbClr val="E9EAEE"/>
                </a:solidFill>
                <a:latin typeface="Consolas"/>
              </a:rPr>
              <a:t>duration = </a:t>
            </a:r>
            <a:r>
              <a:rPr lang="en-US" sz="1600" b="0" i="0">
                <a:solidFill>
                  <a:srgbClr val="F5B759"/>
                </a:solidFill>
                <a:latin typeface="Consolas"/>
              </a:rPr>
              <a:t>int</a:t>
            </a:r>
            <a:r>
              <a:rPr lang="en-US" sz="1600" b="0" i="0">
                <a:solidFill>
                  <a:srgbClr val="E9EAEE"/>
                </a:solidFill>
                <a:latin typeface="Consolas"/>
              </a:rPr>
              <a:t>(</a:t>
            </a:r>
            <a:r>
              <a:rPr lang="en-US" sz="1600" b="0" i="0">
                <a:solidFill>
                  <a:srgbClr val="F5B759"/>
                </a:solidFill>
                <a:latin typeface="Consolas"/>
              </a:rPr>
              <a:t>input</a:t>
            </a:r>
            <a:r>
              <a:rPr lang="en-US" sz="1600" b="0" i="0">
                <a:solidFill>
                  <a:srgbClr val="E9EAEE"/>
                </a:solidFill>
                <a:latin typeface="Consolas"/>
              </a:rPr>
              <a:t>("Duration in minutes: "))</a:t>
            </a:r>
          </a:p>
          <a:p>
            <a:pPr algn="l"/>
            <a:endParaRPr lang="en-US" sz="1600" b="0" i="0">
              <a:solidFill>
                <a:srgbClr val="E9EAEE"/>
              </a:solidFill>
              <a:latin typeface="Consolas"/>
            </a:endParaRPr>
          </a:p>
          <a:p>
            <a:pPr algn="l"/>
            <a:r>
              <a:rPr lang="en-US" sz="1600" b="0" i="0">
                <a:solidFill>
                  <a:srgbClr val="E9EAEE"/>
                </a:solidFill>
                <a:latin typeface="Consolas"/>
              </a:rPr>
              <a:t>total = hours * 60 + minutes + duration</a:t>
            </a:r>
          </a:p>
          <a:p>
            <a:pPr algn="l"/>
            <a:r>
              <a:rPr lang="en-US" sz="1600" b="0" i="0">
                <a:solidFill>
                  <a:srgbClr val="E9EAEE"/>
                </a:solidFill>
                <a:latin typeface="Consolas"/>
              </a:rPr>
              <a:t>end_hours = (total // 60) % 24</a:t>
            </a:r>
          </a:p>
          <a:p>
            <a:pPr algn="l"/>
            <a:r>
              <a:rPr lang="en-US" sz="1600" b="0" i="0">
                <a:solidFill>
                  <a:srgbClr val="E9EAEE"/>
                </a:solidFill>
                <a:latin typeface="Consolas"/>
              </a:rPr>
              <a:t>end_minutes = total % 60</a:t>
            </a:r>
          </a:p>
          <a:p>
            <a:pPr algn="l"/>
            <a:endParaRPr lang="en-US" sz="1600" b="0" i="0">
              <a:solidFill>
                <a:srgbClr val="E9EAEE"/>
              </a:solidFill>
              <a:latin typeface="Consolas"/>
            </a:endParaRPr>
          </a:p>
          <a:p>
            <a:pPr algn="l"/>
            <a:r>
              <a:rPr lang="en-US" sz="1600" b="0" i="0">
                <a:solidFill>
                  <a:srgbClr val="F5B759"/>
                </a:solidFill>
                <a:latin typeface="Consolas"/>
              </a:rPr>
              <a:t>print</a:t>
            </a:r>
            <a:r>
              <a:rPr lang="en-US" sz="1600" b="0" i="0">
                <a:solidFill>
                  <a:srgbClr val="E9EAEE"/>
                </a:solidFill>
                <a:latin typeface="Consolas"/>
              </a:rPr>
              <a:t>(f"Ends at {end_hours}:{end_minutes}")</a:t>
            </a:r>
          </a:p>
        </p:txBody>
      </p:sp>
      <p:sp>
        <p:nvSpPr>
          <p:cNvPr id="12" name="Panel"/>
          <p:cNvSpPr/>
          <p:nvPr/>
        </p:nvSpPr>
        <p:spPr>
          <a:xfrm>
            <a:off x="7772400" y="1508760"/>
            <a:ext cx="3776472" cy="2871216"/>
          </a:xfrm>
          <a:prstGeom prst="roundRect">
            <a:avLst>
              <a:gd name="adj" fmla="val 6000"/>
            </a:avLst>
          </a:prstGeom>
          <a:solidFill>
            <a:srgbClr val="F2F3F5"/>
          </a:solidFill>
          <a:ln w="12700">
            <a:solidFill>
              <a:srgbClr val="D8DBE0"/>
            </a:solidFill>
          </a:ln>
        </p:spPr>
        <p:txBody>
          <a:bodyPr rtlCol="0" anchor="ctr"/>
          <a:lstStyle/>
          <a:p>
            <a:endParaRPr/>
          </a:p>
        </p:txBody>
      </p:sp>
      <p:sp>
        <p:nvSpPr>
          <p:cNvPr id="13" name="Panel text"/>
          <p:cNvSpPr txBox="1"/>
          <p:nvPr/>
        </p:nvSpPr>
        <p:spPr>
          <a:xfrm>
            <a:off x="7909560" y="1618488"/>
            <a:ext cx="3502152" cy="2651760"/>
          </a:xfrm>
          <a:prstGeom prst="rect">
            <a:avLst/>
          </a:prstGeom>
          <a:noFill/>
        </p:spPr>
        <p:txBody>
          <a:bodyPr wrap="square" lIns="0" tIns="0" rIns="0" bIns="0" anchor="t">
            <a:noAutofit/>
          </a:bodyPr>
          <a:lstStyle/>
          <a:p>
            <a:pPr algn="l">
              <a:spcAft>
                <a:spcPts val="600"/>
              </a:spcAft>
            </a:pPr>
            <a:r>
              <a:rPr lang="en-US" sz="2200" b="0" i="0">
                <a:solidFill>
                  <a:srgbClr val="A64B00"/>
                </a:solidFill>
                <a:latin typeface="Raleway"/>
              </a:rPr>
              <a:t>The plan, in three lines</a:t>
            </a:r>
          </a:p>
          <a:p>
            <a:pPr marL="201168" indent="-201168" algn="l">
              <a:spcAft>
                <a:spcPts val="600"/>
              </a:spcAft>
              <a:buSzPct val="65000"/>
              <a:buFont typeface="Arial" panose="020B0604020202020204" pitchFamily="34" charset="0"/>
              <a:buChar char="•"/>
            </a:pPr>
            <a:r>
              <a:rPr lang="en-US" sz="1600" b="0" i="0">
                <a:solidFill>
                  <a:srgbClr val="A64B00"/>
                </a:solidFill>
                <a:latin typeface="Raleway"/>
              </a:rPr>
              <a:t>One unit:</a:t>
            </a:r>
            <a:r>
              <a:rPr lang="en-US" sz="1600" b="0" i="0">
                <a:solidFill>
                  <a:srgbClr val="1D2433"/>
                </a:solidFill>
                <a:latin typeface="Raleway"/>
              </a:rPr>
              <a:t> </a:t>
            </a:r>
            <a:r>
              <a:rPr lang="en-US" sz="1600" b="0" i="0">
                <a:solidFill>
                  <a:srgbClr val="1D2433"/>
                </a:solidFill>
                <a:latin typeface="Consolas"/>
              </a:rPr>
              <a:t>total</a:t>
            </a:r>
            <a:r>
              <a:rPr lang="en-US" sz="1600" b="0" i="0">
                <a:solidFill>
                  <a:srgbClr val="1D2433"/>
                </a:solidFill>
                <a:latin typeface="Raleway"/>
              </a:rPr>
              <a:t> is minutes since midnight, plus the film</a:t>
            </a:r>
          </a:p>
          <a:p>
            <a:pPr marL="201168" indent="-201168" algn="l">
              <a:spcAft>
                <a:spcPts val="600"/>
              </a:spcAft>
              <a:buSzPct val="65000"/>
              <a:buFont typeface="Arial" panose="020B0604020202020204" pitchFamily="34" charset="0"/>
              <a:buChar char="•"/>
            </a:pPr>
            <a:r>
              <a:rPr lang="en-US" sz="1600" b="0" i="0">
                <a:solidFill>
                  <a:srgbClr val="A64B00"/>
                </a:solidFill>
                <a:latin typeface="Raleway"/>
              </a:rPr>
              <a:t>Back out:</a:t>
            </a:r>
            <a:r>
              <a:rPr lang="en-US" sz="1600" b="0" i="0">
                <a:solidFill>
                  <a:srgbClr val="1D2433"/>
                </a:solidFill>
                <a:latin typeface="Raleway"/>
              </a:rPr>
              <a:t> </a:t>
            </a:r>
            <a:r>
              <a:rPr lang="en-US" sz="1600" b="0" i="0">
                <a:solidFill>
                  <a:srgbClr val="1D2433"/>
                </a:solidFill>
                <a:latin typeface="Consolas"/>
              </a:rPr>
              <a:t>// 60</a:t>
            </a:r>
            <a:r>
              <a:rPr lang="en-US" sz="1600" b="0" i="0">
                <a:solidFill>
                  <a:srgbClr val="1D2433"/>
                </a:solidFill>
                <a:latin typeface="Raleway"/>
              </a:rPr>
              <a:t> gives hours, </a:t>
            </a:r>
            <a:r>
              <a:rPr lang="en-US" sz="1600" b="0" i="0">
                <a:solidFill>
                  <a:srgbClr val="1D2433"/>
                </a:solidFill>
                <a:latin typeface="Consolas"/>
              </a:rPr>
              <a:t>% 60</a:t>
            </a:r>
            <a:r>
              <a:rPr lang="en-US" sz="1600" b="0" i="0">
                <a:solidFill>
                  <a:srgbClr val="1D2433"/>
                </a:solidFill>
                <a:latin typeface="Raleway"/>
              </a:rPr>
              <a:t> gives the minutes that did not fit</a:t>
            </a:r>
          </a:p>
          <a:p>
            <a:pPr marL="201168" indent="-201168" algn="l">
              <a:spcAft>
                <a:spcPts val="600"/>
              </a:spcAft>
              <a:buSzPct val="65000"/>
              <a:buFont typeface="Arial" panose="020B0604020202020204" pitchFamily="34" charset="0"/>
              <a:buChar char="•"/>
            </a:pPr>
            <a:r>
              <a:rPr lang="en-US" sz="1600" b="0" i="0">
                <a:solidFill>
                  <a:srgbClr val="A64B00"/>
                </a:solidFill>
                <a:latin typeface="Raleway"/>
              </a:rPr>
              <a:t>The wrap:</a:t>
            </a:r>
            <a:r>
              <a:rPr lang="en-US" sz="1600" b="0" i="0">
                <a:solidFill>
                  <a:srgbClr val="1D2433"/>
                </a:solidFill>
                <a:latin typeface="Raleway"/>
              </a:rPr>
              <a:t> </a:t>
            </a:r>
            <a:r>
              <a:rPr lang="en-US" sz="1600" b="0" i="0">
                <a:solidFill>
                  <a:srgbClr val="1D2433"/>
                </a:solidFill>
                <a:latin typeface="Consolas"/>
              </a:rPr>
              <a:t>% 24</a:t>
            </a:r>
            <a:r>
              <a:rPr lang="en-US" sz="1600" b="0" i="0">
                <a:solidFill>
                  <a:srgbClr val="1D2433"/>
                </a:solidFill>
                <a:latin typeface="Raleway"/>
              </a:rPr>
              <a:t> turns 25 hours into 1 - the same trick as a clock face</a:t>
            </a:r>
          </a:p>
        </p:txBody>
      </p:sp>
      <p:sp>
        <p:nvSpPr>
          <p:cNvPr id="14" name="Terminal"/>
          <p:cNvSpPr/>
          <p:nvPr/>
        </p:nvSpPr>
        <p:spPr>
          <a:xfrm>
            <a:off x="7772400" y="4608576"/>
            <a:ext cx="3776472" cy="1670304"/>
          </a:xfrm>
          <a:prstGeom prst="roundRect">
            <a:avLst>
              <a:gd name="adj" fmla="val 4000"/>
            </a:avLst>
          </a:prstGeom>
          <a:solidFill>
            <a:srgbClr val="111318"/>
          </a:solidFill>
          <a:ln w="12700">
            <a:solidFill>
              <a:srgbClr val="D8DBE0"/>
            </a:solidFill>
          </a:ln>
        </p:spPr>
        <p:txBody>
          <a:bodyPr rtlCol="0" anchor="ctr"/>
          <a:lstStyle/>
          <a:p>
            <a:endParaRPr/>
          </a:p>
        </p:txBody>
      </p:sp>
      <p:sp>
        <p:nvSpPr>
          <p:cNvPr id="15" name="Terminal header"/>
          <p:cNvSpPr/>
          <p:nvPr/>
        </p:nvSpPr>
        <p:spPr>
          <a:xfrm>
            <a:off x="7772400" y="4608576"/>
            <a:ext cx="3776472" cy="384048"/>
          </a:xfrm>
          <a:prstGeom prst="roundRect">
            <a:avLst>
              <a:gd name="adj" fmla="val 10000"/>
            </a:avLst>
          </a:prstGeom>
          <a:solidFill>
            <a:srgbClr val="1B1E26"/>
          </a:solidFill>
          <a:ln w="12700">
            <a:solidFill>
              <a:srgbClr val="D8DBE0"/>
            </a:solidFill>
          </a:ln>
        </p:spPr>
        <p:txBody>
          <a:bodyPr rtlCol="0" anchor="ctr"/>
          <a:lstStyle/>
          <a:p>
            <a:endParaRPr/>
          </a:p>
        </p:txBody>
      </p:sp>
      <p:sp>
        <p:nvSpPr>
          <p:cNvPr id="16" name="Terminal header fill"/>
          <p:cNvSpPr/>
          <p:nvPr/>
        </p:nvSpPr>
        <p:spPr>
          <a:xfrm>
            <a:off x="7790688" y="4800600"/>
            <a:ext cx="3739896" cy="192024"/>
          </a:xfrm>
          <a:prstGeom prst="rect">
            <a:avLst/>
          </a:prstGeom>
          <a:solidFill>
            <a:srgbClr val="1B1E26"/>
          </a:solidFill>
          <a:ln>
            <a:noFill/>
          </a:ln>
        </p:spPr>
        <p:txBody>
          <a:bodyPr rtlCol="0" anchor="ctr"/>
          <a:lstStyle/>
          <a:p>
            <a:endParaRPr/>
          </a:p>
        </p:txBody>
      </p:sp>
      <p:sp>
        <p:nvSpPr>
          <p:cNvPr id="17" name="Terminal label"/>
          <p:cNvSpPr txBox="1"/>
          <p:nvPr/>
        </p:nvSpPr>
        <p:spPr>
          <a:xfrm>
            <a:off x="8046720" y="4608576"/>
            <a:ext cx="3319272" cy="384048"/>
          </a:xfrm>
          <a:prstGeom prst="rect">
            <a:avLst/>
          </a:prstGeom>
          <a:noFill/>
        </p:spPr>
        <p:txBody>
          <a:bodyPr wrap="square" lIns="0" tIns="0" rIns="0" bIns="0" anchor="ctr">
            <a:noAutofit/>
          </a:bodyPr>
          <a:lstStyle/>
          <a:p>
            <a:pPr algn="l"/>
            <a:r>
              <a:rPr lang="en-US" sz="1200" b="0" i="0">
                <a:solidFill>
                  <a:srgbClr val="E9EAEE"/>
                </a:solidFill>
                <a:latin typeface="Consolas"/>
              </a:rPr>
              <a:t>python clock.py</a:t>
            </a:r>
          </a:p>
        </p:txBody>
      </p:sp>
      <p:sp>
        <p:nvSpPr>
          <p:cNvPr id="18" name="Output"/>
          <p:cNvSpPr txBox="1"/>
          <p:nvPr/>
        </p:nvSpPr>
        <p:spPr>
          <a:xfrm>
            <a:off x="8046720" y="5120640"/>
            <a:ext cx="3319272" cy="1066799"/>
          </a:xfrm>
          <a:prstGeom prst="rect">
            <a:avLst/>
          </a:prstGeom>
          <a:noFill/>
        </p:spPr>
        <p:txBody>
          <a:bodyPr wrap="none" lIns="0" tIns="0" rIns="0" bIns="0" anchor="t">
            <a:noAutofit/>
          </a:bodyPr>
          <a:lstStyle/>
          <a:p>
            <a:pPr algn="l"/>
            <a:r>
              <a:rPr lang="en-US" sz="1600" b="0" i="0">
                <a:solidFill>
                  <a:srgbClr val="E9EAEE"/>
                </a:solidFill>
                <a:latin typeface="Consolas"/>
              </a:rPr>
              <a:t>Hours now: 22</a:t>
            </a:r>
          </a:p>
          <a:p>
            <a:pPr algn="l"/>
            <a:r>
              <a:rPr lang="en-US" sz="1600" b="0" i="0">
                <a:solidFill>
                  <a:srgbClr val="E9EAEE"/>
                </a:solidFill>
                <a:latin typeface="Consolas"/>
              </a:rPr>
              <a:t>Minutes now: 45</a:t>
            </a:r>
          </a:p>
          <a:p>
            <a:pPr algn="l"/>
            <a:r>
              <a:rPr lang="en-US" sz="1600" b="0" i="0">
                <a:solidFill>
                  <a:srgbClr val="E9EAEE"/>
                </a:solidFill>
                <a:latin typeface="Consolas"/>
              </a:rPr>
              <a:t>Duration in minutes: 150</a:t>
            </a:r>
          </a:p>
          <a:p>
            <a:pPr algn="l"/>
            <a:r>
              <a:rPr lang="en-US" sz="1600" b="0" i="0">
                <a:solidFill>
                  <a:srgbClr val="E9EAEE"/>
                </a:solidFill>
                <a:latin typeface="Consolas"/>
              </a:rPr>
              <a:t>Ends at 1:15</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29 - Solution - Extra 1, expansion: always two digits">
    <p:spTree>
      <p:nvGrpSpPr>
        <p:cNvPr id="1" name=""/>
        <p:cNvGrpSpPr/>
        <p:nvPr/>
      </p:nvGrpSpPr>
      <p:grpSpPr>
        <a:xfrm>
          <a:off x="0" y="0"/>
          <a:ext cx="0" cy="0"/>
          <a:chOff x="0" y="0"/>
          <a:chExt cx="0" cy="0"/>
        </a:xfrm>
      </p:grpSpPr>
      <p:sp>
        <p:nvSpPr>
          <p:cNvPr id="2" name="Slide number"/>
          <p:cNvSpPr txBox="1"/>
          <p:nvPr/>
        </p:nvSpPr>
        <p:spPr>
          <a:xfrm>
            <a:off x="11430000" y="6446520"/>
            <a:ext cx="548640" cy="320040"/>
          </a:xfrm>
          <a:prstGeom prst="rect">
            <a:avLst/>
          </a:prstGeom>
          <a:noFill/>
        </p:spPr>
        <p:txBody>
          <a:bodyPr wrap="none" lIns="0" tIns="0" rIns="0" bIns="0" anchor="ctr">
            <a:spAutoFit/>
          </a:bodyPr>
          <a:lstStyle/>
          <a:p>
            <a:pPr algn="r"/>
            <a:fld id="{007A6A40-1A7B-4A1B-9D78-D7D11C5A8472}" type="slidenum">
              <a:rPr lang="en-US" sz="1200">
                <a:solidFill>
                  <a:srgbClr val="1B3A5C"/>
                </a:solidFill>
                <a:latin typeface="Raleway"/>
              </a:rPr>
              <a:t>32</a:t>
            </a:fld>
            <a:endParaRPr lang="en-US" sz="1200">
              <a:solidFill>
                <a:srgbClr val="1B3A5C"/>
              </a:solidFill>
              <a:latin typeface="Raleway"/>
            </a:endParaRPr>
          </a:p>
        </p:txBody>
      </p:sp>
      <p:sp>
        <p:nvSpPr>
          <p:cNvPr id="3" name="Title"/>
          <p:cNvSpPr txBox="1"/>
          <p:nvPr/>
        </p:nvSpPr>
        <p:spPr>
          <a:xfrm>
            <a:off x="640080" y="502920"/>
            <a:ext cx="11411712" cy="822960"/>
          </a:xfrm>
          <a:prstGeom prst="rect">
            <a:avLst/>
          </a:prstGeom>
          <a:noFill/>
        </p:spPr>
        <p:txBody>
          <a:bodyPr wrap="square" lIns="0" tIns="0" rIns="0" bIns="0" anchor="ctr">
            <a:noAutofit/>
          </a:bodyPr>
          <a:lstStyle/>
          <a:p>
            <a:pPr algn="l"/>
            <a:r>
              <a:rPr lang="en-US" sz="4000" b="1" i="0">
                <a:solidFill>
                  <a:srgbClr val="1F4E79"/>
                </a:solidFill>
                <a:latin typeface="Raleway"/>
              </a:rPr>
              <a:t>Extra 1, expansion: always two digits</a:t>
            </a:r>
          </a:p>
        </p:txBody>
      </p:sp>
      <p:sp>
        <p:nvSpPr>
          <p:cNvPr id="4" name="Code card"/>
          <p:cNvSpPr/>
          <p:nvPr/>
        </p:nvSpPr>
        <p:spPr>
          <a:xfrm>
            <a:off x="640080" y="1508760"/>
            <a:ext cx="6766560" cy="3377184"/>
          </a:xfrm>
          <a:prstGeom prst="roundRect">
            <a:avLst>
              <a:gd name="adj" fmla="val 4000"/>
            </a:avLst>
          </a:prstGeom>
          <a:solidFill>
            <a:srgbClr val="111318"/>
          </a:solidFill>
          <a:ln w="12700">
            <a:solidFill>
              <a:srgbClr val="D8DBE0"/>
            </a:solidFill>
          </a:ln>
        </p:spPr>
        <p:txBody>
          <a:bodyPr rtlCol="0" anchor="ctr"/>
          <a:lstStyle/>
          <a:p>
            <a:endParaRPr/>
          </a:p>
        </p:txBody>
      </p:sp>
      <p:sp>
        <p:nvSpPr>
          <p:cNvPr id="5" name="Code card header"/>
          <p:cNvSpPr/>
          <p:nvPr/>
        </p:nvSpPr>
        <p:spPr>
          <a:xfrm>
            <a:off x="640080" y="1508760"/>
            <a:ext cx="6766560" cy="384048"/>
          </a:xfrm>
          <a:prstGeom prst="roundRect">
            <a:avLst>
              <a:gd name="adj" fmla="val 10000"/>
            </a:avLst>
          </a:prstGeom>
          <a:solidFill>
            <a:srgbClr val="1B1E26"/>
          </a:solidFill>
          <a:ln w="12700">
            <a:solidFill>
              <a:srgbClr val="D8DBE0"/>
            </a:solidFill>
          </a:ln>
        </p:spPr>
        <p:txBody>
          <a:bodyPr rtlCol="0" anchor="ctr"/>
          <a:lstStyle/>
          <a:p>
            <a:endParaRPr/>
          </a:p>
        </p:txBody>
      </p:sp>
      <p:sp>
        <p:nvSpPr>
          <p:cNvPr id="6" name="Code card header fill"/>
          <p:cNvSpPr/>
          <p:nvPr/>
        </p:nvSpPr>
        <p:spPr>
          <a:xfrm>
            <a:off x="658368" y="1700784"/>
            <a:ext cx="6729984" cy="192024"/>
          </a:xfrm>
          <a:prstGeom prst="rect">
            <a:avLst/>
          </a:prstGeom>
          <a:solidFill>
            <a:srgbClr val="1B1E26"/>
          </a:solidFill>
          <a:ln>
            <a:noFill/>
          </a:ln>
        </p:spPr>
        <p:txBody>
          <a:bodyPr rtlCol="0" anchor="ctr"/>
          <a:lstStyle/>
          <a:p>
            <a:endParaRPr/>
          </a:p>
        </p:txBody>
      </p:sp>
      <p:sp>
        <p:nvSpPr>
          <p:cNvPr id="7" name="Oval 6"/>
          <p:cNvSpPr/>
          <p:nvPr/>
        </p:nvSpPr>
        <p:spPr>
          <a:xfrm>
            <a:off x="868680" y="1645919"/>
            <a:ext cx="118872" cy="118872"/>
          </a:xfrm>
          <a:prstGeom prst="ellipse">
            <a:avLst/>
          </a:prstGeom>
          <a:solidFill>
            <a:srgbClr val="FF6B6B"/>
          </a:solidFill>
          <a:ln>
            <a:noFill/>
          </a:ln>
        </p:spPr>
        <p:txBody>
          <a:bodyPr rtlCol="0" anchor="ctr"/>
          <a:lstStyle/>
          <a:p>
            <a:pPr algn="ctr"/>
            <a:endParaRPr/>
          </a:p>
        </p:txBody>
      </p:sp>
      <p:sp>
        <p:nvSpPr>
          <p:cNvPr id="8" name="Oval 7"/>
          <p:cNvSpPr/>
          <p:nvPr/>
        </p:nvSpPr>
        <p:spPr>
          <a:xfrm>
            <a:off x="1143000" y="1645919"/>
            <a:ext cx="118872" cy="118872"/>
          </a:xfrm>
          <a:prstGeom prst="ellipse">
            <a:avLst/>
          </a:prstGeom>
          <a:solidFill>
            <a:srgbClr val="FFD94A"/>
          </a:solidFill>
          <a:ln>
            <a:noFill/>
          </a:ln>
        </p:spPr>
        <p:txBody>
          <a:bodyPr rtlCol="0" anchor="ctr"/>
          <a:lstStyle/>
          <a:p>
            <a:pPr algn="ctr"/>
            <a:endParaRPr/>
          </a:p>
        </p:txBody>
      </p:sp>
      <p:sp>
        <p:nvSpPr>
          <p:cNvPr id="9" name="Oval 8"/>
          <p:cNvSpPr/>
          <p:nvPr/>
        </p:nvSpPr>
        <p:spPr>
          <a:xfrm>
            <a:off x="1417319" y="1645919"/>
            <a:ext cx="118872" cy="118872"/>
          </a:xfrm>
          <a:prstGeom prst="ellipse">
            <a:avLst/>
          </a:prstGeom>
          <a:solidFill>
            <a:srgbClr val="8FE3AB"/>
          </a:solidFill>
          <a:ln>
            <a:noFill/>
          </a:ln>
        </p:spPr>
        <p:txBody>
          <a:bodyPr rtlCol="0" anchor="ctr"/>
          <a:lstStyle/>
          <a:p>
            <a:pPr algn="ctr"/>
            <a:endParaRPr/>
          </a:p>
        </p:txBody>
      </p:sp>
      <p:sp>
        <p:nvSpPr>
          <p:cNvPr id="10" name="Filename"/>
          <p:cNvSpPr txBox="1"/>
          <p:nvPr/>
        </p:nvSpPr>
        <p:spPr>
          <a:xfrm>
            <a:off x="1828800" y="1508760"/>
            <a:ext cx="5394960" cy="384048"/>
          </a:xfrm>
          <a:prstGeom prst="rect">
            <a:avLst/>
          </a:prstGeom>
          <a:noFill/>
        </p:spPr>
        <p:txBody>
          <a:bodyPr wrap="square" lIns="0" tIns="0" rIns="0" bIns="0" anchor="ctr">
            <a:noAutofit/>
          </a:bodyPr>
          <a:lstStyle/>
          <a:p>
            <a:pPr algn="l"/>
            <a:r>
              <a:rPr lang="en-US" sz="1200" b="0" i="0">
                <a:solidFill>
                  <a:srgbClr val="E9EAEE"/>
                </a:solidFill>
                <a:latin typeface="Consolas"/>
              </a:rPr>
              <a:t>clock_two_digits.py</a:t>
            </a:r>
          </a:p>
        </p:txBody>
      </p:sp>
      <p:sp>
        <p:nvSpPr>
          <p:cNvPr id="11" name="Code"/>
          <p:cNvSpPr txBox="1"/>
          <p:nvPr/>
        </p:nvSpPr>
        <p:spPr>
          <a:xfrm>
            <a:off x="1005840" y="2002536"/>
            <a:ext cx="6126480" cy="2791968"/>
          </a:xfrm>
          <a:prstGeom prst="rect">
            <a:avLst/>
          </a:prstGeom>
          <a:noFill/>
        </p:spPr>
        <p:txBody>
          <a:bodyPr wrap="none" lIns="0" tIns="0" rIns="0" bIns="0" anchor="t">
            <a:noAutofit/>
          </a:bodyPr>
          <a:lstStyle/>
          <a:p>
            <a:pPr algn="l"/>
            <a:r>
              <a:rPr lang="en-US" sz="1600" b="0" i="0">
                <a:solidFill>
                  <a:srgbClr val="E9EAEE"/>
                </a:solidFill>
                <a:latin typeface="Consolas"/>
              </a:rPr>
              <a:t>hours = </a:t>
            </a:r>
            <a:r>
              <a:rPr lang="en-US" sz="1600" b="0" i="0">
                <a:solidFill>
                  <a:srgbClr val="F5B759"/>
                </a:solidFill>
                <a:latin typeface="Consolas"/>
              </a:rPr>
              <a:t>int</a:t>
            </a:r>
            <a:r>
              <a:rPr lang="en-US" sz="1600" b="0" i="0">
                <a:solidFill>
                  <a:srgbClr val="E9EAEE"/>
                </a:solidFill>
                <a:latin typeface="Consolas"/>
              </a:rPr>
              <a:t>(</a:t>
            </a:r>
            <a:r>
              <a:rPr lang="en-US" sz="1600" b="0" i="0">
                <a:solidFill>
                  <a:srgbClr val="F5B759"/>
                </a:solidFill>
                <a:latin typeface="Consolas"/>
              </a:rPr>
              <a:t>input</a:t>
            </a:r>
            <a:r>
              <a:rPr lang="en-US" sz="1600" b="0" i="0">
                <a:solidFill>
                  <a:srgbClr val="E9EAEE"/>
                </a:solidFill>
                <a:latin typeface="Consolas"/>
              </a:rPr>
              <a:t>("Hours now: "))</a:t>
            </a:r>
          </a:p>
          <a:p>
            <a:pPr algn="l"/>
            <a:r>
              <a:rPr lang="en-US" sz="1600" b="0" i="0">
                <a:solidFill>
                  <a:srgbClr val="E9EAEE"/>
                </a:solidFill>
                <a:latin typeface="Consolas"/>
              </a:rPr>
              <a:t>minutes = </a:t>
            </a:r>
            <a:r>
              <a:rPr lang="en-US" sz="1600" b="0" i="0">
                <a:solidFill>
                  <a:srgbClr val="F5B759"/>
                </a:solidFill>
                <a:latin typeface="Consolas"/>
              </a:rPr>
              <a:t>int</a:t>
            </a:r>
            <a:r>
              <a:rPr lang="en-US" sz="1600" b="0" i="0">
                <a:solidFill>
                  <a:srgbClr val="E9EAEE"/>
                </a:solidFill>
                <a:latin typeface="Consolas"/>
              </a:rPr>
              <a:t>(</a:t>
            </a:r>
            <a:r>
              <a:rPr lang="en-US" sz="1600" b="0" i="0">
                <a:solidFill>
                  <a:srgbClr val="F5B759"/>
                </a:solidFill>
                <a:latin typeface="Consolas"/>
              </a:rPr>
              <a:t>input</a:t>
            </a:r>
            <a:r>
              <a:rPr lang="en-US" sz="1600" b="0" i="0">
                <a:solidFill>
                  <a:srgbClr val="E9EAEE"/>
                </a:solidFill>
                <a:latin typeface="Consolas"/>
              </a:rPr>
              <a:t>("Minutes now: "))</a:t>
            </a:r>
          </a:p>
          <a:p>
            <a:pPr algn="l"/>
            <a:r>
              <a:rPr lang="en-US" sz="1600" b="0" i="0">
                <a:solidFill>
                  <a:srgbClr val="E9EAEE"/>
                </a:solidFill>
                <a:latin typeface="Consolas"/>
              </a:rPr>
              <a:t>duration = </a:t>
            </a:r>
            <a:r>
              <a:rPr lang="en-US" sz="1600" b="0" i="0">
                <a:solidFill>
                  <a:srgbClr val="F5B759"/>
                </a:solidFill>
                <a:latin typeface="Consolas"/>
              </a:rPr>
              <a:t>int</a:t>
            </a:r>
            <a:r>
              <a:rPr lang="en-US" sz="1600" b="0" i="0">
                <a:solidFill>
                  <a:srgbClr val="E9EAEE"/>
                </a:solidFill>
                <a:latin typeface="Consolas"/>
              </a:rPr>
              <a:t>(</a:t>
            </a:r>
            <a:r>
              <a:rPr lang="en-US" sz="1600" b="0" i="0">
                <a:solidFill>
                  <a:srgbClr val="F5B759"/>
                </a:solidFill>
                <a:latin typeface="Consolas"/>
              </a:rPr>
              <a:t>input</a:t>
            </a:r>
            <a:r>
              <a:rPr lang="en-US" sz="1600" b="0" i="0">
                <a:solidFill>
                  <a:srgbClr val="E9EAEE"/>
                </a:solidFill>
                <a:latin typeface="Consolas"/>
              </a:rPr>
              <a:t>("Duration in minutes: "))</a:t>
            </a:r>
          </a:p>
          <a:p>
            <a:pPr algn="l"/>
            <a:endParaRPr lang="en-US" sz="1600" b="0" i="0">
              <a:solidFill>
                <a:srgbClr val="E9EAEE"/>
              </a:solidFill>
              <a:latin typeface="Consolas"/>
            </a:endParaRPr>
          </a:p>
          <a:p>
            <a:pPr algn="l"/>
            <a:r>
              <a:rPr lang="en-US" sz="1600" b="0" i="0">
                <a:solidFill>
                  <a:srgbClr val="E9EAEE"/>
                </a:solidFill>
                <a:latin typeface="Consolas"/>
              </a:rPr>
              <a:t>total = hours * 60 + minutes + duration</a:t>
            </a:r>
          </a:p>
          <a:p>
            <a:pPr algn="l"/>
            <a:r>
              <a:rPr lang="en-US" sz="1600" b="0" i="0">
                <a:solidFill>
                  <a:srgbClr val="E9EAEE"/>
                </a:solidFill>
                <a:latin typeface="Consolas"/>
              </a:rPr>
              <a:t>end_hours = (total // 60) % 24</a:t>
            </a:r>
          </a:p>
          <a:p>
            <a:pPr algn="l"/>
            <a:r>
              <a:rPr lang="en-US" sz="1600" b="0" i="0">
                <a:solidFill>
                  <a:srgbClr val="E9EAEE"/>
                </a:solidFill>
                <a:latin typeface="Consolas"/>
              </a:rPr>
              <a:t>end_minutes = total % 60</a:t>
            </a:r>
          </a:p>
          <a:p>
            <a:pPr algn="l"/>
            <a:endParaRPr lang="en-US" sz="1600" b="0" i="0">
              <a:solidFill>
                <a:srgbClr val="E9EAEE"/>
              </a:solidFill>
              <a:latin typeface="Consolas"/>
            </a:endParaRPr>
          </a:p>
          <a:p>
            <a:pPr algn="l"/>
            <a:r>
              <a:rPr lang="en-US" sz="1600" b="0" i="0">
                <a:solidFill>
                  <a:srgbClr val="E9EAEE"/>
                </a:solidFill>
                <a:latin typeface="Consolas"/>
              </a:rPr>
              <a:t>tens = end_minutes // 10</a:t>
            </a:r>
          </a:p>
          <a:p>
            <a:pPr algn="l"/>
            <a:r>
              <a:rPr lang="en-US" sz="1600" b="0" i="0">
                <a:solidFill>
                  <a:srgbClr val="E9EAEE"/>
                </a:solidFill>
                <a:latin typeface="Consolas"/>
              </a:rPr>
              <a:t>ones = end_minutes % 10</a:t>
            </a:r>
          </a:p>
          <a:p>
            <a:pPr algn="l"/>
            <a:r>
              <a:rPr lang="en-US" sz="1600" b="0" i="0">
                <a:solidFill>
                  <a:srgbClr val="F5B759"/>
                </a:solidFill>
                <a:latin typeface="Consolas"/>
              </a:rPr>
              <a:t>print</a:t>
            </a:r>
            <a:r>
              <a:rPr lang="en-US" sz="1600" b="0" i="0">
                <a:solidFill>
                  <a:srgbClr val="E9EAEE"/>
                </a:solidFill>
                <a:latin typeface="Consolas"/>
              </a:rPr>
              <a:t>(f"Ends at {end_hours}:{tens}{ones}")</a:t>
            </a:r>
          </a:p>
        </p:txBody>
      </p:sp>
      <p:sp>
        <p:nvSpPr>
          <p:cNvPr id="12" name="Panel"/>
          <p:cNvSpPr/>
          <p:nvPr/>
        </p:nvSpPr>
        <p:spPr>
          <a:xfrm>
            <a:off x="7772400" y="1508760"/>
            <a:ext cx="3776472" cy="2871216"/>
          </a:xfrm>
          <a:prstGeom prst="roundRect">
            <a:avLst>
              <a:gd name="adj" fmla="val 6000"/>
            </a:avLst>
          </a:prstGeom>
          <a:solidFill>
            <a:srgbClr val="F2F3F5"/>
          </a:solidFill>
          <a:ln w="12700">
            <a:solidFill>
              <a:srgbClr val="D8DBE0"/>
            </a:solidFill>
          </a:ln>
        </p:spPr>
        <p:txBody>
          <a:bodyPr rtlCol="0" anchor="ctr"/>
          <a:lstStyle/>
          <a:p>
            <a:endParaRPr/>
          </a:p>
        </p:txBody>
      </p:sp>
      <p:sp>
        <p:nvSpPr>
          <p:cNvPr id="13" name="Panel text"/>
          <p:cNvSpPr txBox="1"/>
          <p:nvPr/>
        </p:nvSpPr>
        <p:spPr>
          <a:xfrm>
            <a:off x="7909560" y="1618488"/>
            <a:ext cx="3502152" cy="2651760"/>
          </a:xfrm>
          <a:prstGeom prst="rect">
            <a:avLst/>
          </a:prstGeom>
          <a:noFill/>
        </p:spPr>
        <p:txBody>
          <a:bodyPr wrap="square" lIns="0" tIns="0" rIns="0" bIns="0" anchor="t">
            <a:noAutofit/>
          </a:bodyPr>
          <a:lstStyle/>
          <a:p>
            <a:pPr algn="l">
              <a:spcAft>
                <a:spcPts val="600"/>
              </a:spcAft>
            </a:pPr>
            <a:r>
              <a:rPr lang="en-US" sz="2200" b="0" i="0">
                <a:solidFill>
                  <a:srgbClr val="A64B00"/>
                </a:solidFill>
                <a:latin typeface="Raleway"/>
              </a:rPr>
              <a:t>Digits are units too</a:t>
            </a:r>
          </a:p>
          <a:p>
            <a:pPr marL="201168" indent="-201168" algn="l">
              <a:spcAft>
                <a:spcPts val="600"/>
              </a:spcAft>
              <a:buSzPct val="65000"/>
              <a:buFont typeface="Arial" panose="020B0604020202020204" pitchFamily="34" charset="0"/>
              <a:buChar char="•"/>
            </a:pPr>
            <a:r>
              <a:rPr lang="en-US" sz="1600" b="0" i="0">
                <a:solidFill>
                  <a:srgbClr val="A64B00"/>
                </a:solidFill>
                <a:latin typeface="Raleway"/>
              </a:rPr>
              <a:t>Tens and ones:</a:t>
            </a:r>
            <a:r>
              <a:rPr lang="en-US" sz="1600" b="0" i="0">
                <a:solidFill>
                  <a:srgbClr val="1D2433"/>
                </a:solidFill>
                <a:latin typeface="Raleway"/>
              </a:rPr>
              <a:t> </a:t>
            </a:r>
            <a:r>
              <a:rPr lang="en-US" sz="1600" b="0" i="0">
                <a:solidFill>
                  <a:srgbClr val="1D2433"/>
                </a:solidFill>
                <a:latin typeface="Consolas"/>
              </a:rPr>
              <a:t>// 10</a:t>
            </a:r>
            <a:r>
              <a:rPr lang="en-US" sz="1600" b="0" i="0">
                <a:solidFill>
                  <a:srgbClr val="1D2433"/>
                </a:solidFill>
                <a:latin typeface="Raleway"/>
              </a:rPr>
              <a:t> and </a:t>
            </a:r>
            <a:r>
              <a:rPr lang="en-US" sz="1600" b="0" i="0">
                <a:solidFill>
                  <a:srgbClr val="1D2433"/>
                </a:solidFill>
                <a:latin typeface="Consolas"/>
              </a:rPr>
              <a:t>% 10</a:t>
            </a:r>
            <a:r>
              <a:rPr lang="en-US" sz="1600" b="0" i="0">
                <a:solidFill>
                  <a:srgbClr val="1D2433"/>
                </a:solidFill>
                <a:latin typeface="Raleway"/>
              </a:rPr>
              <a:t> split a number below 100 into its two digits</a:t>
            </a:r>
          </a:p>
          <a:p>
            <a:pPr marL="201168" indent="-201168" algn="l">
              <a:spcAft>
                <a:spcPts val="600"/>
              </a:spcAft>
              <a:buSzPct val="65000"/>
              <a:buFont typeface="Arial" panose="020B0604020202020204" pitchFamily="34" charset="0"/>
              <a:buChar char="•"/>
            </a:pPr>
            <a:r>
              <a:rPr lang="en-US" sz="1600" b="0" i="0">
                <a:solidFill>
                  <a:srgbClr val="A64B00"/>
                </a:solidFill>
                <a:latin typeface="Raleway"/>
              </a:rPr>
              <a:t>Printing them side by side:</a:t>
            </a:r>
            <a:r>
              <a:rPr lang="en-US" sz="1600" b="0" i="0">
                <a:solidFill>
                  <a:srgbClr val="1D2433"/>
                </a:solidFill>
                <a:latin typeface="Raleway"/>
              </a:rPr>
              <a:t> </a:t>
            </a:r>
            <a:r>
              <a:rPr lang="en-US" sz="1600" b="0" i="0">
                <a:solidFill>
                  <a:srgbClr val="1D2433"/>
                </a:solidFill>
                <a:latin typeface="Consolas"/>
              </a:rPr>
              <a:t>{tens}{ones}</a:t>
            </a:r>
            <a:r>
              <a:rPr lang="en-US" sz="1600" b="0" i="0">
                <a:solidFill>
                  <a:srgbClr val="1D2433"/>
                </a:solidFill>
                <a:latin typeface="Raleway"/>
              </a:rPr>
              <a:t> with nothing in between</a:t>
            </a:r>
          </a:p>
          <a:p>
            <a:pPr marL="201168" indent="-201168" algn="l">
              <a:spcAft>
                <a:spcPts val="600"/>
              </a:spcAft>
              <a:buSzPct val="65000"/>
              <a:buFont typeface="Arial" panose="020B0604020202020204" pitchFamily="34" charset="0"/>
              <a:buChar char="•"/>
            </a:pPr>
            <a:r>
              <a:rPr lang="en-US" sz="1600" b="0" i="0">
                <a:solidFill>
                  <a:srgbClr val="A64B00"/>
                </a:solidFill>
                <a:latin typeface="Raleway"/>
              </a:rPr>
              <a:t>9:</a:t>
            </a:r>
            <a:r>
              <a:rPr lang="en-US" sz="1600" b="0" i="0">
                <a:solidFill>
                  <a:srgbClr val="1D2433"/>
                </a:solidFill>
                <a:latin typeface="Raleway"/>
              </a:rPr>
              <a:t>05 now prints as 9:05 - and 9:30 still prints as 9:30</a:t>
            </a:r>
          </a:p>
        </p:txBody>
      </p:sp>
      <p:sp>
        <p:nvSpPr>
          <p:cNvPr id="14" name="Terminal"/>
          <p:cNvSpPr/>
          <p:nvPr/>
        </p:nvSpPr>
        <p:spPr>
          <a:xfrm>
            <a:off x="7772400" y="4608576"/>
            <a:ext cx="3776472" cy="1670304"/>
          </a:xfrm>
          <a:prstGeom prst="roundRect">
            <a:avLst>
              <a:gd name="adj" fmla="val 4000"/>
            </a:avLst>
          </a:prstGeom>
          <a:solidFill>
            <a:srgbClr val="111318"/>
          </a:solidFill>
          <a:ln w="12700">
            <a:solidFill>
              <a:srgbClr val="D8DBE0"/>
            </a:solidFill>
          </a:ln>
        </p:spPr>
        <p:txBody>
          <a:bodyPr rtlCol="0" anchor="ctr"/>
          <a:lstStyle/>
          <a:p>
            <a:endParaRPr/>
          </a:p>
        </p:txBody>
      </p:sp>
      <p:sp>
        <p:nvSpPr>
          <p:cNvPr id="15" name="Terminal header"/>
          <p:cNvSpPr/>
          <p:nvPr/>
        </p:nvSpPr>
        <p:spPr>
          <a:xfrm>
            <a:off x="7772400" y="4608576"/>
            <a:ext cx="3776472" cy="384048"/>
          </a:xfrm>
          <a:prstGeom prst="roundRect">
            <a:avLst>
              <a:gd name="adj" fmla="val 10000"/>
            </a:avLst>
          </a:prstGeom>
          <a:solidFill>
            <a:srgbClr val="1B1E26"/>
          </a:solidFill>
          <a:ln w="12700">
            <a:solidFill>
              <a:srgbClr val="D8DBE0"/>
            </a:solidFill>
          </a:ln>
        </p:spPr>
        <p:txBody>
          <a:bodyPr rtlCol="0" anchor="ctr"/>
          <a:lstStyle/>
          <a:p>
            <a:endParaRPr/>
          </a:p>
        </p:txBody>
      </p:sp>
      <p:sp>
        <p:nvSpPr>
          <p:cNvPr id="16" name="Terminal header fill"/>
          <p:cNvSpPr/>
          <p:nvPr/>
        </p:nvSpPr>
        <p:spPr>
          <a:xfrm>
            <a:off x="7790688" y="4800600"/>
            <a:ext cx="3739896" cy="192024"/>
          </a:xfrm>
          <a:prstGeom prst="rect">
            <a:avLst/>
          </a:prstGeom>
          <a:solidFill>
            <a:srgbClr val="1B1E26"/>
          </a:solidFill>
          <a:ln>
            <a:noFill/>
          </a:ln>
        </p:spPr>
        <p:txBody>
          <a:bodyPr rtlCol="0" anchor="ctr"/>
          <a:lstStyle/>
          <a:p>
            <a:endParaRPr/>
          </a:p>
        </p:txBody>
      </p:sp>
      <p:sp>
        <p:nvSpPr>
          <p:cNvPr id="17" name="Terminal label"/>
          <p:cNvSpPr txBox="1"/>
          <p:nvPr/>
        </p:nvSpPr>
        <p:spPr>
          <a:xfrm>
            <a:off x="8046720" y="4608576"/>
            <a:ext cx="3319272" cy="384048"/>
          </a:xfrm>
          <a:prstGeom prst="rect">
            <a:avLst/>
          </a:prstGeom>
          <a:noFill/>
        </p:spPr>
        <p:txBody>
          <a:bodyPr wrap="square" lIns="0" tIns="0" rIns="0" bIns="0" anchor="ctr">
            <a:noAutofit/>
          </a:bodyPr>
          <a:lstStyle/>
          <a:p>
            <a:pPr algn="l"/>
            <a:r>
              <a:rPr lang="en-US" sz="1200" b="0" i="0">
                <a:solidFill>
                  <a:srgbClr val="E9EAEE"/>
                </a:solidFill>
                <a:latin typeface="Consolas"/>
              </a:rPr>
              <a:t>python clock_two_digits.py</a:t>
            </a:r>
          </a:p>
        </p:txBody>
      </p:sp>
      <p:sp>
        <p:nvSpPr>
          <p:cNvPr id="18" name="Output"/>
          <p:cNvSpPr txBox="1"/>
          <p:nvPr/>
        </p:nvSpPr>
        <p:spPr>
          <a:xfrm>
            <a:off x="8046720" y="5120640"/>
            <a:ext cx="3319272" cy="1066799"/>
          </a:xfrm>
          <a:prstGeom prst="rect">
            <a:avLst/>
          </a:prstGeom>
          <a:noFill/>
        </p:spPr>
        <p:txBody>
          <a:bodyPr wrap="none" lIns="0" tIns="0" rIns="0" bIns="0" anchor="t">
            <a:noAutofit/>
          </a:bodyPr>
          <a:lstStyle/>
          <a:p>
            <a:pPr algn="l"/>
            <a:r>
              <a:rPr lang="en-US" sz="1600" b="0" i="0">
                <a:solidFill>
                  <a:srgbClr val="E9EAEE"/>
                </a:solidFill>
                <a:latin typeface="Consolas"/>
              </a:rPr>
              <a:t>Hours now: 9</a:t>
            </a:r>
          </a:p>
          <a:p>
            <a:pPr algn="l"/>
            <a:r>
              <a:rPr lang="en-US" sz="1600" b="0" i="0">
                <a:solidFill>
                  <a:srgbClr val="E9EAEE"/>
                </a:solidFill>
                <a:latin typeface="Consolas"/>
              </a:rPr>
              <a:t>Minutes now: 0</a:t>
            </a:r>
          </a:p>
          <a:p>
            <a:pPr algn="l"/>
            <a:r>
              <a:rPr lang="en-US" sz="1600" b="0" i="0">
                <a:solidFill>
                  <a:srgbClr val="E9EAEE"/>
                </a:solidFill>
                <a:latin typeface="Consolas"/>
              </a:rPr>
              <a:t>Duration in minutes: 5</a:t>
            </a:r>
          </a:p>
          <a:p>
            <a:pPr algn="l"/>
            <a:r>
              <a:rPr lang="en-US" sz="1600" b="0" i="0">
                <a:solidFill>
                  <a:srgbClr val="E9EAEE"/>
                </a:solidFill>
                <a:latin typeface="Consolas"/>
              </a:rPr>
              <a:t>Ends at 9:05</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30 - Exercise - Extra 2: Four digits">
    <p:spTree>
      <p:nvGrpSpPr>
        <p:cNvPr id="1" name=""/>
        <p:cNvGrpSpPr/>
        <p:nvPr/>
      </p:nvGrpSpPr>
      <p:grpSpPr>
        <a:xfrm>
          <a:off x="0" y="0"/>
          <a:ext cx="0" cy="0"/>
          <a:chOff x="0" y="0"/>
          <a:chExt cx="0" cy="0"/>
        </a:xfrm>
      </p:grpSpPr>
      <p:sp>
        <p:nvSpPr>
          <p:cNvPr id="2" name="Slide number"/>
          <p:cNvSpPr txBox="1"/>
          <p:nvPr/>
        </p:nvSpPr>
        <p:spPr>
          <a:xfrm>
            <a:off x="11430000" y="6446520"/>
            <a:ext cx="548640" cy="320040"/>
          </a:xfrm>
          <a:prstGeom prst="rect">
            <a:avLst/>
          </a:prstGeom>
          <a:noFill/>
        </p:spPr>
        <p:txBody>
          <a:bodyPr wrap="none" lIns="0" tIns="0" rIns="0" bIns="0" anchor="ctr">
            <a:spAutoFit/>
          </a:bodyPr>
          <a:lstStyle/>
          <a:p>
            <a:pPr algn="r"/>
            <a:fld id="{007A6A40-1A7B-4A1B-9D78-D7D11C5A8472}" type="slidenum">
              <a:rPr lang="en-US" sz="1200">
                <a:solidFill>
                  <a:srgbClr val="1B3A5C"/>
                </a:solidFill>
                <a:latin typeface="Raleway"/>
              </a:rPr>
              <a:t>33</a:t>
            </a:fld>
            <a:endParaRPr lang="en-US" sz="1200">
              <a:solidFill>
                <a:srgbClr val="1B3A5C"/>
              </a:solidFill>
              <a:latin typeface="Raleway"/>
            </a:endParaRPr>
          </a:p>
        </p:txBody>
      </p:sp>
      <p:sp>
        <p:nvSpPr>
          <p:cNvPr id="3" name="Title"/>
          <p:cNvSpPr txBox="1"/>
          <p:nvPr/>
        </p:nvSpPr>
        <p:spPr>
          <a:xfrm>
            <a:off x="640080" y="502920"/>
            <a:ext cx="11411712" cy="822960"/>
          </a:xfrm>
          <a:prstGeom prst="rect">
            <a:avLst/>
          </a:prstGeom>
          <a:noFill/>
        </p:spPr>
        <p:txBody>
          <a:bodyPr wrap="square" lIns="0" tIns="0" rIns="0" bIns="0" anchor="ctr">
            <a:noAutofit/>
          </a:bodyPr>
          <a:lstStyle/>
          <a:p>
            <a:pPr algn="l"/>
            <a:r>
              <a:rPr lang="en-US" sz="4000" b="1" i="0">
                <a:solidFill>
                  <a:srgbClr val="1F4E79"/>
                </a:solidFill>
                <a:latin typeface="Raleway"/>
              </a:rPr>
              <a:t>Extra 2: Four digits</a:t>
            </a:r>
          </a:p>
        </p:txBody>
      </p:sp>
      <p:sp>
        <p:nvSpPr>
          <p:cNvPr id="4" name="Strip Warm-up"/>
          <p:cNvSpPr/>
          <p:nvPr/>
        </p:nvSpPr>
        <p:spPr>
          <a:xfrm>
            <a:off x="640080" y="1389888"/>
            <a:ext cx="928116"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Warm-up</a:t>
            </a:r>
          </a:p>
        </p:txBody>
      </p:sp>
      <p:sp>
        <p:nvSpPr>
          <p:cNvPr id="5" name="Strip Receipt &amp; time"/>
          <p:cNvSpPr/>
          <p:nvPr/>
        </p:nvSpPr>
        <p:spPr>
          <a:xfrm>
            <a:off x="1677924" y="1389888"/>
            <a:ext cx="1472184"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Receipt &amp; time</a:t>
            </a:r>
          </a:p>
        </p:txBody>
      </p:sp>
      <p:sp>
        <p:nvSpPr>
          <p:cNvPr id="6" name="Strip Bugs"/>
          <p:cNvSpPr/>
          <p:nvPr/>
        </p:nvSpPr>
        <p:spPr>
          <a:xfrm>
            <a:off x="3259836" y="1389888"/>
            <a:ext cx="694944"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Bugs</a:t>
            </a:r>
          </a:p>
        </p:txBody>
      </p:sp>
      <p:sp>
        <p:nvSpPr>
          <p:cNvPr id="7" name="Strip Booleans"/>
          <p:cNvSpPr/>
          <p:nvPr/>
        </p:nvSpPr>
        <p:spPr>
          <a:xfrm>
            <a:off x="4064508" y="1389888"/>
            <a:ext cx="1005840"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Booleans</a:t>
            </a:r>
          </a:p>
        </p:txBody>
      </p:sp>
      <p:sp>
        <p:nvSpPr>
          <p:cNvPr id="8" name="Strip Randomness"/>
          <p:cNvSpPr/>
          <p:nvPr/>
        </p:nvSpPr>
        <p:spPr>
          <a:xfrm>
            <a:off x="5180076" y="1389888"/>
            <a:ext cx="1161288"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Randomness</a:t>
            </a:r>
          </a:p>
        </p:txBody>
      </p:sp>
      <p:sp>
        <p:nvSpPr>
          <p:cNvPr id="9" name="Strip Extra"/>
          <p:cNvSpPr/>
          <p:nvPr/>
        </p:nvSpPr>
        <p:spPr>
          <a:xfrm>
            <a:off x="6451092" y="1389888"/>
            <a:ext cx="772668" cy="310896"/>
          </a:xfrm>
          <a:prstGeom prst="roundRect">
            <a:avLst>
              <a:gd name="adj" fmla="val 50000"/>
            </a:avLst>
          </a:prstGeom>
          <a:solidFill>
            <a:srgbClr val="A64B00"/>
          </a:solidFill>
          <a:ln w="12700">
            <a:solidFill>
              <a:srgbClr val="A64B00"/>
            </a:solidFill>
          </a:ln>
        </p:spPr>
        <p:txBody>
          <a:bodyPr lIns="45720" tIns="0" rIns="45720" bIns="0" rtlCol="0" anchor="ctr"/>
          <a:lstStyle/>
          <a:p>
            <a:pPr algn="ctr"/>
            <a:r>
              <a:rPr lang="en-US" sz="1100" b="0" i="0">
                <a:solidFill>
                  <a:srgbClr val="FFFFFF"/>
                </a:solidFill>
                <a:latin typeface="Raleway"/>
              </a:rPr>
              <a:t>Extra</a:t>
            </a:r>
          </a:p>
        </p:txBody>
      </p:sp>
      <p:sp>
        <p:nvSpPr>
          <p:cNvPr id="10" name="Strip Wrap-up"/>
          <p:cNvSpPr/>
          <p:nvPr/>
        </p:nvSpPr>
        <p:spPr>
          <a:xfrm>
            <a:off x="7333488" y="1389888"/>
            <a:ext cx="928116" cy="310896"/>
          </a:xfrm>
          <a:prstGeom prst="roundRect">
            <a:avLst>
              <a:gd name="adj" fmla="val 50000"/>
            </a:avLst>
          </a:prstGeom>
          <a:solidFill>
            <a:srgbClr val="F2F3F5"/>
          </a:solidFill>
          <a:ln w="12700">
            <a:solidFill>
              <a:srgbClr val="D8DBE0"/>
            </a:solidFill>
          </a:ln>
        </p:spPr>
        <p:txBody>
          <a:bodyPr lIns="45720" tIns="0" rIns="45720" bIns="0" rtlCol="0" anchor="ctr"/>
          <a:lstStyle/>
          <a:p>
            <a:pPr algn="ctr"/>
            <a:r>
              <a:rPr lang="en-US" sz="1100" b="0" i="0">
                <a:solidFill>
                  <a:srgbClr val="44546A"/>
                </a:solidFill>
                <a:latin typeface="Raleway"/>
              </a:rPr>
              <a:t>Wrap-up</a:t>
            </a:r>
          </a:p>
        </p:txBody>
      </p:sp>
      <p:sp>
        <p:nvSpPr>
          <p:cNvPr id="11" name="Level"/>
          <p:cNvSpPr/>
          <p:nvPr/>
        </p:nvSpPr>
        <p:spPr>
          <a:xfrm>
            <a:off x="11137392" y="1362456"/>
            <a:ext cx="914400" cy="365760"/>
          </a:xfrm>
          <a:prstGeom prst="roundRect">
            <a:avLst>
              <a:gd name="adj" fmla="val 50000"/>
            </a:avLst>
          </a:prstGeom>
          <a:solidFill>
            <a:srgbClr val="FBE5D6"/>
          </a:solidFill>
          <a:ln w="12700">
            <a:solidFill>
              <a:srgbClr val="A64B00"/>
            </a:solidFill>
          </a:ln>
        </p:spPr>
        <p:txBody>
          <a:bodyPr lIns="73152" tIns="0" rIns="73152" bIns="0" rtlCol="0" anchor="ctr"/>
          <a:lstStyle/>
          <a:p>
            <a:pPr algn="ctr"/>
            <a:r>
              <a:rPr lang="en-US" sz="1200" b="0" i="0" spc="100">
                <a:solidFill>
                  <a:srgbClr val="843C0B"/>
                </a:solidFill>
                <a:latin typeface="Raleway"/>
              </a:rPr>
              <a:t>EXTRA</a:t>
            </a:r>
          </a:p>
        </p:txBody>
      </p:sp>
      <p:sp>
        <p:nvSpPr>
          <p:cNvPr id="12" name="Lead"/>
          <p:cNvSpPr txBox="1"/>
          <p:nvPr/>
        </p:nvSpPr>
        <p:spPr>
          <a:xfrm>
            <a:off x="640080" y="1965960"/>
            <a:ext cx="6035040" cy="1325880"/>
          </a:xfrm>
          <a:prstGeom prst="rect">
            <a:avLst/>
          </a:prstGeom>
          <a:noFill/>
        </p:spPr>
        <p:txBody>
          <a:bodyPr wrap="square" lIns="0" tIns="0" rIns="0" bIns="0" anchor="t">
            <a:noAutofit/>
          </a:bodyPr>
          <a:lstStyle/>
          <a:p>
            <a:pPr algn="l">
              <a:lnSpc>
                <a:spcPct val="110000"/>
              </a:lnSpc>
            </a:pPr>
            <a:r>
              <a:rPr lang="en-US" sz="2400" b="0" i="0">
                <a:solidFill>
                  <a:srgbClr val="A64B00"/>
                </a:solidFill>
                <a:latin typeface="Raleway"/>
              </a:rPr>
              <a:t>Task: read a four-digit number. Print its digits, their sum, and the number backwards.</a:t>
            </a:r>
          </a:p>
        </p:txBody>
      </p:sp>
      <p:sp>
        <p:nvSpPr>
          <p:cNvPr id="13" name="Task bullets"/>
          <p:cNvSpPr txBox="1"/>
          <p:nvPr/>
        </p:nvSpPr>
        <p:spPr>
          <a:xfrm>
            <a:off x="640080" y="3383280"/>
            <a:ext cx="6035040" cy="2788920"/>
          </a:xfrm>
          <a:prstGeom prst="rect">
            <a:avLst/>
          </a:prstGeom>
          <a:noFill/>
        </p:spPr>
        <p:txBody>
          <a:bodyPr wrap="square" lIns="0" tIns="0" rIns="0" bIns="0" anchor="t">
            <a:noAutofit/>
          </a:bodyPr>
          <a:lstStyle/>
          <a:p>
            <a:pPr marL="274320" indent="-274320" algn="l">
              <a:lnSpc>
                <a:spcPct val="114999"/>
              </a:lnSpc>
              <a:spcAft>
                <a:spcPts val="800"/>
              </a:spcAft>
              <a:buClr>
                <a:srgbClr val="A64B00"/>
              </a:buClr>
              <a:buSzPct val="65000"/>
              <a:buFont typeface="Arial" panose="020B0604020202020204" pitchFamily="34" charset="0"/>
              <a:buChar char="•"/>
            </a:pPr>
            <a:r>
              <a:rPr lang="en-US" sz="2200" b="0" i="0">
                <a:solidFill>
                  <a:srgbClr val="1D2433"/>
                </a:solidFill>
                <a:latin typeface="Raleway"/>
              </a:rPr>
              <a:t>4913 has the digits 4, 9, 1, 3; their sum is 17; backwards it is 3194</a:t>
            </a:r>
          </a:p>
          <a:p>
            <a:pPr marL="274320" indent="-274320" algn="l">
              <a:lnSpc>
                <a:spcPct val="114999"/>
              </a:lnSpc>
              <a:spcAft>
                <a:spcPts val="800"/>
              </a:spcAft>
              <a:buClr>
                <a:srgbClr val="A64B00"/>
              </a:buClr>
              <a:buSzPct val="65000"/>
              <a:buFont typeface="Arial" panose="020B0604020202020204" pitchFamily="34" charset="0"/>
              <a:buChar char="•"/>
            </a:pPr>
            <a:r>
              <a:rPr lang="en-US" sz="2200" b="0" i="0">
                <a:solidFill>
                  <a:srgbClr val="1D2433"/>
                </a:solidFill>
                <a:latin typeface="Raleway"/>
              </a:rPr>
              <a:t>Only </a:t>
            </a:r>
            <a:r>
              <a:rPr lang="en-US" sz="2200" b="0" i="0">
                <a:solidFill>
                  <a:srgbClr val="1D2433"/>
                </a:solidFill>
                <a:latin typeface="Consolas"/>
              </a:rPr>
              <a:t>//</a:t>
            </a:r>
            <a:r>
              <a:rPr lang="en-US" sz="2200" b="0" i="0">
                <a:solidFill>
                  <a:srgbClr val="1D2433"/>
                </a:solidFill>
                <a:latin typeface="Raleway"/>
              </a:rPr>
              <a:t>, </a:t>
            </a:r>
            <a:r>
              <a:rPr lang="en-US" sz="2200" b="0" i="0">
                <a:solidFill>
                  <a:srgbClr val="1D2433"/>
                </a:solidFill>
                <a:latin typeface="Consolas"/>
              </a:rPr>
              <a:t>%</a:t>
            </a:r>
            <a:r>
              <a:rPr lang="en-US" sz="2200" b="0" i="0">
                <a:solidFill>
                  <a:srgbClr val="1D2433"/>
                </a:solidFill>
                <a:latin typeface="Raleway"/>
              </a:rPr>
              <a:t>, </a:t>
            </a:r>
            <a:r>
              <a:rPr lang="en-US" sz="2200" b="0" i="0">
                <a:solidFill>
                  <a:srgbClr val="1D2433"/>
                </a:solidFill>
                <a:latin typeface="Consolas"/>
              </a:rPr>
              <a:t>*</a:t>
            </a:r>
            <a:r>
              <a:rPr lang="en-US" sz="2200" b="0" i="0">
                <a:solidFill>
                  <a:srgbClr val="1D2433"/>
                </a:solidFill>
                <a:latin typeface="Raleway"/>
              </a:rPr>
              <a:t> and </a:t>
            </a:r>
            <a:r>
              <a:rPr lang="en-US" sz="2200" b="0" i="0">
                <a:solidFill>
                  <a:srgbClr val="1D2433"/>
                </a:solidFill>
                <a:latin typeface="Consolas"/>
              </a:rPr>
              <a:t>+</a:t>
            </a:r>
            <a:r>
              <a:rPr lang="en-US" sz="2200" b="0" i="0">
                <a:solidFill>
                  <a:srgbClr val="1D2433"/>
                </a:solidFill>
                <a:latin typeface="Raleway"/>
              </a:rPr>
              <a:t> - no strings, no loops</a:t>
            </a:r>
          </a:p>
          <a:p>
            <a:pPr marL="274320" indent="-274320" algn="l">
              <a:lnSpc>
                <a:spcPct val="114999"/>
              </a:lnSpc>
              <a:spcAft>
                <a:spcPts val="800"/>
              </a:spcAft>
              <a:buClr>
                <a:srgbClr val="A64B00"/>
              </a:buClr>
              <a:buSzPct val="65000"/>
              <a:buFont typeface="Arial" panose="020B0604020202020204" pitchFamily="34" charset="0"/>
              <a:buChar char="•"/>
            </a:pPr>
            <a:r>
              <a:rPr lang="en-US" sz="2200" b="0" i="0">
                <a:solidFill>
                  <a:srgbClr val="1D2433"/>
                </a:solidFill>
                <a:latin typeface="Raleway"/>
              </a:rPr>
              <a:t>One more line: is the number a palindrome? True or False</a:t>
            </a:r>
          </a:p>
        </p:txBody>
      </p:sp>
      <p:sp>
        <p:nvSpPr>
          <p:cNvPr id="14" name="Terminal"/>
          <p:cNvSpPr/>
          <p:nvPr/>
        </p:nvSpPr>
        <p:spPr>
          <a:xfrm>
            <a:off x="7040880" y="1965960"/>
            <a:ext cx="4507992" cy="2066544"/>
          </a:xfrm>
          <a:prstGeom prst="roundRect">
            <a:avLst>
              <a:gd name="adj" fmla="val 4000"/>
            </a:avLst>
          </a:prstGeom>
          <a:solidFill>
            <a:srgbClr val="111318"/>
          </a:solidFill>
          <a:ln w="12700">
            <a:solidFill>
              <a:srgbClr val="D8DBE0"/>
            </a:solidFill>
          </a:ln>
        </p:spPr>
        <p:txBody>
          <a:bodyPr rtlCol="0" anchor="ctr"/>
          <a:lstStyle/>
          <a:p>
            <a:endParaRPr/>
          </a:p>
        </p:txBody>
      </p:sp>
      <p:sp>
        <p:nvSpPr>
          <p:cNvPr id="15" name="Terminal header"/>
          <p:cNvSpPr/>
          <p:nvPr/>
        </p:nvSpPr>
        <p:spPr>
          <a:xfrm>
            <a:off x="7040880" y="1965960"/>
            <a:ext cx="4507992" cy="384048"/>
          </a:xfrm>
          <a:prstGeom prst="roundRect">
            <a:avLst>
              <a:gd name="adj" fmla="val 10000"/>
            </a:avLst>
          </a:prstGeom>
          <a:solidFill>
            <a:srgbClr val="1B1E26"/>
          </a:solidFill>
          <a:ln w="12700">
            <a:solidFill>
              <a:srgbClr val="D8DBE0"/>
            </a:solidFill>
          </a:ln>
        </p:spPr>
        <p:txBody>
          <a:bodyPr rtlCol="0" anchor="ctr"/>
          <a:lstStyle/>
          <a:p>
            <a:endParaRPr/>
          </a:p>
        </p:txBody>
      </p:sp>
      <p:sp>
        <p:nvSpPr>
          <p:cNvPr id="16" name="Terminal header fill"/>
          <p:cNvSpPr/>
          <p:nvPr/>
        </p:nvSpPr>
        <p:spPr>
          <a:xfrm>
            <a:off x="7059168" y="2157984"/>
            <a:ext cx="4471416" cy="192024"/>
          </a:xfrm>
          <a:prstGeom prst="rect">
            <a:avLst/>
          </a:prstGeom>
          <a:solidFill>
            <a:srgbClr val="1B1E26"/>
          </a:solidFill>
          <a:ln>
            <a:noFill/>
          </a:ln>
        </p:spPr>
        <p:txBody>
          <a:bodyPr rtlCol="0" anchor="ctr"/>
          <a:lstStyle/>
          <a:p>
            <a:endParaRPr/>
          </a:p>
        </p:txBody>
      </p:sp>
      <p:sp>
        <p:nvSpPr>
          <p:cNvPr id="17" name="Terminal label"/>
          <p:cNvSpPr txBox="1"/>
          <p:nvPr/>
        </p:nvSpPr>
        <p:spPr>
          <a:xfrm>
            <a:off x="7315200" y="1965960"/>
            <a:ext cx="4050792" cy="384048"/>
          </a:xfrm>
          <a:prstGeom prst="rect">
            <a:avLst/>
          </a:prstGeom>
          <a:noFill/>
        </p:spPr>
        <p:txBody>
          <a:bodyPr wrap="square" lIns="0" tIns="0" rIns="0" bIns="0" anchor="ctr">
            <a:noAutofit/>
          </a:bodyPr>
          <a:lstStyle/>
          <a:p>
            <a:pPr algn="l"/>
            <a:r>
              <a:rPr lang="en-US" sz="1200" b="0" i="0">
                <a:solidFill>
                  <a:srgbClr val="E9EAEE"/>
                </a:solidFill>
                <a:latin typeface="Consolas"/>
              </a:rPr>
              <a:t>terminal</a:t>
            </a:r>
          </a:p>
        </p:txBody>
      </p:sp>
      <p:sp>
        <p:nvSpPr>
          <p:cNvPr id="18" name="Output"/>
          <p:cNvSpPr txBox="1"/>
          <p:nvPr/>
        </p:nvSpPr>
        <p:spPr>
          <a:xfrm>
            <a:off x="7315200" y="2478024"/>
            <a:ext cx="4050792" cy="1463040"/>
          </a:xfrm>
          <a:prstGeom prst="rect">
            <a:avLst/>
          </a:prstGeom>
          <a:noFill/>
        </p:spPr>
        <p:txBody>
          <a:bodyPr wrap="none" lIns="0" tIns="0" rIns="0" bIns="0" anchor="t">
            <a:noAutofit/>
          </a:bodyPr>
          <a:lstStyle/>
          <a:p>
            <a:pPr algn="l"/>
            <a:r>
              <a:rPr lang="en-US" sz="1800" b="0" i="0">
                <a:solidFill>
                  <a:srgbClr val="E9EAEE"/>
                </a:solidFill>
                <a:latin typeface="Consolas"/>
              </a:rPr>
              <a:t>Number: 4913</a:t>
            </a:r>
          </a:p>
          <a:p>
            <a:pPr algn="l"/>
            <a:r>
              <a:rPr lang="en-US" sz="1800" b="0" i="0">
                <a:solidFill>
                  <a:srgbClr val="E9EAEE"/>
                </a:solidFill>
                <a:latin typeface="Consolas"/>
              </a:rPr>
              <a:t>Digits: 4 9 1 3</a:t>
            </a:r>
          </a:p>
          <a:p>
            <a:pPr algn="l"/>
            <a:r>
              <a:rPr lang="en-US" sz="1800" b="0" i="0">
                <a:solidFill>
                  <a:srgbClr val="E9EAEE"/>
                </a:solidFill>
                <a:latin typeface="Consolas"/>
              </a:rPr>
              <a:t>Sum: 17</a:t>
            </a:r>
          </a:p>
          <a:p>
            <a:pPr algn="l"/>
            <a:r>
              <a:rPr lang="en-US" sz="1800" b="0" i="0">
                <a:solidFill>
                  <a:srgbClr val="E9EAEE"/>
                </a:solidFill>
                <a:latin typeface="Consolas"/>
              </a:rPr>
              <a:t>Backwards: 3194</a:t>
            </a:r>
          </a:p>
          <a:p>
            <a:pPr algn="l"/>
            <a:r>
              <a:rPr lang="en-US" sz="1800" b="0" i="0">
                <a:solidFill>
                  <a:srgbClr val="E9EAEE"/>
                </a:solidFill>
                <a:latin typeface="Consolas"/>
              </a:rPr>
              <a:t>Palindrome: False</a:t>
            </a:r>
          </a:p>
        </p:txBody>
      </p:sp>
      <p:sp>
        <p:nvSpPr>
          <p:cNvPr id="19" name="Panel"/>
          <p:cNvSpPr/>
          <p:nvPr/>
        </p:nvSpPr>
        <p:spPr>
          <a:xfrm>
            <a:off x="7040880" y="4261104"/>
            <a:ext cx="4507992" cy="1962912"/>
          </a:xfrm>
          <a:prstGeom prst="roundRect">
            <a:avLst>
              <a:gd name="adj" fmla="val 6000"/>
            </a:avLst>
          </a:prstGeom>
          <a:solidFill>
            <a:srgbClr val="F2F3F5"/>
          </a:solidFill>
          <a:ln w="12700">
            <a:solidFill>
              <a:srgbClr val="D8DBE0"/>
            </a:solidFill>
          </a:ln>
        </p:spPr>
        <p:txBody>
          <a:bodyPr rtlCol="0" anchor="ctr"/>
          <a:lstStyle/>
          <a:p>
            <a:endParaRPr/>
          </a:p>
        </p:txBody>
      </p:sp>
      <p:sp>
        <p:nvSpPr>
          <p:cNvPr id="20" name="Panel text"/>
          <p:cNvSpPr txBox="1"/>
          <p:nvPr/>
        </p:nvSpPr>
        <p:spPr>
          <a:xfrm>
            <a:off x="7178040" y="4370832"/>
            <a:ext cx="4233672" cy="1743456"/>
          </a:xfrm>
          <a:prstGeom prst="rect">
            <a:avLst/>
          </a:prstGeom>
          <a:noFill/>
        </p:spPr>
        <p:txBody>
          <a:bodyPr wrap="square" lIns="0" tIns="0" rIns="0" bIns="0" anchor="t">
            <a:noAutofit/>
          </a:bodyPr>
          <a:lstStyle/>
          <a:p>
            <a:pPr algn="l">
              <a:spcAft>
                <a:spcPts val="600"/>
              </a:spcAft>
            </a:pPr>
            <a:r>
              <a:rPr lang="en-US" sz="2200" b="0" i="0">
                <a:solidFill>
                  <a:srgbClr val="A64B00"/>
                </a:solidFill>
                <a:latin typeface="Raleway"/>
              </a:rPr>
              <a:t>Think about</a:t>
            </a:r>
          </a:p>
          <a:p>
            <a:pPr marL="201168" indent="-201168" algn="l">
              <a:spcAft>
                <a:spcPts val="600"/>
              </a:spcAft>
              <a:buSzPct val="65000"/>
              <a:buFont typeface="Arial" panose="020B0604020202020204" pitchFamily="34" charset="0"/>
              <a:buChar char="•"/>
            </a:pPr>
            <a:r>
              <a:rPr lang="en-US" sz="1800" b="0" i="0">
                <a:solidFill>
                  <a:srgbClr val="A64B00"/>
                </a:solidFill>
                <a:latin typeface="Raleway"/>
              </a:rPr>
              <a:t>Thousands:</a:t>
            </a:r>
            <a:r>
              <a:rPr lang="en-US" sz="1800" b="0" i="0">
                <a:solidFill>
                  <a:srgbClr val="1D2433"/>
                </a:solidFill>
                <a:latin typeface="Raleway"/>
              </a:rPr>
              <a:t> </a:t>
            </a:r>
            <a:r>
              <a:rPr lang="en-US" sz="1800" b="0" i="0">
                <a:solidFill>
                  <a:srgbClr val="1D2433"/>
                </a:solidFill>
                <a:latin typeface="Consolas"/>
              </a:rPr>
              <a:t>n // 1000</a:t>
            </a:r>
            <a:r>
              <a:rPr lang="en-US" sz="1800" b="0" i="0">
                <a:solidFill>
                  <a:srgbClr val="1D2433"/>
                </a:solidFill>
                <a:latin typeface="Raleway"/>
              </a:rPr>
              <a:t>. Then the remainder, with 100, 10 and 1</a:t>
            </a:r>
          </a:p>
          <a:p>
            <a:pPr marL="201168" indent="-201168" algn="l">
              <a:spcAft>
                <a:spcPts val="600"/>
              </a:spcAft>
              <a:buSzPct val="65000"/>
              <a:buFont typeface="Arial" panose="020B0604020202020204" pitchFamily="34" charset="0"/>
              <a:buChar char="•"/>
            </a:pPr>
            <a:r>
              <a:rPr lang="en-US" sz="1800" b="0" i="0">
                <a:solidFill>
                  <a:srgbClr val="A64B00"/>
                </a:solidFill>
                <a:latin typeface="Raleway"/>
              </a:rPr>
              <a:t>Backwards:</a:t>
            </a:r>
            <a:r>
              <a:rPr lang="en-US" sz="1800" b="0" i="0">
                <a:solidFill>
                  <a:srgbClr val="1D2433"/>
                </a:solidFill>
                <a:latin typeface="Raleway"/>
              </a:rPr>
              <a:t> the units digit goes into the thousands place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31 - Solution - Extra 2: one solution">
    <p:spTree>
      <p:nvGrpSpPr>
        <p:cNvPr id="1" name=""/>
        <p:cNvGrpSpPr/>
        <p:nvPr/>
      </p:nvGrpSpPr>
      <p:grpSpPr>
        <a:xfrm>
          <a:off x="0" y="0"/>
          <a:ext cx="0" cy="0"/>
          <a:chOff x="0" y="0"/>
          <a:chExt cx="0" cy="0"/>
        </a:xfrm>
      </p:grpSpPr>
      <p:sp>
        <p:nvSpPr>
          <p:cNvPr id="2" name="Slide number"/>
          <p:cNvSpPr txBox="1"/>
          <p:nvPr/>
        </p:nvSpPr>
        <p:spPr>
          <a:xfrm>
            <a:off x="11430000" y="6446520"/>
            <a:ext cx="548640" cy="320040"/>
          </a:xfrm>
          <a:prstGeom prst="rect">
            <a:avLst/>
          </a:prstGeom>
          <a:noFill/>
        </p:spPr>
        <p:txBody>
          <a:bodyPr wrap="none" lIns="0" tIns="0" rIns="0" bIns="0" anchor="ctr">
            <a:spAutoFit/>
          </a:bodyPr>
          <a:lstStyle/>
          <a:p>
            <a:pPr algn="r"/>
            <a:fld id="{007A6A40-1A7B-4A1B-9D78-D7D11C5A8472}" type="slidenum">
              <a:rPr lang="en-US" sz="1200">
                <a:solidFill>
                  <a:srgbClr val="1B3A5C"/>
                </a:solidFill>
                <a:latin typeface="Raleway"/>
              </a:rPr>
              <a:t>34</a:t>
            </a:fld>
            <a:endParaRPr lang="en-US" sz="1200">
              <a:solidFill>
                <a:srgbClr val="1B3A5C"/>
              </a:solidFill>
              <a:latin typeface="Raleway"/>
            </a:endParaRPr>
          </a:p>
        </p:txBody>
      </p:sp>
      <p:sp>
        <p:nvSpPr>
          <p:cNvPr id="3" name="Title"/>
          <p:cNvSpPr txBox="1"/>
          <p:nvPr/>
        </p:nvSpPr>
        <p:spPr>
          <a:xfrm>
            <a:off x="640080" y="502920"/>
            <a:ext cx="11411712" cy="822960"/>
          </a:xfrm>
          <a:prstGeom prst="rect">
            <a:avLst/>
          </a:prstGeom>
          <a:noFill/>
        </p:spPr>
        <p:txBody>
          <a:bodyPr wrap="square" lIns="0" tIns="0" rIns="0" bIns="0" anchor="ctr">
            <a:noAutofit/>
          </a:bodyPr>
          <a:lstStyle/>
          <a:p>
            <a:pPr algn="l"/>
            <a:r>
              <a:rPr lang="en-US" sz="4000" b="1" i="0">
                <a:solidFill>
                  <a:srgbClr val="1F4E79"/>
                </a:solidFill>
                <a:latin typeface="Raleway"/>
              </a:rPr>
              <a:t>Extra 2: one solution</a:t>
            </a:r>
          </a:p>
        </p:txBody>
      </p:sp>
      <p:sp>
        <p:nvSpPr>
          <p:cNvPr id="4" name="Code card"/>
          <p:cNvSpPr/>
          <p:nvPr/>
        </p:nvSpPr>
        <p:spPr>
          <a:xfrm>
            <a:off x="640080" y="1508760"/>
            <a:ext cx="6766560" cy="3621024"/>
          </a:xfrm>
          <a:prstGeom prst="roundRect">
            <a:avLst>
              <a:gd name="adj" fmla="val 4000"/>
            </a:avLst>
          </a:prstGeom>
          <a:solidFill>
            <a:srgbClr val="111318"/>
          </a:solidFill>
          <a:ln w="12700">
            <a:solidFill>
              <a:srgbClr val="D8DBE0"/>
            </a:solidFill>
          </a:ln>
        </p:spPr>
        <p:txBody>
          <a:bodyPr rtlCol="0" anchor="ctr"/>
          <a:lstStyle/>
          <a:p>
            <a:endParaRPr/>
          </a:p>
        </p:txBody>
      </p:sp>
      <p:sp>
        <p:nvSpPr>
          <p:cNvPr id="5" name="Code card header"/>
          <p:cNvSpPr/>
          <p:nvPr/>
        </p:nvSpPr>
        <p:spPr>
          <a:xfrm>
            <a:off x="640080" y="1508760"/>
            <a:ext cx="6766560" cy="384048"/>
          </a:xfrm>
          <a:prstGeom prst="roundRect">
            <a:avLst>
              <a:gd name="adj" fmla="val 10000"/>
            </a:avLst>
          </a:prstGeom>
          <a:solidFill>
            <a:srgbClr val="1B1E26"/>
          </a:solidFill>
          <a:ln w="12700">
            <a:solidFill>
              <a:srgbClr val="D8DBE0"/>
            </a:solidFill>
          </a:ln>
        </p:spPr>
        <p:txBody>
          <a:bodyPr rtlCol="0" anchor="ctr"/>
          <a:lstStyle/>
          <a:p>
            <a:endParaRPr/>
          </a:p>
        </p:txBody>
      </p:sp>
      <p:sp>
        <p:nvSpPr>
          <p:cNvPr id="6" name="Code card header fill"/>
          <p:cNvSpPr/>
          <p:nvPr/>
        </p:nvSpPr>
        <p:spPr>
          <a:xfrm>
            <a:off x="658368" y="1700784"/>
            <a:ext cx="6729984" cy="192024"/>
          </a:xfrm>
          <a:prstGeom prst="rect">
            <a:avLst/>
          </a:prstGeom>
          <a:solidFill>
            <a:srgbClr val="1B1E26"/>
          </a:solidFill>
          <a:ln>
            <a:noFill/>
          </a:ln>
        </p:spPr>
        <p:txBody>
          <a:bodyPr rtlCol="0" anchor="ctr"/>
          <a:lstStyle/>
          <a:p>
            <a:endParaRPr/>
          </a:p>
        </p:txBody>
      </p:sp>
      <p:sp>
        <p:nvSpPr>
          <p:cNvPr id="7" name="Oval 6"/>
          <p:cNvSpPr/>
          <p:nvPr/>
        </p:nvSpPr>
        <p:spPr>
          <a:xfrm>
            <a:off x="868680" y="1645919"/>
            <a:ext cx="118872" cy="118872"/>
          </a:xfrm>
          <a:prstGeom prst="ellipse">
            <a:avLst/>
          </a:prstGeom>
          <a:solidFill>
            <a:srgbClr val="FF6B6B"/>
          </a:solidFill>
          <a:ln>
            <a:noFill/>
          </a:ln>
        </p:spPr>
        <p:txBody>
          <a:bodyPr rtlCol="0" anchor="ctr"/>
          <a:lstStyle/>
          <a:p>
            <a:pPr algn="ctr"/>
            <a:endParaRPr/>
          </a:p>
        </p:txBody>
      </p:sp>
      <p:sp>
        <p:nvSpPr>
          <p:cNvPr id="8" name="Oval 7"/>
          <p:cNvSpPr/>
          <p:nvPr/>
        </p:nvSpPr>
        <p:spPr>
          <a:xfrm>
            <a:off x="1143000" y="1645919"/>
            <a:ext cx="118872" cy="118872"/>
          </a:xfrm>
          <a:prstGeom prst="ellipse">
            <a:avLst/>
          </a:prstGeom>
          <a:solidFill>
            <a:srgbClr val="FFD94A"/>
          </a:solidFill>
          <a:ln>
            <a:noFill/>
          </a:ln>
        </p:spPr>
        <p:txBody>
          <a:bodyPr rtlCol="0" anchor="ctr"/>
          <a:lstStyle/>
          <a:p>
            <a:pPr algn="ctr"/>
            <a:endParaRPr/>
          </a:p>
        </p:txBody>
      </p:sp>
      <p:sp>
        <p:nvSpPr>
          <p:cNvPr id="9" name="Oval 8"/>
          <p:cNvSpPr/>
          <p:nvPr/>
        </p:nvSpPr>
        <p:spPr>
          <a:xfrm>
            <a:off x="1417319" y="1645919"/>
            <a:ext cx="118872" cy="118872"/>
          </a:xfrm>
          <a:prstGeom prst="ellipse">
            <a:avLst/>
          </a:prstGeom>
          <a:solidFill>
            <a:srgbClr val="8FE3AB"/>
          </a:solidFill>
          <a:ln>
            <a:noFill/>
          </a:ln>
        </p:spPr>
        <p:txBody>
          <a:bodyPr rtlCol="0" anchor="ctr"/>
          <a:lstStyle/>
          <a:p>
            <a:pPr algn="ctr"/>
            <a:endParaRPr/>
          </a:p>
        </p:txBody>
      </p:sp>
      <p:sp>
        <p:nvSpPr>
          <p:cNvPr id="10" name="Filename"/>
          <p:cNvSpPr txBox="1"/>
          <p:nvPr/>
        </p:nvSpPr>
        <p:spPr>
          <a:xfrm>
            <a:off x="1828800" y="1508760"/>
            <a:ext cx="5394960" cy="384048"/>
          </a:xfrm>
          <a:prstGeom prst="rect">
            <a:avLst/>
          </a:prstGeom>
          <a:noFill/>
        </p:spPr>
        <p:txBody>
          <a:bodyPr wrap="square" lIns="0" tIns="0" rIns="0" bIns="0" anchor="ctr">
            <a:noAutofit/>
          </a:bodyPr>
          <a:lstStyle/>
          <a:p>
            <a:pPr algn="l"/>
            <a:r>
              <a:rPr lang="en-US" sz="1200" b="0" i="0">
                <a:solidFill>
                  <a:srgbClr val="E9EAEE"/>
                </a:solidFill>
                <a:latin typeface="Consolas"/>
              </a:rPr>
              <a:t>digits.py</a:t>
            </a:r>
          </a:p>
        </p:txBody>
      </p:sp>
      <p:sp>
        <p:nvSpPr>
          <p:cNvPr id="11" name="Code"/>
          <p:cNvSpPr txBox="1"/>
          <p:nvPr/>
        </p:nvSpPr>
        <p:spPr>
          <a:xfrm>
            <a:off x="1005840" y="2002536"/>
            <a:ext cx="6126480" cy="3035808"/>
          </a:xfrm>
          <a:prstGeom prst="rect">
            <a:avLst/>
          </a:prstGeom>
          <a:noFill/>
        </p:spPr>
        <p:txBody>
          <a:bodyPr wrap="none" lIns="0" tIns="0" rIns="0" bIns="0" anchor="t">
            <a:noAutofit/>
          </a:bodyPr>
          <a:lstStyle/>
          <a:p>
            <a:pPr algn="l"/>
            <a:r>
              <a:rPr lang="en-US" sz="1600" b="0" i="0">
                <a:solidFill>
                  <a:srgbClr val="E9EAEE"/>
                </a:solidFill>
                <a:latin typeface="Consolas"/>
              </a:rPr>
              <a:t>n = </a:t>
            </a:r>
            <a:r>
              <a:rPr lang="en-US" sz="1600" b="0" i="0">
                <a:solidFill>
                  <a:srgbClr val="F5B759"/>
                </a:solidFill>
                <a:latin typeface="Consolas"/>
              </a:rPr>
              <a:t>int</a:t>
            </a:r>
            <a:r>
              <a:rPr lang="en-US" sz="1600" b="0" i="0">
                <a:solidFill>
                  <a:srgbClr val="E9EAEE"/>
                </a:solidFill>
                <a:latin typeface="Consolas"/>
              </a:rPr>
              <a:t>(</a:t>
            </a:r>
            <a:r>
              <a:rPr lang="en-US" sz="1600" b="0" i="0">
                <a:solidFill>
                  <a:srgbClr val="F5B759"/>
                </a:solidFill>
                <a:latin typeface="Consolas"/>
              </a:rPr>
              <a:t>input</a:t>
            </a:r>
            <a:r>
              <a:rPr lang="en-US" sz="1600" b="0" i="0">
                <a:solidFill>
                  <a:srgbClr val="E9EAEE"/>
                </a:solidFill>
                <a:latin typeface="Consolas"/>
              </a:rPr>
              <a:t>("Number: "))</a:t>
            </a:r>
          </a:p>
          <a:p>
            <a:pPr algn="l"/>
            <a:endParaRPr lang="en-US" sz="1600" b="0" i="0">
              <a:solidFill>
                <a:srgbClr val="E9EAEE"/>
              </a:solidFill>
              <a:latin typeface="Consolas"/>
            </a:endParaRPr>
          </a:p>
          <a:p>
            <a:pPr algn="l"/>
            <a:r>
              <a:rPr lang="en-US" sz="1600" b="0" i="0">
                <a:solidFill>
                  <a:srgbClr val="E9EAEE"/>
                </a:solidFill>
                <a:latin typeface="Consolas"/>
              </a:rPr>
              <a:t>d1 = n // 1000          # thousands</a:t>
            </a:r>
          </a:p>
          <a:p>
            <a:pPr algn="l"/>
            <a:r>
              <a:rPr lang="en-US" sz="1600" b="0" i="0">
                <a:solidFill>
                  <a:srgbClr val="E9EAEE"/>
                </a:solidFill>
                <a:latin typeface="Consolas"/>
              </a:rPr>
              <a:t>d2 = n % 1000 // 100    # hundreds</a:t>
            </a:r>
          </a:p>
          <a:p>
            <a:pPr algn="l"/>
            <a:r>
              <a:rPr lang="en-US" sz="1600" b="0" i="0">
                <a:solidFill>
                  <a:srgbClr val="E9EAEE"/>
                </a:solidFill>
                <a:latin typeface="Consolas"/>
              </a:rPr>
              <a:t>d3 = n % 100 // 10      # tens</a:t>
            </a:r>
          </a:p>
          <a:p>
            <a:pPr algn="l"/>
            <a:r>
              <a:rPr lang="en-US" sz="1600" b="0" i="0">
                <a:solidFill>
                  <a:srgbClr val="E9EAEE"/>
                </a:solidFill>
                <a:latin typeface="Consolas"/>
              </a:rPr>
              <a:t>d4 = n % 10             # units</a:t>
            </a:r>
          </a:p>
          <a:p>
            <a:pPr algn="l"/>
            <a:r>
              <a:rPr lang="en-US" sz="1600" b="0" i="0">
                <a:solidFill>
                  <a:srgbClr val="E9EAEE"/>
                </a:solidFill>
                <a:latin typeface="Consolas"/>
              </a:rPr>
              <a:t>backwards = d4 * 1000 + d3 * 100 + d2 * 10 + d1</a:t>
            </a:r>
          </a:p>
          <a:p>
            <a:pPr algn="l"/>
            <a:endParaRPr lang="en-US" sz="1600" b="0" i="0">
              <a:solidFill>
                <a:srgbClr val="E9EAEE"/>
              </a:solidFill>
              <a:latin typeface="Consolas"/>
            </a:endParaRPr>
          </a:p>
          <a:p>
            <a:pPr algn="l"/>
            <a:r>
              <a:rPr lang="en-US" sz="1600" b="0" i="0">
                <a:solidFill>
                  <a:srgbClr val="F5B759"/>
                </a:solidFill>
                <a:latin typeface="Consolas"/>
              </a:rPr>
              <a:t>print</a:t>
            </a:r>
            <a:r>
              <a:rPr lang="en-US" sz="1600" b="0" i="0">
                <a:solidFill>
                  <a:srgbClr val="E9EAEE"/>
                </a:solidFill>
                <a:latin typeface="Consolas"/>
              </a:rPr>
              <a:t>(f"Digits: {d1} {d2} {d3} {d4}")</a:t>
            </a:r>
          </a:p>
          <a:p>
            <a:pPr algn="l"/>
            <a:r>
              <a:rPr lang="en-US" sz="1600" b="0" i="0">
                <a:solidFill>
                  <a:srgbClr val="F5B759"/>
                </a:solidFill>
                <a:latin typeface="Consolas"/>
              </a:rPr>
              <a:t>print</a:t>
            </a:r>
            <a:r>
              <a:rPr lang="en-US" sz="1600" b="0" i="0">
                <a:solidFill>
                  <a:srgbClr val="E9EAEE"/>
                </a:solidFill>
                <a:latin typeface="Consolas"/>
              </a:rPr>
              <a:t>(f"Sum: {d1 + d2 + d3 + d4}")</a:t>
            </a:r>
          </a:p>
          <a:p>
            <a:pPr algn="l"/>
            <a:r>
              <a:rPr lang="en-US" sz="1600" b="0" i="0">
                <a:solidFill>
                  <a:srgbClr val="F5B759"/>
                </a:solidFill>
                <a:latin typeface="Consolas"/>
              </a:rPr>
              <a:t>print</a:t>
            </a:r>
            <a:r>
              <a:rPr lang="en-US" sz="1600" b="0" i="0">
                <a:solidFill>
                  <a:srgbClr val="E9EAEE"/>
                </a:solidFill>
                <a:latin typeface="Consolas"/>
              </a:rPr>
              <a:t>(f"Backwards: {backwards}")</a:t>
            </a:r>
          </a:p>
          <a:p>
            <a:pPr algn="l"/>
            <a:r>
              <a:rPr lang="en-US" sz="1600" b="0" i="0">
                <a:solidFill>
                  <a:srgbClr val="F5B759"/>
                </a:solidFill>
                <a:latin typeface="Consolas"/>
              </a:rPr>
              <a:t>print</a:t>
            </a:r>
            <a:r>
              <a:rPr lang="en-US" sz="1600" b="0" i="0">
                <a:solidFill>
                  <a:srgbClr val="E9EAEE"/>
                </a:solidFill>
                <a:latin typeface="Consolas"/>
              </a:rPr>
              <a:t>(f"Palindrome: {n == backwards}")</a:t>
            </a:r>
          </a:p>
        </p:txBody>
      </p:sp>
      <p:sp>
        <p:nvSpPr>
          <p:cNvPr id="12" name="Panel"/>
          <p:cNvSpPr/>
          <p:nvPr/>
        </p:nvSpPr>
        <p:spPr>
          <a:xfrm>
            <a:off x="7772400" y="1508760"/>
            <a:ext cx="3776472" cy="3108960"/>
          </a:xfrm>
          <a:prstGeom prst="roundRect">
            <a:avLst>
              <a:gd name="adj" fmla="val 6000"/>
            </a:avLst>
          </a:prstGeom>
          <a:solidFill>
            <a:srgbClr val="F2F3F5"/>
          </a:solidFill>
          <a:ln w="12700">
            <a:solidFill>
              <a:srgbClr val="D8DBE0"/>
            </a:solidFill>
          </a:ln>
        </p:spPr>
        <p:txBody>
          <a:bodyPr rtlCol="0" anchor="ctr"/>
          <a:lstStyle/>
          <a:p>
            <a:endParaRPr/>
          </a:p>
        </p:txBody>
      </p:sp>
      <p:sp>
        <p:nvSpPr>
          <p:cNvPr id="13" name="Panel text"/>
          <p:cNvSpPr txBox="1"/>
          <p:nvPr/>
        </p:nvSpPr>
        <p:spPr>
          <a:xfrm>
            <a:off x="7909560" y="1618488"/>
            <a:ext cx="3502152" cy="2889504"/>
          </a:xfrm>
          <a:prstGeom prst="rect">
            <a:avLst/>
          </a:prstGeom>
          <a:noFill/>
        </p:spPr>
        <p:txBody>
          <a:bodyPr wrap="square" lIns="0" tIns="0" rIns="0" bIns="0" anchor="t">
            <a:noAutofit/>
          </a:bodyPr>
          <a:lstStyle/>
          <a:p>
            <a:pPr algn="l">
              <a:spcAft>
                <a:spcPts val="600"/>
              </a:spcAft>
            </a:pPr>
            <a:r>
              <a:rPr lang="en-US" sz="2200" b="0" i="0">
                <a:solidFill>
                  <a:srgbClr val="A64B00"/>
                </a:solidFill>
                <a:latin typeface="Raleway"/>
              </a:rPr>
              <a:t>Reading the digit lines</a:t>
            </a:r>
          </a:p>
          <a:p>
            <a:pPr marL="201168" indent="-201168" algn="l">
              <a:spcAft>
                <a:spcPts val="600"/>
              </a:spcAft>
              <a:buSzPct val="65000"/>
              <a:buFont typeface="Arial" panose="020B0604020202020204" pitchFamily="34" charset="0"/>
              <a:buChar char="•"/>
            </a:pPr>
            <a:r>
              <a:rPr lang="en-US" sz="1600" b="0" i="0">
                <a:solidFill>
                  <a:srgbClr val="A64B00"/>
                </a:solidFill>
                <a:latin typeface="Raleway"/>
              </a:rPr>
              <a:t>Remainder, then quotient:</a:t>
            </a:r>
            <a:r>
              <a:rPr lang="en-US" sz="1600" b="0" i="0">
                <a:solidFill>
                  <a:srgbClr val="1D2433"/>
                </a:solidFill>
                <a:latin typeface="Raleway"/>
              </a:rPr>
              <a:t> </a:t>
            </a:r>
            <a:r>
              <a:rPr lang="en-US" sz="1600" b="0" i="0">
                <a:solidFill>
                  <a:srgbClr val="1D2433"/>
                </a:solidFill>
                <a:latin typeface="Consolas"/>
              </a:rPr>
              <a:t>n % 1000 // 100</a:t>
            </a:r>
            <a:r>
              <a:rPr lang="en-US" sz="1600" b="0" i="0">
                <a:solidFill>
                  <a:srgbClr val="1D2433"/>
                </a:solidFill>
                <a:latin typeface="Raleway"/>
              </a:rPr>
              <a:t> drops the thousands, then counts the hundreds</a:t>
            </a:r>
          </a:p>
          <a:p>
            <a:pPr marL="201168" indent="-201168" algn="l">
              <a:spcAft>
                <a:spcPts val="600"/>
              </a:spcAft>
              <a:buSzPct val="65000"/>
              <a:buFont typeface="Arial" panose="020B0604020202020204" pitchFamily="34" charset="0"/>
              <a:buChar char="•"/>
            </a:pPr>
            <a:r>
              <a:rPr lang="en-US" sz="1600" b="0" i="0">
                <a:solidFill>
                  <a:srgbClr val="A64B00"/>
                </a:solidFill>
                <a:latin typeface="Raleway"/>
              </a:rPr>
              <a:t>Left to right:</a:t>
            </a:r>
            <a:r>
              <a:rPr lang="en-US" sz="1600" b="0" i="0">
                <a:solidFill>
                  <a:srgbClr val="1D2433"/>
                </a:solidFill>
                <a:latin typeface="Raleway"/>
              </a:rPr>
              <a:t> </a:t>
            </a:r>
            <a:r>
              <a:rPr lang="en-US" sz="1600" b="0" i="0">
                <a:solidFill>
                  <a:srgbClr val="1D2433"/>
                </a:solidFill>
                <a:latin typeface="Consolas"/>
              </a:rPr>
              <a:t>%</a:t>
            </a:r>
            <a:r>
              <a:rPr lang="en-US" sz="1600" b="0" i="0">
                <a:solidFill>
                  <a:srgbClr val="1D2433"/>
                </a:solidFill>
                <a:latin typeface="Raleway"/>
              </a:rPr>
              <a:t> and </a:t>
            </a:r>
            <a:r>
              <a:rPr lang="en-US" sz="1600" b="0" i="0">
                <a:solidFill>
                  <a:srgbClr val="1D2433"/>
                </a:solidFill>
                <a:latin typeface="Consolas"/>
              </a:rPr>
              <a:t>//</a:t>
            </a:r>
            <a:r>
              <a:rPr lang="en-US" sz="1600" b="0" i="0">
                <a:solidFill>
                  <a:srgbClr val="1D2433"/>
                </a:solidFill>
                <a:latin typeface="Raleway"/>
              </a:rPr>
              <a:t> have the same precedence, so it is </a:t>
            </a:r>
            <a:r>
              <a:rPr lang="en-US" sz="1600" b="0" i="0">
                <a:solidFill>
                  <a:srgbClr val="1D2433"/>
                </a:solidFill>
                <a:latin typeface="Consolas"/>
              </a:rPr>
              <a:t>(n % 1000) // 100</a:t>
            </a:r>
          </a:p>
          <a:p>
            <a:pPr marL="201168" indent="-201168" algn="l">
              <a:spcAft>
                <a:spcPts val="600"/>
              </a:spcAft>
              <a:buSzPct val="65000"/>
              <a:buFont typeface="Arial" panose="020B0604020202020204" pitchFamily="34" charset="0"/>
              <a:buChar char="•"/>
            </a:pPr>
            <a:r>
              <a:rPr lang="en-US" sz="1600" b="0" i="0">
                <a:solidFill>
                  <a:srgbClr val="A64B00"/>
                </a:solidFill>
                <a:latin typeface="Raleway"/>
              </a:rPr>
              <a:t>Backwards:</a:t>
            </a:r>
            <a:r>
              <a:rPr lang="en-US" sz="1600" b="0" i="0">
                <a:solidFill>
                  <a:srgbClr val="1D2433"/>
                </a:solidFill>
                <a:latin typeface="Raleway"/>
              </a:rPr>
              <a:t> the place values 1000, 100, 10, 1 are handed out in reverse order</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32 - Run - Extra 2: the run">
    <p:spTree>
      <p:nvGrpSpPr>
        <p:cNvPr id="1" name=""/>
        <p:cNvGrpSpPr/>
        <p:nvPr/>
      </p:nvGrpSpPr>
      <p:grpSpPr>
        <a:xfrm>
          <a:off x="0" y="0"/>
          <a:ext cx="0" cy="0"/>
          <a:chOff x="0" y="0"/>
          <a:chExt cx="0" cy="0"/>
        </a:xfrm>
      </p:grpSpPr>
      <p:sp>
        <p:nvSpPr>
          <p:cNvPr id="2" name="Slide number"/>
          <p:cNvSpPr txBox="1"/>
          <p:nvPr/>
        </p:nvSpPr>
        <p:spPr>
          <a:xfrm>
            <a:off x="11430000" y="6446520"/>
            <a:ext cx="548640" cy="320040"/>
          </a:xfrm>
          <a:prstGeom prst="rect">
            <a:avLst/>
          </a:prstGeom>
          <a:noFill/>
        </p:spPr>
        <p:txBody>
          <a:bodyPr wrap="none" lIns="0" tIns="0" rIns="0" bIns="0" anchor="ctr">
            <a:spAutoFit/>
          </a:bodyPr>
          <a:lstStyle/>
          <a:p>
            <a:pPr algn="r"/>
            <a:fld id="{007A6A40-1A7B-4A1B-9D78-D7D11C5A8472}" type="slidenum">
              <a:rPr lang="en-US" sz="1200">
                <a:solidFill>
                  <a:srgbClr val="1B3A5C"/>
                </a:solidFill>
                <a:latin typeface="Raleway"/>
              </a:rPr>
              <a:t>35</a:t>
            </a:fld>
            <a:endParaRPr lang="en-US" sz="1200">
              <a:solidFill>
                <a:srgbClr val="1B3A5C"/>
              </a:solidFill>
              <a:latin typeface="Raleway"/>
            </a:endParaRPr>
          </a:p>
        </p:txBody>
      </p:sp>
      <p:sp>
        <p:nvSpPr>
          <p:cNvPr id="3" name="Title"/>
          <p:cNvSpPr txBox="1"/>
          <p:nvPr/>
        </p:nvSpPr>
        <p:spPr>
          <a:xfrm>
            <a:off x="640080" y="502920"/>
            <a:ext cx="11411712" cy="822960"/>
          </a:xfrm>
          <a:prstGeom prst="rect">
            <a:avLst/>
          </a:prstGeom>
          <a:noFill/>
        </p:spPr>
        <p:txBody>
          <a:bodyPr wrap="square" lIns="0" tIns="0" rIns="0" bIns="0" anchor="ctr">
            <a:noAutofit/>
          </a:bodyPr>
          <a:lstStyle/>
          <a:p>
            <a:pPr algn="l"/>
            <a:r>
              <a:rPr lang="en-US" sz="4000" b="1" i="0">
                <a:solidFill>
                  <a:srgbClr val="1F4E79"/>
                </a:solidFill>
                <a:latin typeface="Raleway"/>
              </a:rPr>
              <a:t>Extra 2: the run</a:t>
            </a:r>
          </a:p>
        </p:txBody>
      </p:sp>
      <p:sp>
        <p:nvSpPr>
          <p:cNvPr id="4" name="Code card"/>
          <p:cNvSpPr/>
          <p:nvPr/>
        </p:nvSpPr>
        <p:spPr>
          <a:xfrm>
            <a:off x="640080" y="1508760"/>
            <a:ext cx="6652768" cy="3621024"/>
          </a:xfrm>
          <a:prstGeom prst="roundRect">
            <a:avLst>
              <a:gd name="adj" fmla="val 4000"/>
            </a:avLst>
          </a:prstGeom>
          <a:solidFill>
            <a:srgbClr val="111318"/>
          </a:solidFill>
          <a:ln w="12700">
            <a:solidFill>
              <a:srgbClr val="D8DBE0"/>
            </a:solidFill>
          </a:ln>
        </p:spPr>
        <p:txBody>
          <a:bodyPr rtlCol="0" anchor="ctr"/>
          <a:lstStyle/>
          <a:p>
            <a:endParaRPr/>
          </a:p>
        </p:txBody>
      </p:sp>
      <p:sp>
        <p:nvSpPr>
          <p:cNvPr id="5" name="Code card header"/>
          <p:cNvSpPr/>
          <p:nvPr/>
        </p:nvSpPr>
        <p:spPr>
          <a:xfrm>
            <a:off x="640080" y="1508760"/>
            <a:ext cx="6652768" cy="384048"/>
          </a:xfrm>
          <a:prstGeom prst="roundRect">
            <a:avLst>
              <a:gd name="adj" fmla="val 10000"/>
            </a:avLst>
          </a:prstGeom>
          <a:solidFill>
            <a:srgbClr val="1B1E26"/>
          </a:solidFill>
          <a:ln w="12700">
            <a:solidFill>
              <a:srgbClr val="D8DBE0"/>
            </a:solidFill>
          </a:ln>
        </p:spPr>
        <p:txBody>
          <a:bodyPr rtlCol="0" anchor="ctr"/>
          <a:lstStyle/>
          <a:p>
            <a:endParaRPr/>
          </a:p>
        </p:txBody>
      </p:sp>
      <p:sp>
        <p:nvSpPr>
          <p:cNvPr id="6" name="Code card header fill"/>
          <p:cNvSpPr/>
          <p:nvPr/>
        </p:nvSpPr>
        <p:spPr>
          <a:xfrm>
            <a:off x="658368" y="1700784"/>
            <a:ext cx="6616192" cy="192024"/>
          </a:xfrm>
          <a:prstGeom prst="rect">
            <a:avLst/>
          </a:prstGeom>
          <a:solidFill>
            <a:srgbClr val="1B1E26"/>
          </a:solidFill>
          <a:ln>
            <a:noFill/>
          </a:ln>
        </p:spPr>
        <p:txBody>
          <a:bodyPr rtlCol="0" anchor="ctr"/>
          <a:lstStyle/>
          <a:p>
            <a:endParaRPr/>
          </a:p>
        </p:txBody>
      </p:sp>
      <p:sp>
        <p:nvSpPr>
          <p:cNvPr id="7" name="Oval 6"/>
          <p:cNvSpPr/>
          <p:nvPr/>
        </p:nvSpPr>
        <p:spPr>
          <a:xfrm>
            <a:off x="868680" y="1645919"/>
            <a:ext cx="118872" cy="118872"/>
          </a:xfrm>
          <a:prstGeom prst="ellipse">
            <a:avLst/>
          </a:prstGeom>
          <a:solidFill>
            <a:srgbClr val="FF6B6B"/>
          </a:solidFill>
          <a:ln>
            <a:noFill/>
          </a:ln>
        </p:spPr>
        <p:txBody>
          <a:bodyPr rtlCol="0" anchor="ctr"/>
          <a:lstStyle/>
          <a:p>
            <a:pPr algn="ctr"/>
            <a:endParaRPr/>
          </a:p>
        </p:txBody>
      </p:sp>
      <p:sp>
        <p:nvSpPr>
          <p:cNvPr id="8" name="Oval 7"/>
          <p:cNvSpPr/>
          <p:nvPr/>
        </p:nvSpPr>
        <p:spPr>
          <a:xfrm>
            <a:off x="1143000" y="1645919"/>
            <a:ext cx="118872" cy="118872"/>
          </a:xfrm>
          <a:prstGeom prst="ellipse">
            <a:avLst/>
          </a:prstGeom>
          <a:solidFill>
            <a:srgbClr val="FFD94A"/>
          </a:solidFill>
          <a:ln>
            <a:noFill/>
          </a:ln>
        </p:spPr>
        <p:txBody>
          <a:bodyPr rtlCol="0" anchor="ctr"/>
          <a:lstStyle/>
          <a:p>
            <a:pPr algn="ctr"/>
            <a:endParaRPr/>
          </a:p>
        </p:txBody>
      </p:sp>
      <p:sp>
        <p:nvSpPr>
          <p:cNvPr id="9" name="Oval 8"/>
          <p:cNvSpPr/>
          <p:nvPr/>
        </p:nvSpPr>
        <p:spPr>
          <a:xfrm>
            <a:off x="1417319" y="1645919"/>
            <a:ext cx="118872" cy="118872"/>
          </a:xfrm>
          <a:prstGeom prst="ellipse">
            <a:avLst/>
          </a:prstGeom>
          <a:solidFill>
            <a:srgbClr val="8FE3AB"/>
          </a:solidFill>
          <a:ln>
            <a:noFill/>
          </a:ln>
        </p:spPr>
        <p:txBody>
          <a:bodyPr rtlCol="0" anchor="ctr"/>
          <a:lstStyle/>
          <a:p>
            <a:pPr algn="ctr"/>
            <a:endParaRPr/>
          </a:p>
        </p:txBody>
      </p:sp>
      <p:sp>
        <p:nvSpPr>
          <p:cNvPr id="10" name="Filename"/>
          <p:cNvSpPr txBox="1"/>
          <p:nvPr/>
        </p:nvSpPr>
        <p:spPr>
          <a:xfrm>
            <a:off x="1828800" y="1508760"/>
            <a:ext cx="5281168" cy="384048"/>
          </a:xfrm>
          <a:prstGeom prst="rect">
            <a:avLst/>
          </a:prstGeom>
          <a:noFill/>
        </p:spPr>
        <p:txBody>
          <a:bodyPr wrap="square" lIns="0" tIns="0" rIns="0" bIns="0" anchor="ctr">
            <a:noAutofit/>
          </a:bodyPr>
          <a:lstStyle/>
          <a:p>
            <a:pPr algn="l"/>
            <a:r>
              <a:rPr lang="en-US" sz="1200" b="0" i="0">
                <a:solidFill>
                  <a:srgbClr val="E9EAEE"/>
                </a:solidFill>
                <a:latin typeface="Consolas"/>
              </a:rPr>
              <a:t>digits.py</a:t>
            </a:r>
          </a:p>
        </p:txBody>
      </p:sp>
      <p:sp>
        <p:nvSpPr>
          <p:cNvPr id="11" name="Code"/>
          <p:cNvSpPr txBox="1"/>
          <p:nvPr/>
        </p:nvSpPr>
        <p:spPr>
          <a:xfrm>
            <a:off x="1005840" y="2002536"/>
            <a:ext cx="6012687" cy="3035808"/>
          </a:xfrm>
          <a:prstGeom prst="rect">
            <a:avLst/>
          </a:prstGeom>
          <a:noFill/>
        </p:spPr>
        <p:txBody>
          <a:bodyPr wrap="none" lIns="0" tIns="0" rIns="0" bIns="0" anchor="t">
            <a:noAutofit/>
          </a:bodyPr>
          <a:lstStyle/>
          <a:p>
            <a:pPr algn="l"/>
            <a:r>
              <a:rPr lang="en-US" sz="1600" b="0" i="0">
                <a:solidFill>
                  <a:srgbClr val="E9EAEE"/>
                </a:solidFill>
                <a:latin typeface="Consolas"/>
              </a:rPr>
              <a:t>n = </a:t>
            </a:r>
            <a:r>
              <a:rPr lang="en-US" sz="1600" b="0" i="0">
                <a:solidFill>
                  <a:srgbClr val="F5B759"/>
                </a:solidFill>
                <a:latin typeface="Consolas"/>
              </a:rPr>
              <a:t>int</a:t>
            </a:r>
            <a:r>
              <a:rPr lang="en-US" sz="1600" b="0" i="0">
                <a:solidFill>
                  <a:srgbClr val="E9EAEE"/>
                </a:solidFill>
                <a:latin typeface="Consolas"/>
              </a:rPr>
              <a:t>(</a:t>
            </a:r>
            <a:r>
              <a:rPr lang="en-US" sz="1600" b="0" i="0">
                <a:solidFill>
                  <a:srgbClr val="F5B759"/>
                </a:solidFill>
                <a:latin typeface="Consolas"/>
              </a:rPr>
              <a:t>input</a:t>
            </a:r>
            <a:r>
              <a:rPr lang="en-US" sz="1600" b="0" i="0">
                <a:solidFill>
                  <a:srgbClr val="E9EAEE"/>
                </a:solidFill>
                <a:latin typeface="Consolas"/>
              </a:rPr>
              <a:t>("Number: "))</a:t>
            </a:r>
          </a:p>
          <a:p>
            <a:pPr algn="l"/>
            <a:endParaRPr lang="en-US" sz="1600" b="0" i="0">
              <a:solidFill>
                <a:srgbClr val="E9EAEE"/>
              </a:solidFill>
              <a:latin typeface="Consolas"/>
            </a:endParaRPr>
          </a:p>
          <a:p>
            <a:pPr algn="l"/>
            <a:r>
              <a:rPr lang="en-US" sz="1600" b="0" i="0">
                <a:solidFill>
                  <a:srgbClr val="E9EAEE"/>
                </a:solidFill>
                <a:latin typeface="Consolas"/>
              </a:rPr>
              <a:t>d1 = n // 1000          # thousands</a:t>
            </a:r>
          </a:p>
          <a:p>
            <a:pPr algn="l"/>
            <a:r>
              <a:rPr lang="en-US" sz="1600" b="0" i="0">
                <a:solidFill>
                  <a:srgbClr val="E9EAEE"/>
                </a:solidFill>
                <a:latin typeface="Consolas"/>
              </a:rPr>
              <a:t>d2 = n % 1000 // 100    # hundreds</a:t>
            </a:r>
          </a:p>
          <a:p>
            <a:pPr algn="l"/>
            <a:r>
              <a:rPr lang="en-US" sz="1600" b="0" i="0">
                <a:solidFill>
                  <a:srgbClr val="E9EAEE"/>
                </a:solidFill>
                <a:latin typeface="Consolas"/>
              </a:rPr>
              <a:t>d3 = n % 100 // 10      # tens</a:t>
            </a:r>
          </a:p>
          <a:p>
            <a:pPr algn="l"/>
            <a:r>
              <a:rPr lang="en-US" sz="1600" b="0" i="0">
                <a:solidFill>
                  <a:srgbClr val="E9EAEE"/>
                </a:solidFill>
                <a:latin typeface="Consolas"/>
              </a:rPr>
              <a:t>d4 = n % 10             # units</a:t>
            </a:r>
          </a:p>
          <a:p>
            <a:pPr algn="l"/>
            <a:r>
              <a:rPr lang="en-US" sz="1600" b="0" i="0">
                <a:solidFill>
                  <a:srgbClr val="E9EAEE"/>
                </a:solidFill>
                <a:latin typeface="Consolas"/>
              </a:rPr>
              <a:t>backwards = d4 * 1000 + d3 * 100 + d2 * 10 + d1</a:t>
            </a:r>
          </a:p>
          <a:p>
            <a:pPr algn="l"/>
            <a:endParaRPr lang="en-US" sz="1600" b="0" i="0">
              <a:solidFill>
                <a:srgbClr val="E9EAEE"/>
              </a:solidFill>
              <a:latin typeface="Consolas"/>
            </a:endParaRPr>
          </a:p>
          <a:p>
            <a:pPr algn="l"/>
            <a:r>
              <a:rPr lang="en-US" sz="1600" b="0" i="0">
                <a:solidFill>
                  <a:srgbClr val="F5B759"/>
                </a:solidFill>
                <a:latin typeface="Consolas"/>
              </a:rPr>
              <a:t>print</a:t>
            </a:r>
            <a:r>
              <a:rPr lang="en-US" sz="1600" b="0" i="0">
                <a:solidFill>
                  <a:srgbClr val="E9EAEE"/>
                </a:solidFill>
                <a:latin typeface="Consolas"/>
              </a:rPr>
              <a:t>(f"Digits: {d1} {d2} {d3} {d4}")</a:t>
            </a:r>
          </a:p>
          <a:p>
            <a:pPr algn="l"/>
            <a:r>
              <a:rPr lang="en-US" sz="1600" b="0" i="0">
                <a:solidFill>
                  <a:srgbClr val="F5B759"/>
                </a:solidFill>
                <a:latin typeface="Consolas"/>
              </a:rPr>
              <a:t>print</a:t>
            </a:r>
            <a:r>
              <a:rPr lang="en-US" sz="1600" b="0" i="0">
                <a:solidFill>
                  <a:srgbClr val="E9EAEE"/>
                </a:solidFill>
                <a:latin typeface="Consolas"/>
              </a:rPr>
              <a:t>(f"Sum: {d1 + d2 + d3 + d4}")</a:t>
            </a:r>
          </a:p>
          <a:p>
            <a:pPr algn="l"/>
            <a:r>
              <a:rPr lang="en-US" sz="1600" b="0" i="0">
                <a:solidFill>
                  <a:srgbClr val="F5B759"/>
                </a:solidFill>
                <a:latin typeface="Consolas"/>
              </a:rPr>
              <a:t>print</a:t>
            </a:r>
            <a:r>
              <a:rPr lang="en-US" sz="1600" b="0" i="0">
                <a:solidFill>
                  <a:srgbClr val="E9EAEE"/>
                </a:solidFill>
                <a:latin typeface="Consolas"/>
              </a:rPr>
              <a:t>(f"Backwards: {backwards}")</a:t>
            </a:r>
          </a:p>
          <a:p>
            <a:pPr algn="l"/>
            <a:r>
              <a:rPr lang="en-US" sz="1600" b="0" i="0">
                <a:solidFill>
                  <a:srgbClr val="F5B759"/>
                </a:solidFill>
                <a:latin typeface="Consolas"/>
              </a:rPr>
              <a:t>print</a:t>
            </a:r>
            <a:r>
              <a:rPr lang="en-US" sz="1600" b="0" i="0">
                <a:solidFill>
                  <a:srgbClr val="E9EAEE"/>
                </a:solidFill>
                <a:latin typeface="Consolas"/>
              </a:rPr>
              <a:t>(f"Palindrome: {n == backwards}")</a:t>
            </a:r>
          </a:p>
        </p:txBody>
      </p:sp>
      <p:sp>
        <p:nvSpPr>
          <p:cNvPr id="12" name="Terminal"/>
          <p:cNvSpPr/>
          <p:nvPr/>
        </p:nvSpPr>
        <p:spPr>
          <a:xfrm>
            <a:off x="7567168" y="1508760"/>
            <a:ext cx="3981704" cy="2066544"/>
          </a:xfrm>
          <a:prstGeom prst="roundRect">
            <a:avLst>
              <a:gd name="adj" fmla="val 4000"/>
            </a:avLst>
          </a:prstGeom>
          <a:solidFill>
            <a:srgbClr val="111318"/>
          </a:solidFill>
          <a:ln w="12700">
            <a:solidFill>
              <a:srgbClr val="D8DBE0"/>
            </a:solidFill>
          </a:ln>
        </p:spPr>
        <p:txBody>
          <a:bodyPr rtlCol="0" anchor="ctr"/>
          <a:lstStyle/>
          <a:p>
            <a:endParaRPr/>
          </a:p>
        </p:txBody>
      </p:sp>
      <p:sp>
        <p:nvSpPr>
          <p:cNvPr id="13" name="Terminal header"/>
          <p:cNvSpPr/>
          <p:nvPr/>
        </p:nvSpPr>
        <p:spPr>
          <a:xfrm>
            <a:off x="7567168" y="1508760"/>
            <a:ext cx="3981704" cy="384048"/>
          </a:xfrm>
          <a:prstGeom prst="roundRect">
            <a:avLst>
              <a:gd name="adj" fmla="val 10000"/>
            </a:avLst>
          </a:prstGeom>
          <a:solidFill>
            <a:srgbClr val="1B1E26"/>
          </a:solidFill>
          <a:ln w="12700">
            <a:solidFill>
              <a:srgbClr val="D8DBE0"/>
            </a:solidFill>
          </a:ln>
        </p:spPr>
        <p:txBody>
          <a:bodyPr rtlCol="0" anchor="ctr"/>
          <a:lstStyle/>
          <a:p>
            <a:endParaRPr/>
          </a:p>
        </p:txBody>
      </p:sp>
      <p:sp>
        <p:nvSpPr>
          <p:cNvPr id="14" name="Terminal header fill"/>
          <p:cNvSpPr/>
          <p:nvPr/>
        </p:nvSpPr>
        <p:spPr>
          <a:xfrm>
            <a:off x="7585456" y="1700784"/>
            <a:ext cx="3945128" cy="192024"/>
          </a:xfrm>
          <a:prstGeom prst="rect">
            <a:avLst/>
          </a:prstGeom>
          <a:solidFill>
            <a:srgbClr val="1B1E26"/>
          </a:solidFill>
          <a:ln>
            <a:noFill/>
          </a:ln>
        </p:spPr>
        <p:txBody>
          <a:bodyPr rtlCol="0" anchor="ctr"/>
          <a:lstStyle/>
          <a:p>
            <a:endParaRPr/>
          </a:p>
        </p:txBody>
      </p:sp>
      <p:sp>
        <p:nvSpPr>
          <p:cNvPr id="15" name="Terminal label"/>
          <p:cNvSpPr txBox="1"/>
          <p:nvPr/>
        </p:nvSpPr>
        <p:spPr>
          <a:xfrm>
            <a:off x="7841488" y="1508760"/>
            <a:ext cx="3524504" cy="384048"/>
          </a:xfrm>
          <a:prstGeom prst="rect">
            <a:avLst/>
          </a:prstGeom>
          <a:noFill/>
        </p:spPr>
        <p:txBody>
          <a:bodyPr wrap="square" lIns="0" tIns="0" rIns="0" bIns="0" anchor="ctr">
            <a:noAutofit/>
          </a:bodyPr>
          <a:lstStyle/>
          <a:p>
            <a:pPr algn="l"/>
            <a:r>
              <a:rPr lang="en-US" sz="1200" b="0" i="0">
                <a:solidFill>
                  <a:srgbClr val="E9EAEE"/>
                </a:solidFill>
                <a:latin typeface="Consolas"/>
              </a:rPr>
              <a:t>python digits.py</a:t>
            </a:r>
          </a:p>
        </p:txBody>
      </p:sp>
      <p:sp>
        <p:nvSpPr>
          <p:cNvPr id="16" name="Output"/>
          <p:cNvSpPr txBox="1"/>
          <p:nvPr/>
        </p:nvSpPr>
        <p:spPr>
          <a:xfrm>
            <a:off x="7841488" y="2020824"/>
            <a:ext cx="3524504" cy="1463040"/>
          </a:xfrm>
          <a:prstGeom prst="rect">
            <a:avLst/>
          </a:prstGeom>
          <a:noFill/>
        </p:spPr>
        <p:txBody>
          <a:bodyPr wrap="none" lIns="0" tIns="0" rIns="0" bIns="0" anchor="t">
            <a:noAutofit/>
          </a:bodyPr>
          <a:lstStyle/>
          <a:p>
            <a:pPr algn="l"/>
            <a:r>
              <a:rPr lang="en-US" sz="1800" b="0" i="0">
                <a:solidFill>
                  <a:srgbClr val="E9EAEE"/>
                </a:solidFill>
                <a:latin typeface="Consolas"/>
              </a:rPr>
              <a:t>Number: 4913</a:t>
            </a:r>
          </a:p>
          <a:p>
            <a:pPr algn="l"/>
            <a:r>
              <a:rPr lang="en-US" sz="1800" b="0" i="0">
                <a:solidFill>
                  <a:srgbClr val="E9EAEE"/>
                </a:solidFill>
                <a:latin typeface="Consolas"/>
              </a:rPr>
              <a:t>Digits: 4 9 1 3</a:t>
            </a:r>
          </a:p>
          <a:p>
            <a:pPr algn="l"/>
            <a:r>
              <a:rPr lang="en-US" sz="1800" b="0" i="0">
                <a:solidFill>
                  <a:srgbClr val="E9EAEE"/>
                </a:solidFill>
                <a:latin typeface="Consolas"/>
              </a:rPr>
              <a:t>Sum: 17</a:t>
            </a:r>
          </a:p>
          <a:p>
            <a:pPr algn="l"/>
            <a:r>
              <a:rPr lang="en-US" sz="1800" b="0" i="0">
                <a:solidFill>
                  <a:srgbClr val="E9EAEE"/>
                </a:solidFill>
                <a:latin typeface="Consolas"/>
              </a:rPr>
              <a:t>Backwards: 3194</a:t>
            </a:r>
          </a:p>
          <a:p>
            <a:pPr algn="l"/>
            <a:r>
              <a:rPr lang="en-US" sz="1800" b="0" i="0">
                <a:solidFill>
                  <a:srgbClr val="E9EAEE"/>
                </a:solidFill>
                <a:latin typeface="Consolas"/>
              </a:rPr>
              <a:t>Palindrome: False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33 - Trace - The swap without a temporary">
    <p:spTree>
      <p:nvGrpSpPr>
        <p:cNvPr id="1" name=""/>
        <p:cNvGrpSpPr/>
        <p:nvPr/>
      </p:nvGrpSpPr>
      <p:grpSpPr>
        <a:xfrm>
          <a:off x="0" y="0"/>
          <a:ext cx="0" cy="0"/>
          <a:chOff x="0" y="0"/>
          <a:chExt cx="0" cy="0"/>
        </a:xfrm>
      </p:grpSpPr>
      <p:sp>
        <p:nvSpPr>
          <p:cNvPr id="2" name="Slide number"/>
          <p:cNvSpPr txBox="1"/>
          <p:nvPr/>
        </p:nvSpPr>
        <p:spPr>
          <a:xfrm>
            <a:off x="11430000" y="6446520"/>
            <a:ext cx="548640" cy="320040"/>
          </a:xfrm>
          <a:prstGeom prst="rect">
            <a:avLst/>
          </a:prstGeom>
          <a:noFill/>
        </p:spPr>
        <p:txBody>
          <a:bodyPr wrap="none" lIns="0" tIns="0" rIns="0" bIns="0" anchor="ctr">
            <a:spAutoFit/>
          </a:bodyPr>
          <a:lstStyle/>
          <a:p>
            <a:pPr algn="r"/>
            <a:fld id="{007A6A40-1A7B-4A1B-9D78-D7D11C5A8472}" type="slidenum">
              <a:rPr lang="en-US" sz="1200">
                <a:solidFill>
                  <a:srgbClr val="1B3A5C"/>
                </a:solidFill>
                <a:latin typeface="Raleway"/>
              </a:rPr>
              <a:t>36</a:t>
            </a:fld>
            <a:endParaRPr lang="en-US" sz="1200">
              <a:solidFill>
                <a:srgbClr val="1B3A5C"/>
              </a:solidFill>
              <a:latin typeface="Raleway"/>
            </a:endParaRPr>
          </a:p>
        </p:txBody>
      </p:sp>
      <p:sp>
        <p:nvSpPr>
          <p:cNvPr id="3" name="Title"/>
          <p:cNvSpPr txBox="1"/>
          <p:nvPr/>
        </p:nvSpPr>
        <p:spPr>
          <a:xfrm>
            <a:off x="640080" y="502920"/>
            <a:ext cx="11411712" cy="822960"/>
          </a:xfrm>
          <a:prstGeom prst="rect">
            <a:avLst/>
          </a:prstGeom>
          <a:noFill/>
        </p:spPr>
        <p:txBody>
          <a:bodyPr wrap="square" lIns="0" tIns="0" rIns="0" bIns="0" anchor="ctr">
            <a:noAutofit/>
          </a:bodyPr>
          <a:lstStyle/>
          <a:p>
            <a:pPr algn="l"/>
            <a:r>
              <a:rPr lang="en-US" sz="4000" b="1" i="0">
                <a:solidFill>
                  <a:srgbClr val="1F4E79"/>
                </a:solidFill>
                <a:latin typeface="Raleway"/>
              </a:rPr>
              <a:t>The swap without a temporary</a:t>
            </a:r>
          </a:p>
        </p:txBody>
      </p:sp>
      <p:sp>
        <p:nvSpPr>
          <p:cNvPr id="4" name="Lead"/>
          <p:cNvSpPr txBox="1"/>
          <p:nvPr/>
        </p:nvSpPr>
        <p:spPr>
          <a:xfrm>
            <a:off x="640080" y="1508760"/>
            <a:ext cx="10881360" cy="457200"/>
          </a:xfrm>
          <a:prstGeom prst="rect">
            <a:avLst/>
          </a:prstGeom>
          <a:noFill/>
        </p:spPr>
        <p:txBody>
          <a:bodyPr wrap="square" lIns="0" tIns="0" rIns="0" bIns="0" anchor="t">
            <a:noAutofit/>
          </a:bodyPr>
          <a:lstStyle/>
          <a:p>
            <a:pPr algn="l"/>
            <a:r>
              <a:rPr lang="en-US" sz="2200" b="0" i="0">
                <a:solidFill>
                  <a:srgbClr val="1D2433"/>
                </a:solidFill>
                <a:latin typeface="Raleway"/>
              </a:rPr>
              <a:t>Swap two numbers using only + and -. Fill in the trace for a = 7, b = 3.</a:t>
            </a:r>
          </a:p>
        </p:txBody>
      </p:sp>
      <p:sp>
        <p:nvSpPr>
          <p:cNvPr id="5" name="Code card"/>
          <p:cNvSpPr/>
          <p:nvPr/>
        </p:nvSpPr>
        <p:spPr>
          <a:xfrm>
            <a:off x="640080" y="2057400"/>
            <a:ext cx="5669280" cy="3133344"/>
          </a:xfrm>
          <a:prstGeom prst="roundRect">
            <a:avLst>
              <a:gd name="adj" fmla="val 4000"/>
            </a:avLst>
          </a:prstGeom>
          <a:solidFill>
            <a:srgbClr val="111318"/>
          </a:solidFill>
          <a:ln w="12700">
            <a:solidFill>
              <a:srgbClr val="D8DBE0"/>
            </a:solidFill>
          </a:ln>
        </p:spPr>
        <p:txBody>
          <a:bodyPr rtlCol="0" anchor="ctr"/>
          <a:lstStyle/>
          <a:p>
            <a:endParaRPr/>
          </a:p>
        </p:txBody>
      </p:sp>
      <p:sp>
        <p:nvSpPr>
          <p:cNvPr id="6" name="Code card header"/>
          <p:cNvSpPr/>
          <p:nvPr/>
        </p:nvSpPr>
        <p:spPr>
          <a:xfrm>
            <a:off x="640080" y="2057400"/>
            <a:ext cx="5669280" cy="384048"/>
          </a:xfrm>
          <a:prstGeom prst="roundRect">
            <a:avLst>
              <a:gd name="adj" fmla="val 10000"/>
            </a:avLst>
          </a:prstGeom>
          <a:solidFill>
            <a:srgbClr val="1B1E26"/>
          </a:solidFill>
          <a:ln w="12700">
            <a:solidFill>
              <a:srgbClr val="D8DBE0"/>
            </a:solidFill>
          </a:ln>
        </p:spPr>
        <p:txBody>
          <a:bodyPr rtlCol="0" anchor="ctr"/>
          <a:lstStyle/>
          <a:p>
            <a:endParaRPr/>
          </a:p>
        </p:txBody>
      </p:sp>
      <p:sp>
        <p:nvSpPr>
          <p:cNvPr id="7" name="Code card header fill"/>
          <p:cNvSpPr/>
          <p:nvPr/>
        </p:nvSpPr>
        <p:spPr>
          <a:xfrm>
            <a:off x="658368" y="2249424"/>
            <a:ext cx="5632704" cy="192024"/>
          </a:xfrm>
          <a:prstGeom prst="rect">
            <a:avLst/>
          </a:prstGeom>
          <a:solidFill>
            <a:srgbClr val="1B1E26"/>
          </a:solidFill>
          <a:ln>
            <a:noFill/>
          </a:ln>
        </p:spPr>
        <p:txBody>
          <a:bodyPr rtlCol="0" anchor="ctr"/>
          <a:lstStyle/>
          <a:p>
            <a:endParaRPr/>
          </a:p>
        </p:txBody>
      </p:sp>
      <p:sp>
        <p:nvSpPr>
          <p:cNvPr id="8" name="Oval 7"/>
          <p:cNvSpPr/>
          <p:nvPr/>
        </p:nvSpPr>
        <p:spPr>
          <a:xfrm>
            <a:off x="868680" y="2194560"/>
            <a:ext cx="118872" cy="118872"/>
          </a:xfrm>
          <a:prstGeom prst="ellipse">
            <a:avLst/>
          </a:prstGeom>
          <a:solidFill>
            <a:srgbClr val="FF6B6B"/>
          </a:solidFill>
          <a:ln>
            <a:noFill/>
          </a:ln>
        </p:spPr>
        <p:txBody>
          <a:bodyPr rtlCol="0" anchor="ctr"/>
          <a:lstStyle/>
          <a:p>
            <a:pPr algn="ctr"/>
            <a:endParaRPr/>
          </a:p>
        </p:txBody>
      </p:sp>
      <p:sp>
        <p:nvSpPr>
          <p:cNvPr id="9" name="Oval 8"/>
          <p:cNvSpPr/>
          <p:nvPr/>
        </p:nvSpPr>
        <p:spPr>
          <a:xfrm>
            <a:off x="1143000" y="2194560"/>
            <a:ext cx="118872" cy="118872"/>
          </a:xfrm>
          <a:prstGeom prst="ellipse">
            <a:avLst/>
          </a:prstGeom>
          <a:solidFill>
            <a:srgbClr val="FFD94A"/>
          </a:solidFill>
          <a:ln>
            <a:noFill/>
          </a:ln>
        </p:spPr>
        <p:txBody>
          <a:bodyPr rtlCol="0" anchor="ctr"/>
          <a:lstStyle/>
          <a:p>
            <a:pPr algn="ctr"/>
            <a:endParaRPr/>
          </a:p>
        </p:txBody>
      </p:sp>
      <p:sp>
        <p:nvSpPr>
          <p:cNvPr id="10" name="Oval 9"/>
          <p:cNvSpPr/>
          <p:nvPr/>
        </p:nvSpPr>
        <p:spPr>
          <a:xfrm>
            <a:off x="1417319" y="2194560"/>
            <a:ext cx="118872" cy="118872"/>
          </a:xfrm>
          <a:prstGeom prst="ellipse">
            <a:avLst/>
          </a:prstGeom>
          <a:solidFill>
            <a:srgbClr val="8FE3AB"/>
          </a:solidFill>
          <a:ln>
            <a:noFill/>
          </a:ln>
        </p:spPr>
        <p:txBody>
          <a:bodyPr rtlCol="0" anchor="ctr"/>
          <a:lstStyle/>
          <a:p>
            <a:pPr algn="ctr"/>
            <a:endParaRPr/>
          </a:p>
        </p:txBody>
      </p:sp>
      <p:sp>
        <p:nvSpPr>
          <p:cNvPr id="11" name="Filename"/>
          <p:cNvSpPr txBox="1"/>
          <p:nvPr/>
        </p:nvSpPr>
        <p:spPr>
          <a:xfrm>
            <a:off x="1828800" y="2057400"/>
            <a:ext cx="4297680" cy="384048"/>
          </a:xfrm>
          <a:prstGeom prst="rect">
            <a:avLst/>
          </a:prstGeom>
          <a:noFill/>
        </p:spPr>
        <p:txBody>
          <a:bodyPr wrap="square" lIns="0" tIns="0" rIns="0" bIns="0" anchor="ctr">
            <a:noAutofit/>
          </a:bodyPr>
          <a:lstStyle/>
          <a:p>
            <a:pPr algn="l"/>
            <a:r>
              <a:rPr lang="en-US" sz="1200" b="0" i="0">
                <a:solidFill>
                  <a:srgbClr val="E9EAEE"/>
                </a:solidFill>
                <a:latin typeface="Consolas"/>
              </a:rPr>
              <a:t>swap.py</a:t>
            </a:r>
          </a:p>
        </p:txBody>
      </p:sp>
      <p:sp>
        <p:nvSpPr>
          <p:cNvPr id="12" name="Code"/>
          <p:cNvSpPr txBox="1"/>
          <p:nvPr/>
        </p:nvSpPr>
        <p:spPr>
          <a:xfrm>
            <a:off x="1005840" y="2551176"/>
            <a:ext cx="5029200" cy="2548128"/>
          </a:xfrm>
          <a:prstGeom prst="rect">
            <a:avLst/>
          </a:prstGeom>
          <a:noFill/>
        </p:spPr>
        <p:txBody>
          <a:bodyPr wrap="none" lIns="0" tIns="0" rIns="0" bIns="0" anchor="t">
            <a:noAutofit/>
          </a:bodyPr>
          <a:lstStyle/>
          <a:p>
            <a:pPr algn="l"/>
            <a:r>
              <a:rPr lang="en-US" sz="2000" b="0" i="0">
                <a:solidFill>
                  <a:srgbClr val="E9EAEE"/>
                </a:solidFill>
                <a:latin typeface="Consolas"/>
              </a:rPr>
              <a:t>a = </a:t>
            </a:r>
            <a:r>
              <a:rPr lang="en-US" sz="2000" b="0" i="0">
                <a:solidFill>
                  <a:srgbClr val="F5B759"/>
                </a:solidFill>
                <a:latin typeface="Consolas"/>
              </a:rPr>
              <a:t>int</a:t>
            </a:r>
            <a:r>
              <a:rPr lang="en-US" sz="2000" b="0" i="0">
                <a:solidFill>
                  <a:srgbClr val="E9EAEE"/>
                </a:solidFill>
                <a:latin typeface="Consolas"/>
              </a:rPr>
              <a:t>(</a:t>
            </a:r>
            <a:r>
              <a:rPr lang="en-US" sz="2000" b="0" i="0">
                <a:solidFill>
                  <a:srgbClr val="F5B759"/>
                </a:solidFill>
                <a:latin typeface="Consolas"/>
              </a:rPr>
              <a:t>input</a:t>
            </a:r>
            <a:r>
              <a:rPr lang="en-US" sz="2000" b="0" i="0">
                <a:solidFill>
                  <a:srgbClr val="E9EAEE"/>
                </a:solidFill>
                <a:latin typeface="Consolas"/>
              </a:rPr>
              <a:t>("a: "))</a:t>
            </a:r>
          </a:p>
          <a:p>
            <a:pPr algn="l"/>
            <a:r>
              <a:rPr lang="en-US" sz="2000" b="0" i="0">
                <a:solidFill>
                  <a:srgbClr val="E9EAEE"/>
                </a:solidFill>
                <a:latin typeface="Consolas"/>
              </a:rPr>
              <a:t>b = </a:t>
            </a:r>
            <a:r>
              <a:rPr lang="en-US" sz="2000" b="0" i="0">
                <a:solidFill>
                  <a:srgbClr val="F5B759"/>
                </a:solidFill>
                <a:latin typeface="Consolas"/>
              </a:rPr>
              <a:t>int</a:t>
            </a:r>
            <a:r>
              <a:rPr lang="en-US" sz="2000" b="0" i="0">
                <a:solidFill>
                  <a:srgbClr val="E9EAEE"/>
                </a:solidFill>
                <a:latin typeface="Consolas"/>
              </a:rPr>
              <a:t>(</a:t>
            </a:r>
            <a:r>
              <a:rPr lang="en-US" sz="2000" b="0" i="0">
                <a:solidFill>
                  <a:srgbClr val="F5B759"/>
                </a:solidFill>
                <a:latin typeface="Consolas"/>
              </a:rPr>
              <a:t>input</a:t>
            </a:r>
            <a:r>
              <a:rPr lang="en-US" sz="2000" b="0" i="0">
                <a:solidFill>
                  <a:srgbClr val="E9EAEE"/>
                </a:solidFill>
                <a:latin typeface="Consolas"/>
              </a:rPr>
              <a:t>("b: "))</a:t>
            </a:r>
          </a:p>
          <a:p>
            <a:pPr algn="l"/>
            <a:endParaRPr lang="en-US" sz="2000" b="0" i="0">
              <a:solidFill>
                <a:srgbClr val="E9EAEE"/>
              </a:solidFill>
              <a:latin typeface="Consolas"/>
            </a:endParaRPr>
          </a:p>
          <a:p>
            <a:pPr algn="l"/>
            <a:r>
              <a:rPr lang="en-US" sz="2000" b="0" i="0">
                <a:solidFill>
                  <a:srgbClr val="E9EAEE"/>
                </a:solidFill>
                <a:latin typeface="Consolas"/>
              </a:rPr>
              <a:t>a = a + b</a:t>
            </a:r>
          </a:p>
          <a:p>
            <a:pPr algn="l"/>
            <a:r>
              <a:rPr lang="en-US" sz="2000" b="0" i="0">
                <a:solidFill>
                  <a:srgbClr val="E9EAEE"/>
                </a:solidFill>
                <a:latin typeface="Consolas"/>
              </a:rPr>
              <a:t>b = a - b</a:t>
            </a:r>
          </a:p>
          <a:p>
            <a:pPr algn="l"/>
            <a:r>
              <a:rPr lang="en-US" sz="2000" b="0" i="0">
                <a:solidFill>
                  <a:srgbClr val="E9EAEE"/>
                </a:solidFill>
                <a:latin typeface="Consolas"/>
              </a:rPr>
              <a:t>a = a - b</a:t>
            </a:r>
          </a:p>
          <a:p>
            <a:pPr algn="l"/>
            <a:endParaRPr lang="en-US" sz="2000" b="0" i="0">
              <a:solidFill>
                <a:srgbClr val="E9EAEE"/>
              </a:solidFill>
              <a:latin typeface="Consolas"/>
            </a:endParaRPr>
          </a:p>
          <a:p>
            <a:pPr algn="l"/>
            <a:r>
              <a:rPr lang="en-US" sz="2000" b="0" i="0">
                <a:solidFill>
                  <a:srgbClr val="F5B759"/>
                </a:solidFill>
                <a:latin typeface="Consolas"/>
              </a:rPr>
              <a:t>print</a:t>
            </a:r>
            <a:r>
              <a:rPr lang="en-US" sz="2000" b="0" i="0">
                <a:solidFill>
                  <a:srgbClr val="E9EAEE"/>
                </a:solidFill>
                <a:latin typeface="Consolas"/>
              </a:rPr>
              <a:t>(f"a = {a}, b = {b}")</a:t>
            </a:r>
          </a:p>
        </p:txBody>
      </p:sp>
      <p:graphicFrame>
        <p:nvGraphicFramePr>
          <p:cNvPr id="13" name="Table"/>
          <p:cNvGraphicFramePr>
            <a:graphicFrameLocks noGrp="1"/>
          </p:cNvGraphicFramePr>
          <p:nvPr/>
        </p:nvGraphicFramePr>
        <p:xfrm>
          <a:off x="6583680" y="2057400"/>
          <a:ext cx="3840480" cy="1920240"/>
        </p:xfrm>
        <a:graphic>
          <a:graphicData uri="http://schemas.openxmlformats.org/drawingml/2006/table">
            <a:tbl>
              <a:tblPr/>
              <a:tblGrid>
                <a:gridCol w="20116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384048">
                <a:tc>
                  <a:txBody>
                    <a:bodyPr/>
                    <a:lstStyle/>
                    <a:p>
                      <a:pPr algn="ctr"/>
                      <a:r>
                        <a:rPr lang="en-US" sz="1800" b="0" i="0">
                          <a:solidFill>
                            <a:srgbClr val="FFFFFF"/>
                          </a:solidFill>
                          <a:latin typeface="Raleway"/>
                        </a:rPr>
                        <a:t>step</a:t>
                      </a:r>
                    </a:p>
                  </a:txBody>
                  <a:tcPr marT="36576" marB="36576" anchor="ctr">
                    <a:solidFill>
                      <a:srgbClr val="1B3A5C"/>
                    </a:solidFill>
                  </a:tcPr>
                </a:tc>
                <a:tc>
                  <a:txBody>
                    <a:bodyPr/>
                    <a:lstStyle/>
                    <a:p>
                      <a:pPr algn="ctr"/>
                      <a:r>
                        <a:rPr lang="en-US" sz="1800" b="0" i="0">
                          <a:solidFill>
                            <a:srgbClr val="FFFFFF"/>
                          </a:solidFill>
                          <a:latin typeface="Raleway"/>
                        </a:rPr>
                        <a:t>a</a:t>
                      </a:r>
                    </a:p>
                  </a:txBody>
                  <a:tcPr marT="36576" marB="36576" anchor="ctr">
                    <a:solidFill>
                      <a:srgbClr val="1B3A5C"/>
                    </a:solidFill>
                  </a:tcPr>
                </a:tc>
                <a:tc>
                  <a:txBody>
                    <a:bodyPr/>
                    <a:lstStyle/>
                    <a:p>
                      <a:pPr algn="ctr"/>
                      <a:r>
                        <a:rPr lang="en-US" sz="1800" b="0" i="0">
                          <a:solidFill>
                            <a:srgbClr val="FFFFFF"/>
                          </a:solidFill>
                          <a:latin typeface="Raleway"/>
                        </a:rPr>
                        <a:t>b</a:t>
                      </a:r>
                    </a:p>
                  </a:txBody>
                  <a:tcPr marT="36576" marB="36576" anchor="ctr">
                    <a:solidFill>
                      <a:srgbClr val="1B3A5C"/>
                    </a:solidFill>
                  </a:tcPr>
                </a:tc>
                <a:extLst>
                  <a:ext uri="{0D108BD9-81ED-4DB2-BD59-A6C34878D82A}">
                    <a16:rowId xmlns:a16="http://schemas.microsoft.com/office/drawing/2014/main" val="10000"/>
                  </a:ext>
                </a:extLst>
              </a:tr>
              <a:tr h="384048">
                <a:tc>
                  <a:txBody>
                    <a:bodyPr/>
                    <a:lstStyle/>
                    <a:p>
                      <a:pPr algn="l"/>
                      <a:r>
                        <a:rPr lang="en-US" sz="1800" b="0" i="0">
                          <a:solidFill>
                            <a:srgbClr val="1D2433"/>
                          </a:solidFill>
                          <a:latin typeface="Consolas"/>
                        </a:rPr>
                        <a:t>start</a:t>
                      </a:r>
                    </a:p>
                  </a:txBody>
                  <a:tcPr marT="36576" marB="36576" anchor="ctr">
                    <a:solidFill>
                      <a:srgbClr val="FFFFFF"/>
                    </a:solidFill>
                  </a:tcPr>
                </a:tc>
                <a:tc>
                  <a:txBody>
                    <a:bodyPr/>
                    <a:lstStyle/>
                    <a:p>
                      <a:pPr algn="ctr"/>
                      <a:r>
                        <a:rPr lang="en-US" sz="1800" b="0" i="0">
                          <a:solidFill>
                            <a:srgbClr val="1D2433"/>
                          </a:solidFill>
                          <a:latin typeface="Raleway"/>
                        </a:rPr>
                        <a:t>7</a:t>
                      </a:r>
                    </a:p>
                  </a:txBody>
                  <a:tcPr marT="36576" marB="36576" anchor="ctr">
                    <a:solidFill>
                      <a:srgbClr val="FFFFFF"/>
                    </a:solidFill>
                  </a:tcPr>
                </a:tc>
                <a:tc>
                  <a:txBody>
                    <a:bodyPr/>
                    <a:lstStyle/>
                    <a:p>
                      <a:pPr algn="ctr"/>
                      <a:r>
                        <a:rPr lang="en-US" sz="1800" b="0" i="0">
                          <a:solidFill>
                            <a:srgbClr val="1D2433"/>
                          </a:solidFill>
                          <a:latin typeface="Raleway"/>
                        </a:rPr>
                        <a:t>3</a:t>
                      </a:r>
                    </a:p>
                  </a:txBody>
                  <a:tcPr marT="36576" marB="36576" anchor="ctr">
                    <a:solidFill>
                      <a:srgbClr val="FFFFFF"/>
                    </a:solidFill>
                  </a:tcPr>
                </a:tc>
                <a:extLst>
                  <a:ext uri="{0D108BD9-81ED-4DB2-BD59-A6C34878D82A}">
                    <a16:rowId xmlns:a16="http://schemas.microsoft.com/office/drawing/2014/main" val="10001"/>
                  </a:ext>
                </a:extLst>
              </a:tr>
              <a:tr h="384048">
                <a:tc>
                  <a:txBody>
                    <a:bodyPr/>
                    <a:lstStyle/>
                    <a:p>
                      <a:pPr algn="l"/>
                      <a:r>
                        <a:rPr lang="en-US" sz="1800" b="0" i="0">
                          <a:solidFill>
                            <a:srgbClr val="1D2433"/>
                          </a:solidFill>
                          <a:latin typeface="Consolas"/>
                        </a:rPr>
                        <a:t>a = a + b</a:t>
                      </a:r>
                    </a:p>
                  </a:txBody>
                  <a:tcPr marT="36576" marB="36576" anchor="ctr">
                    <a:solidFill>
                      <a:srgbClr val="F2F3F5"/>
                    </a:solidFill>
                  </a:tcPr>
                </a:tc>
                <a:tc>
                  <a:txBody>
                    <a:bodyPr/>
                    <a:lstStyle/>
                    <a:p>
                      <a:pPr algn="ctr"/>
                      <a:endParaRPr/>
                    </a:p>
                  </a:txBody>
                  <a:tcPr marT="36576" marB="36576" anchor="ctr">
                    <a:solidFill>
                      <a:srgbClr val="F2F3F5"/>
                    </a:solidFill>
                  </a:tcPr>
                </a:tc>
                <a:tc>
                  <a:txBody>
                    <a:bodyPr/>
                    <a:lstStyle/>
                    <a:p>
                      <a:pPr algn="ctr"/>
                      <a:endParaRPr/>
                    </a:p>
                  </a:txBody>
                  <a:tcPr marT="36576" marB="36576" anchor="ctr">
                    <a:solidFill>
                      <a:srgbClr val="F2F3F5"/>
                    </a:solidFill>
                  </a:tcPr>
                </a:tc>
                <a:extLst>
                  <a:ext uri="{0D108BD9-81ED-4DB2-BD59-A6C34878D82A}">
                    <a16:rowId xmlns:a16="http://schemas.microsoft.com/office/drawing/2014/main" val="10002"/>
                  </a:ext>
                </a:extLst>
              </a:tr>
              <a:tr h="384048">
                <a:tc>
                  <a:txBody>
                    <a:bodyPr/>
                    <a:lstStyle/>
                    <a:p>
                      <a:pPr algn="l"/>
                      <a:r>
                        <a:rPr lang="en-US" sz="1800" b="0" i="0">
                          <a:solidFill>
                            <a:srgbClr val="1D2433"/>
                          </a:solidFill>
                          <a:latin typeface="Consolas"/>
                        </a:rPr>
                        <a:t>b = a - b</a:t>
                      </a:r>
                    </a:p>
                  </a:txBody>
                  <a:tcPr marT="36576" marB="36576" anchor="ctr">
                    <a:solidFill>
                      <a:srgbClr val="FFFFFF"/>
                    </a:solidFill>
                  </a:tcPr>
                </a:tc>
                <a:tc>
                  <a:txBody>
                    <a:bodyPr/>
                    <a:lstStyle/>
                    <a:p>
                      <a:pPr algn="ctr"/>
                      <a:endParaRPr/>
                    </a:p>
                  </a:txBody>
                  <a:tcPr marT="36576" marB="36576" anchor="ctr">
                    <a:solidFill>
                      <a:srgbClr val="FFFFFF"/>
                    </a:solidFill>
                  </a:tcPr>
                </a:tc>
                <a:tc>
                  <a:txBody>
                    <a:bodyPr/>
                    <a:lstStyle/>
                    <a:p>
                      <a:pPr algn="ctr"/>
                      <a:endParaRPr/>
                    </a:p>
                  </a:txBody>
                  <a:tcPr marT="36576" marB="36576" anchor="ctr">
                    <a:solidFill>
                      <a:srgbClr val="FFFFFF"/>
                    </a:solidFill>
                  </a:tcPr>
                </a:tc>
                <a:extLst>
                  <a:ext uri="{0D108BD9-81ED-4DB2-BD59-A6C34878D82A}">
                    <a16:rowId xmlns:a16="http://schemas.microsoft.com/office/drawing/2014/main" val="10003"/>
                  </a:ext>
                </a:extLst>
              </a:tr>
              <a:tr h="384048">
                <a:tc>
                  <a:txBody>
                    <a:bodyPr/>
                    <a:lstStyle/>
                    <a:p>
                      <a:pPr algn="l"/>
                      <a:r>
                        <a:rPr lang="en-US" sz="1800" b="0" i="0">
                          <a:solidFill>
                            <a:srgbClr val="1D2433"/>
                          </a:solidFill>
                          <a:latin typeface="Consolas"/>
                        </a:rPr>
                        <a:t>a = a - b</a:t>
                      </a:r>
                    </a:p>
                  </a:txBody>
                  <a:tcPr marT="36576" marB="36576" anchor="ctr">
                    <a:solidFill>
                      <a:srgbClr val="FBE5D6"/>
                    </a:solidFill>
                  </a:tcPr>
                </a:tc>
                <a:tc>
                  <a:txBody>
                    <a:bodyPr/>
                    <a:lstStyle/>
                    <a:p>
                      <a:pPr algn="ctr"/>
                      <a:endParaRPr/>
                    </a:p>
                  </a:txBody>
                  <a:tcPr marT="36576" marB="36576" anchor="ctr">
                    <a:solidFill>
                      <a:srgbClr val="FBE5D6"/>
                    </a:solidFill>
                  </a:tcPr>
                </a:tc>
                <a:tc>
                  <a:txBody>
                    <a:bodyPr/>
                    <a:lstStyle/>
                    <a:p>
                      <a:pPr algn="ctr"/>
                      <a:endParaRPr/>
                    </a:p>
                  </a:txBody>
                  <a:tcPr marT="36576" marB="36576" anchor="ctr">
                    <a:solidFill>
                      <a:srgbClr val="FBE5D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33 - Trace - The swap without a temporary">
    <p:spTree>
      <p:nvGrpSpPr>
        <p:cNvPr id="1" name=""/>
        <p:cNvGrpSpPr/>
        <p:nvPr/>
      </p:nvGrpSpPr>
      <p:grpSpPr>
        <a:xfrm>
          <a:off x="0" y="0"/>
          <a:ext cx="0" cy="0"/>
          <a:chOff x="0" y="0"/>
          <a:chExt cx="0" cy="0"/>
        </a:xfrm>
      </p:grpSpPr>
      <p:sp>
        <p:nvSpPr>
          <p:cNvPr id="2" name="Slide number"/>
          <p:cNvSpPr txBox="1"/>
          <p:nvPr/>
        </p:nvSpPr>
        <p:spPr>
          <a:xfrm>
            <a:off x="11430000" y="6446520"/>
            <a:ext cx="548640" cy="320040"/>
          </a:xfrm>
          <a:prstGeom prst="rect">
            <a:avLst/>
          </a:prstGeom>
          <a:noFill/>
        </p:spPr>
        <p:txBody>
          <a:bodyPr wrap="none" lIns="0" tIns="0" rIns="0" bIns="0" anchor="ctr">
            <a:spAutoFit/>
          </a:bodyPr>
          <a:lstStyle/>
          <a:p>
            <a:pPr algn="r"/>
            <a:fld id="{007A6A40-1A7B-4A1B-9D78-D7D11C5A8472}" type="slidenum">
              <a:rPr lang="en-US" sz="1200">
                <a:solidFill>
                  <a:srgbClr val="1B3A5C"/>
                </a:solidFill>
                <a:latin typeface="Raleway"/>
              </a:rPr>
              <a:t>37</a:t>
            </a:fld>
            <a:endParaRPr lang="en-US" sz="1200">
              <a:solidFill>
                <a:srgbClr val="1B3A5C"/>
              </a:solidFill>
              <a:latin typeface="Raleway"/>
            </a:endParaRPr>
          </a:p>
        </p:txBody>
      </p:sp>
      <p:sp>
        <p:nvSpPr>
          <p:cNvPr id="3" name="Title"/>
          <p:cNvSpPr txBox="1"/>
          <p:nvPr/>
        </p:nvSpPr>
        <p:spPr>
          <a:xfrm>
            <a:off x="640080" y="502920"/>
            <a:ext cx="11411712" cy="822960"/>
          </a:xfrm>
          <a:prstGeom prst="rect">
            <a:avLst/>
          </a:prstGeom>
          <a:noFill/>
        </p:spPr>
        <p:txBody>
          <a:bodyPr wrap="square" lIns="0" tIns="0" rIns="0" bIns="0" anchor="ctr">
            <a:noAutofit/>
          </a:bodyPr>
          <a:lstStyle/>
          <a:p>
            <a:pPr algn="l"/>
            <a:r>
              <a:rPr lang="en-US" sz="4000" b="1" i="0">
                <a:solidFill>
                  <a:srgbClr val="1F4E79"/>
                </a:solidFill>
                <a:latin typeface="Raleway"/>
              </a:rPr>
              <a:t>The swap without a temporary - the trace</a:t>
            </a:r>
          </a:p>
        </p:txBody>
      </p:sp>
      <p:sp>
        <p:nvSpPr>
          <p:cNvPr id="4" name="Lead"/>
          <p:cNvSpPr txBox="1"/>
          <p:nvPr/>
        </p:nvSpPr>
        <p:spPr>
          <a:xfrm>
            <a:off x="640080" y="1508760"/>
            <a:ext cx="10881360" cy="457200"/>
          </a:xfrm>
          <a:prstGeom prst="rect">
            <a:avLst/>
          </a:prstGeom>
          <a:noFill/>
        </p:spPr>
        <p:txBody>
          <a:bodyPr wrap="square" lIns="0" tIns="0" rIns="0" bIns="0" anchor="t">
            <a:noAutofit/>
          </a:bodyPr>
          <a:lstStyle/>
          <a:p>
            <a:pPr algn="l"/>
            <a:r>
              <a:rPr lang="en-US" sz="2200" b="0" i="0">
                <a:solidFill>
                  <a:srgbClr val="1D2433"/>
                </a:solidFill>
                <a:latin typeface="Raleway"/>
              </a:rPr>
              <a:t>With a = 7, b = 3: after each line, exactly one of the two variables has changed.</a:t>
            </a:r>
          </a:p>
        </p:txBody>
      </p:sp>
      <p:sp>
        <p:nvSpPr>
          <p:cNvPr id="5" name="Code card"/>
          <p:cNvSpPr/>
          <p:nvPr/>
        </p:nvSpPr>
        <p:spPr>
          <a:xfrm>
            <a:off x="640080" y="2057400"/>
            <a:ext cx="5669280" cy="3133344"/>
          </a:xfrm>
          <a:prstGeom prst="roundRect">
            <a:avLst>
              <a:gd name="adj" fmla="val 4000"/>
            </a:avLst>
          </a:prstGeom>
          <a:solidFill>
            <a:srgbClr val="111318"/>
          </a:solidFill>
          <a:ln w="12700">
            <a:solidFill>
              <a:srgbClr val="D8DBE0"/>
            </a:solidFill>
          </a:ln>
        </p:spPr>
        <p:txBody>
          <a:bodyPr rtlCol="0" anchor="ctr"/>
          <a:lstStyle/>
          <a:p>
            <a:endParaRPr/>
          </a:p>
        </p:txBody>
      </p:sp>
      <p:sp>
        <p:nvSpPr>
          <p:cNvPr id="6" name="Code card header"/>
          <p:cNvSpPr/>
          <p:nvPr/>
        </p:nvSpPr>
        <p:spPr>
          <a:xfrm>
            <a:off x="640080" y="2057400"/>
            <a:ext cx="5669280" cy="384048"/>
          </a:xfrm>
          <a:prstGeom prst="roundRect">
            <a:avLst>
              <a:gd name="adj" fmla="val 10000"/>
            </a:avLst>
          </a:prstGeom>
          <a:solidFill>
            <a:srgbClr val="1B1E26"/>
          </a:solidFill>
          <a:ln w="12700">
            <a:solidFill>
              <a:srgbClr val="D8DBE0"/>
            </a:solidFill>
          </a:ln>
        </p:spPr>
        <p:txBody>
          <a:bodyPr rtlCol="0" anchor="ctr"/>
          <a:lstStyle/>
          <a:p>
            <a:endParaRPr/>
          </a:p>
        </p:txBody>
      </p:sp>
      <p:sp>
        <p:nvSpPr>
          <p:cNvPr id="7" name="Code card header fill"/>
          <p:cNvSpPr/>
          <p:nvPr/>
        </p:nvSpPr>
        <p:spPr>
          <a:xfrm>
            <a:off x="658368" y="2249424"/>
            <a:ext cx="5632704" cy="192024"/>
          </a:xfrm>
          <a:prstGeom prst="rect">
            <a:avLst/>
          </a:prstGeom>
          <a:solidFill>
            <a:srgbClr val="1B1E26"/>
          </a:solidFill>
          <a:ln>
            <a:noFill/>
          </a:ln>
        </p:spPr>
        <p:txBody>
          <a:bodyPr rtlCol="0" anchor="ctr"/>
          <a:lstStyle/>
          <a:p>
            <a:endParaRPr/>
          </a:p>
        </p:txBody>
      </p:sp>
      <p:sp>
        <p:nvSpPr>
          <p:cNvPr id="8" name="Oval 7"/>
          <p:cNvSpPr/>
          <p:nvPr/>
        </p:nvSpPr>
        <p:spPr>
          <a:xfrm>
            <a:off x="868680" y="2194560"/>
            <a:ext cx="118872" cy="118872"/>
          </a:xfrm>
          <a:prstGeom prst="ellipse">
            <a:avLst/>
          </a:prstGeom>
          <a:solidFill>
            <a:srgbClr val="FF6B6B"/>
          </a:solidFill>
          <a:ln>
            <a:noFill/>
          </a:ln>
        </p:spPr>
        <p:txBody>
          <a:bodyPr rtlCol="0" anchor="ctr"/>
          <a:lstStyle/>
          <a:p>
            <a:pPr algn="ctr"/>
            <a:endParaRPr/>
          </a:p>
        </p:txBody>
      </p:sp>
      <p:sp>
        <p:nvSpPr>
          <p:cNvPr id="9" name="Oval 8"/>
          <p:cNvSpPr/>
          <p:nvPr/>
        </p:nvSpPr>
        <p:spPr>
          <a:xfrm>
            <a:off x="1143000" y="2194560"/>
            <a:ext cx="118872" cy="118872"/>
          </a:xfrm>
          <a:prstGeom prst="ellipse">
            <a:avLst/>
          </a:prstGeom>
          <a:solidFill>
            <a:srgbClr val="FFD94A"/>
          </a:solidFill>
          <a:ln>
            <a:noFill/>
          </a:ln>
        </p:spPr>
        <p:txBody>
          <a:bodyPr rtlCol="0" anchor="ctr"/>
          <a:lstStyle/>
          <a:p>
            <a:pPr algn="ctr"/>
            <a:endParaRPr/>
          </a:p>
        </p:txBody>
      </p:sp>
      <p:sp>
        <p:nvSpPr>
          <p:cNvPr id="10" name="Oval 9"/>
          <p:cNvSpPr/>
          <p:nvPr/>
        </p:nvSpPr>
        <p:spPr>
          <a:xfrm>
            <a:off x="1417319" y="2194560"/>
            <a:ext cx="118872" cy="118872"/>
          </a:xfrm>
          <a:prstGeom prst="ellipse">
            <a:avLst/>
          </a:prstGeom>
          <a:solidFill>
            <a:srgbClr val="8FE3AB"/>
          </a:solidFill>
          <a:ln>
            <a:noFill/>
          </a:ln>
        </p:spPr>
        <p:txBody>
          <a:bodyPr rtlCol="0" anchor="ctr"/>
          <a:lstStyle/>
          <a:p>
            <a:pPr algn="ctr"/>
            <a:endParaRPr/>
          </a:p>
        </p:txBody>
      </p:sp>
      <p:sp>
        <p:nvSpPr>
          <p:cNvPr id="11" name="Filename"/>
          <p:cNvSpPr txBox="1"/>
          <p:nvPr/>
        </p:nvSpPr>
        <p:spPr>
          <a:xfrm>
            <a:off x="1828800" y="2057400"/>
            <a:ext cx="4297680" cy="384048"/>
          </a:xfrm>
          <a:prstGeom prst="rect">
            <a:avLst/>
          </a:prstGeom>
          <a:noFill/>
        </p:spPr>
        <p:txBody>
          <a:bodyPr wrap="square" lIns="0" tIns="0" rIns="0" bIns="0" anchor="ctr">
            <a:noAutofit/>
          </a:bodyPr>
          <a:lstStyle/>
          <a:p>
            <a:pPr algn="l"/>
            <a:r>
              <a:rPr lang="en-US" sz="1200" b="0" i="0">
                <a:solidFill>
                  <a:srgbClr val="E9EAEE"/>
                </a:solidFill>
                <a:latin typeface="Consolas"/>
              </a:rPr>
              <a:t>swap.py</a:t>
            </a:r>
          </a:p>
        </p:txBody>
      </p:sp>
      <p:sp>
        <p:nvSpPr>
          <p:cNvPr id="12" name="Code"/>
          <p:cNvSpPr txBox="1"/>
          <p:nvPr/>
        </p:nvSpPr>
        <p:spPr>
          <a:xfrm>
            <a:off x="1005840" y="2551176"/>
            <a:ext cx="5029200" cy="2548128"/>
          </a:xfrm>
          <a:prstGeom prst="rect">
            <a:avLst/>
          </a:prstGeom>
          <a:noFill/>
        </p:spPr>
        <p:txBody>
          <a:bodyPr wrap="none" lIns="0" tIns="0" rIns="0" bIns="0" anchor="t">
            <a:noAutofit/>
          </a:bodyPr>
          <a:lstStyle/>
          <a:p>
            <a:pPr algn="l"/>
            <a:r>
              <a:rPr lang="en-US" sz="2000" b="0" i="0">
                <a:solidFill>
                  <a:srgbClr val="E9EAEE"/>
                </a:solidFill>
                <a:latin typeface="Consolas"/>
              </a:rPr>
              <a:t>a = </a:t>
            </a:r>
            <a:r>
              <a:rPr lang="en-US" sz="2000" b="0" i="0">
                <a:solidFill>
                  <a:srgbClr val="F5B759"/>
                </a:solidFill>
                <a:latin typeface="Consolas"/>
              </a:rPr>
              <a:t>int</a:t>
            </a:r>
            <a:r>
              <a:rPr lang="en-US" sz="2000" b="0" i="0">
                <a:solidFill>
                  <a:srgbClr val="E9EAEE"/>
                </a:solidFill>
                <a:latin typeface="Consolas"/>
              </a:rPr>
              <a:t>(</a:t>
            </a:r>
            <a:r>
              <a:rPr lang="en-US" sz="2000" b="0" i="0">
                <a:solidFill>
                  <a:srgbClr val="F5B759"/>
                </a:solidFill>
                <a:latin typeface="Consolas"/>
              </a:rPr>
              <a:t>input</a:t>
            </a:r>
            <a:r>
              <a:rPr lang="en-US" sz="2000" b="0" i="0">
                <a:solidFill>
                  <a:srgbClr val="E9EAEE"/>
                </a:solidFill>
                <a:latin typeface="Consolas"/>
              </a:rPr>
              <a:t>("a: "))</a:t>
            </a:r>
          </a:p>
          <a:p>
            <a:pPr algn="l"/>
            <a:r>
              <a:rPr lang="en-US" sz="2000" b="0" i="0">
                <a:solidFill>
                  <a:srgbClr val="E9EAEE"/>
                </a:solidFill>
                <a:latin typeface="Consolas"/>
              </a:rPr>
              <a:t>b = </a:t>
            </a:r>
            <a:r>
              <a:rPr lang="en-US" sz="2000" b="0" i="0">
                <a:solidFill>
                  <a:srgbClr val="F5B759"/>
                </a:solidFill>
                <a:latin typeface="Consolas"/>
              </a:rPr>
              <a:t>int</a:t>
            </a:r>
            <a:r>
              <a:rPr lang="en-US" sz="2000" b="0" i="0">
                <a:solidFill>
                  <a:srgbClr val="E9EAEE"/>
                </a:solidFill>
                <a:latin typeface="Consolas"/>
              </a:rPr>
              <a:t>(</a:t>
            </a:r>
            <a:r>
              <a:rPr lang="en-US" sz="2000" b="0" i="0">
                <a:solidFill>
                  <a:srgbClr val="F5B759"/>
                </a:solidFill>
                <a:latin typeface="Consolas"/>
              </a:rPr>
              <a:t>input</a:t>
            </a:r>
            <a:r>
              <a:rPr lang="en-US" sz="2000" b="0" i="0">
                <a:solidFill>
                  <a:srgbClr val="E9EAEE"/>
                </a:solidFill>
                <a:latin typeface="Consolas"/>
              </a:rPr>
              <a:t>("b: "))</a:t>
            </a:r>
          </a:p>
          <a:p>
            <a:pPr algn="l"/>
            <a:endParaRPr lang="en-US" sz="2000" b="0" i="0">
              <a:solidFill>
                <a:srgbClr val="E9EAEE"/>
              </a:solidFill>
              <a:latin typeface="Consolas"/>
            </a:endParaRPr>
          </a:p>
          <a:p>
            <a:pPr algn="l"/>
            <a:r>
              <a:rPr lang="en-US" sz="2000" b="0" i="0">
                <a:solidFill>
                  <a:srgbClr val="E9EAEE"/>
                </a:solidFill>
                <a:latin typeface="Consolas"/>
              </a:rPr>
              <a:t>a = a + b</a:t>
            </a:r>
          </a:p>
          <a:p>
            <a:pPr algn="l"/>
            <a:r>
              <a:rPr lang="en-US" sz="2000" b="0" i="0">
                <a:solidFill>
                  <a:srgbClr val="E9EAEE"/>
                </a:solidFill>
                <a:latin typeface="Consolas"/>
              </a:rPr>
              <a:t>b = a - b</a:t>
            </a:r>
          </a:p>
          <a:p>
            <a:pPr algn="l"/>
            <a:r>
              <a:rPr lang="en-US" sz="2000" b="0" i="0">
                <a:solidFill>
                  <a:srgbClr val="E9EAEE"/>
                </a:solidFill>
                <a:latin typeface="Consolas"/>
              </a:rPr>
              <a:t>a = a - b</a:t>
            </a:r>
          </a:p>
          <a:p>
            <a:pPr algn="l"/>
            <a:endParaRPr lang="en-US" sz="2000" b="0" i="0">
              <a:solidFill>
                <a:srgbClr val="E9EAEE"/>
              </a:solidFill>
              <a:latin typeface="Consolas"/>
            </a:endParaRPr>
          </a:p>
          <a:p>
            <a:pPr algn="l"/>
            <a:r>
              <a:rPr lang="en-US" sz="2000" b="0" i="0">
                <a:solidFill>
                  <a:srgbClr val="F5B759"/>
                </a:solidFill>
                <a:latin typeface="Consolas"/>
              </a:rPr>
              <a:t>print</a:t>
            </a:r>
            <a:r>
              <a:rPr lang="en-US" sz="2000" b="0" i="0">
                <a:solidFill>
                  <a:srgbClr val="E9EAEE"/>
                </a:solidFill>
                <a:latin typeface="Consolas"/>
              </a:rPr>
              <a:t>(f"a = {a}, b = {b}")</a:t>
            </a:r>
          </a:p>
        </p:txBody>
      </p:sp>
      <p:graphicFrame>
        <p:nvGraphicFramePr>
          <p:cNvPr id="13" name="Table"/>
          <p:cNvGraphicFramePr>
            <a:graphicFrameLocks noGrp="1"/>
          </p:cNvGraphicFramePr>
          <p:nvPr/>
        </p:nvGraphicFramePr>
        <p:xfrm>
          <a:off x="6583680" y="2057400"/>
          <a:ext cx="3840480" cy="1920240"/>
        </p:xfrm>
        <a:graphic>
          <a:graphicData uri="http://schemas.openxmlformats.org/drawingml/2006/table">
            <a:tbl>
              <a:tblPr/>
              <a:tblGrid>
                <a:gridCol w="20116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384048">
                <a:tc>
                  <a:txBody>
                    <a:bodyPr/>
                    <a:lstStyle/>
                    <a:p>
                      <a:pPr algn="ctr"/>
                      <a:r>
                        <a:rPr lang="en-US" sz="1800" b="0" i="0">
                          <a:solidFill>
                            <a:srgbClr val="FFFFFF"/>
                          </a:solidFill>
                          <a:latin typeface="Raleway"/>
                        </a:rPr>
                        <a:t>step</a:t>
                      </a:r>
                    </a:p>
                  </a:txBody>
                  <a:tcPr marT="36576" marB="36576" anchor="ctr">
                    <a:solidFill>
                      <a:srgbClr val="1B3A5C"/>
                    </a:solidFill>
                  </a:tcPr>
                </a:tc>
                <a:tc>
                  <a:txBody>
                    <a:bodyPr/>
                    <a:lstStyle/>
                    <a:p>
                      <a:pPr algn="ctr"/>
                      <a:r>
                        <a:rPr lang="en-US" sz="1800" b="0" i="0">
                          <a:solidFill>
                            <a:srgbClr val="FFFFFF"/>
                          </a:solidFill>
                          <a:latin typeface="Raleway"/>
                        </a:rPr>
                        <a:t>a</a:t>
                      </a:r>
                    </a:p>
                  </a:txBody>
                  <a:tcPr marT="36576" marB="36576" anchor="ctr">
                    <a:solidFill>
                      <a:srgbClr val="1B3A5C"/>
                    </a:solidFill>
                  </a:tcPr>
                </a:tc>
                <a:tc>
                  <a:txBody>
                    <a:bodyPr/>
                    <a:lstStyle/>
                    <a:p>
                      <a:pPr algn="ctr"/>
                      <a:r>
                        <a:rPr lang="en-US" sz="1800" b="0" i="0">
                          <a:solidFill>
                            <a:srgbClr val="FFFFFF"/>
                          </a:solidFill>
                          <a:latin typeface="Raleway"/>
                        </a:rPr>
                        <a:t>b</a:t>
                      </a:r>
                    </a:p>
                  </a:txBody>
                  <a:tcPr marT="36576" marB="36576" anchor="ctr">
                    <a:solidFill>
                      <a:srgbClr val="1B3A5C"/>
                    </a:solidFill>
                  </a:tcPr>
                </a:tc>
                <a:extLst>
                  <a:ext uri="{0D108BD9-81ED-4DB2-BD59-A6C34878D82A}">
                    <a16:rowId xmlns:a16="http://schemas.microsoft.com/office/drawing/2014/main" val="10000"/>
                  </a:ext>
                </a:extLst>
              </a:tr>
              <a:tr h="384048">
                <a:tc>
                  <a:txBody>
                    <a:bodyPr/>
                    <a:lstStyle/>
                    <a:p>
                      <a:pPr algn="l"/>
                      <a:r>
                        <a:rPr lang="en-US" sz="1800" b="0" i="0">
                          <a:solidFill>
                            <a:srgbClr val="1D2433"/>
                          </a:solidFill>
                          <a:latin typeface="Consolas"/>
                        </a:rPr>
                        <a:t>start</a:t>
                      </a:r>
                    </a:p>
                  </a:txBody>
                  <a:tcPr marT="36576" marB="36576" anchor="ctr">
                    <a:solidFill>
                      <a:srgbClr val="FFFFFF"/>
                    </a:solidFill>
                  </a:tcPr>
                </a:tc>
                <a:tc>
                  <a:txBody>
                    <a:bodyPr/>
                    <a:lstStyle/>
                    <a:p>
                      <a:pPr algn="ctr"/>
                      <a:r>
                        <a:rPr lang="en-US" sz="1800" b="0" i="0">
                          <a:solidFill>
                            <a:srgbClr val="1D2433"/>
                          </a:solidFill>
                          <a:latin typeface="Raleway"/>
                        </a:rPr>
                        <a:t>7</a:t>
                      </a:r>
                    </a:p>
                  </a:txBody>
                  <a:tcPr marT="36576" marB="36576" anchor="ctr">
                    <a:solidFill>
                      <a:srgbClr val="FFFFFF"/>
                    </a:solidFill>
                  </a:tcPr>
                </a:tc>
                <a:tc>
                  <a:txBody>
                    <a:bodyPr/>
                    <a:lstStyle/>
                    <a:p>
                      <a:pPr algn="ctr"/>
                      <a:r>
                        <a:rPr lang="en-US" sz="1800" b="0" i="0">
                          <a:solidFill>
                            <a:srgbClr val="1D2433"/>
                          </a:solidFill>
                          <a:latin typeface="Raleway"/>
                        </a:rPr>
                        <a:t>3</a:t>
                      </a:r>
                    </a:p>
                  </a:txBody>
                  <a:tcPr marT="36576" marB="36576" anchor="ctr">
                    <a:solidFill>
                      <a:srgbClr val="FFFFFF"/>
                    </a:solidFill>
                  </a:tcPr>
                </a:tc>
                <a:extLst>
                  <a:ext uri="{0D108BD9-81ED-4DB2-BD59-A6C34878D82A}">
                    <a16:rowId xmlns:a16="http://schemas.microsoft.com/office/drawing/2014/main" val="10001"/>
                  </a:ext>
                </a:extLst>
              </a:tr>
              <a:tr h="384048">
                <a:tc>
                  <a:txBody>
                    <a:bodyPr/>
                    <a:lstStyle/>
                    <a:p>
                      <a:pPr algn="l"/>
                      <a:r>
                        <a:rPr lang="en-US" sz="1800" b="0" i="0">
                          <a:solidFill>
                            <a:srgbClr val="1D2433"/>
                          </a:solidFill>
                          <a:latin typeface="Consolas"/>
                        </a:rPr>
                        <a:t>a = a + b</a:t>
                      </a:r>
                    </a:p>
                  </a:txBody>
                  <a:tcPr marT="36576" marB="36576" anchor="ctr">
                    <a:solidFill>
                      <a:srgbClr val="F2F3F5"/>
                    </a:solidFill>
                  </a:tcPr>
                </a:tc>
                <a:tc>
                  <a:txBody>
                    <a:bodyPr/>
                    <a:lstStyle/>
                    <a:p>
                      <a:pPr algn="ctr"/>
                      <a:r>
                        <a:rPr lang="en-US" sz="1800" b="0" i="0">
                          <a:solidFill>
                            <a:srgbClr val="1D2433"/>
                          </a:solidFill>
                          <a:latin typeface="Raleway"/>
                        </a:rPr>
                        <a:t>10</a:t>
                      </a:r>
                    </a:p>
                  </a:txBody>
                  <a:tcPr marT="36576" marB="36576" anchor="ctr">
                    <a:solidFill>
                      <a:srgbClr val="F2F3F5"/>
                    </a:solidFill>
                  </a:tcPr>
                </a:tc>
                <a:tc>
                  <a:txBody>
                    <a:bodyPr/>
                    <a:lstStyle/>
                    <a:p>
                      <a:pPr algn="ctr"/>
                      <a:r>
                        <a:rPr lang="en-US" sz="1800" b="0" i="0">
                          <a:solidFill>
                            <a:srgbClr val="1D2433"/>
                          </a:solidFill>
                          <a:latin typeface="Raleway"/>
                        </a:rPr>
                        <a:t>3</a:t>
                      </a:r>
                    </a:p>
                  </a:txBody>
                  <a:tcPr marT="36576" marB="36576" anchor="ctr">
                    <a:solidFill>
                      <a:srgbClr val="F2F3F5"/>
                    </a:solidFill>
                  </a:tcPr>
                </a:tc>
                <a:extLst>
                  <a:ext uri="{0D108BD9-81ED-4DB2-BD59-A6C34878D82A}">
                    <a16:rowId xmlns:a16="http://schemas.microsoft.com/office/drawing/2014/main" val="10002"/>
                  </a:ext>
                </a:extLst>
              </a:tr>
              <a:tr h="384048">
                <a:tc>
                  <a:txBody>
                    <a:bodyPr/>
                    <a:lstStyle/>
                    <a:p>
                      <a:pPr algn="l"/>
                      <a:r>
                        <a:rPr lang="en-US" sz="1800" b="0" i="0">
                          <a:solidFill>
                            <a:srgbClr val="1D2433"/>
                          </a:solidFill>
                          <a:latin typeface="Consolas"/>
                        </a:rPr>
                        <a:t>b = a - b</a:t>
                      </a:r>
                    </a:p>
                  </a:txBody>
                  <a:tcPr marT="36576" marB="36576" anchor="ctr">
                    <a:solidFill>
                      <a:srgbClr val="FFFFFF"/>
                    </a:solidFill>
                  </a:tcPr>
                </a:tc>
                <a:tc>
                  <a:txBody>
                    <a:bodyPr/>
                    <a:lstStyle/>
                    <a:p>
                      <a:pPr algn="ctr"/>
                      <a:r>
                        <a:rPr lang="en-US" sz="1800" b="0" i="0">
                          <a:solidFill>
                            <a:srgbClr val="1D2433"/>
                          </a:solidFill>
                          <a:latin typeface="Raleway"/>
                        </a:rPr>
                        <a:t>10</a:t>
                      </a:r>
                    </a:p>
                  </a:txBody>
                  <a:tcPr marT="36576" marB="36576" anchor="ctr">
                    <a:solidFill>
                      <a:srgbClr val="FFFFFF"/>
                    </a:solidFill>
                  </a:tcPr>
                </a:tc>
                <a:tc>
                  <a:txBody>
                    <a:bodyPr/>
                    <a:lstStyle/>
                    <a:p>
                      <a:pPr algn="ctr"/>
                      <a:r>
                        <a:rPr lang="en-US" sz="1800" b="0" i="0">
                          <a:solidFill>
                            <a:srgbClr val="1D2433"/>
                          </a:solidFill>
                          <a:latin typeface="Raleway"/>
                        </a:rPr>
                        <a:t>7</a:t>
                      </a:r>
                    </a:p>
                  </a:txBody>
                  <a:tcPr marT="36576" marB="36576" anchor="ctr">
                    <a:solidFill>
                      <a:srgbClr val="FFFFFF"/>
                    </a:solidFill>
                  </a:tcPr>
                </a:tc>
                <a:extLst>
                  <a:ext uri="{0D108BD9-81ED-4DB2-BD59-A6C34878D82A}">
                    <a16:rowId xmlns:a16="http://schemas.microsoft.com/office/drawing/2014/main" val="10003"/>
                  </a:ext>
                </a:extLst>
              </a:tr>
              <a:tr h="384048">
                <a:tc>
                  <a:txBody>
                    <a:bodyPr/>
                    <a:lstStyle/>
                    <a:p>
                      <a:pPr algn="l"/>
                      <a:r>
                        <a:rPr lang="en-US" sz="1800" b="0" i="0">
                          <a:solidFill>
                            <a:srgbClr val="1D2433"/>
                          </a:solidFill>
                          <a:latin typeface="Consolas"/>
                        </a:rPr>
                        <a:t>a = a - b</a:t>
                      </a:r>
                    </a:p>
                  </a:txBody>
                  <a:tcPr marT="36576" marB="36576" anchor="ctr">
                    <a:solidFill>
                      <a:srgbClr val="FBE5D6"/>
                    </a:solidFill>
                  </a:tcPr>
                </a:tc>
                <a:tc>
                  <a:txBody>
                    <a:bodyPr/>
                    <a:lstStyle/>
                    <a:p>
                      <a:pPr algn="ctr"/>
                      <a:r>
                        <a:rPr lang="en-US" sz="1800" b="0" i="0">
                          <a:solidFill>
                            <a:srgbClr val="1D2433"/>
                          </a:solidFill>
                          <a:latin typeface="Raleway"/>
                        </a:rPr>
                        <a:t>3</a:t>
                      </a:r>
                    </a:p>
                  </a:txBody>
                  <a:tcPr marT="36576" marB="36576" anchor="ctr">
                    <a:solidFill>
                      <a:srgbClr val="FBE5D6"/>
                    </a:solidFill>
                  </a:tcPr>
                </a:tc>
                <a:tc>
                  <a:txBody>
                    <a:bodyPr/>
                    <a:lstStyle/>
                    <a:p>
                      <a:pPr algn="ctr"/>
                      <a:r>
                        <a:rPr lang="en-US" sz="1800" b="0" i="0">
                          <a:solidFill>
                            <a:srgbClr val="1D2433"/>
                          </a:solidFill>
                          <a:latin typeface="Raleway"/>
                        </a:rPr>
                        <a:t>7</a:t>
                      </a:r>
                    </a:p>
                  </a:txBody>
                  <a:tcPr marT="36576" marB="36576" anchor="ctr">
                    <a:solidFill>
                      <a:srgbClr val="FBE5D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34 - Recitation summary">
    <p:spTree>
      <p:nvGrpSpPr>
        <p:cNvPr id="1" name=""/>
        <p:cNvGrpSpPr/>
        <p:nvPr/>
      </p:nvGrpSpPr>
      <p:grpSpPr>
        <a:xfrm>
          <a:off x="0" y="0"/>
          <a:ext cx="0" cy="0"/>
          <a:chOff x="0" y="0"/>
          <a:chExt cx="0" cy="0"/>
        </a:xfrm>
      </p:grpSpPr>
      <p:sp>
        <p:nvSpPr>
          <p:cNvPr id="2" name="Slide number"/>
          <p:cNvSpPr txBox="1"/>
          <p:nvPr/>
        </p:nvSpPr>
        <p:spPr>
          <a:xfrm>
            <a:off x="11430000" y="6446520"/>
            <a:ext cx="548640" cy="320040"/>
          </a:xfrm>
          <a:prstGeom prst="rect">
            <a:avLst/>
          </a:prstGeom>
          <a:noFill/>
        </p:spPr>
        <p:txBody>
          <a:bodyPr wrap="none" lIns="0" tIns="0" rIns="0" bIns="0" anchor="ctr">
            <a:spAutoFit/>
          </a:bodyPr>
          <a:lstStyle/>
          <a:p>
            <a:pPr algn="r"/>
            <a:fld id="{007A6A40-1A7B-4A1B-9D78-D7D11C5A8472}" type="slidenum">
              <a:rPr lang="en-US" sz="1200">
                <a:solidFill>
                  <a:srgbClr val="1B3A5C"/>
                </a:solidFill>
                <a:latin typeface="Raleway"/>
              </a:rPr>
              <a:t>38</a:t>
            </a:fld>
            <a:endParaRPr lang="en-US" sz="1200">
              <a:solidFill>
                <a:srgbClr val="1B3A5C"/>
              </a:solidFill>
              <a:latin typeface="Raleway"/>
            </a:endParaRPr>
          </a:p>
        </p:txBody>
      </p:sp>
      <p:sp>
        <p:nvSpPr>
          <p:cNvPr id="3" name="Title"/>
          <p:cNvSpPr txBox="1"/>
          <p:nvPr/>
        </p:nvSpPr>
        <p:spPr>
          <a:xfrm>
            <a:off x="640080" y="502920"/>
            <a:ext cx="11411712" cy="822960"/>
          </a:xfrm>
          <a:prstGeom prst="rect">
            <a:avLst/>
          </a:prstGeom>
          <a:noFill/>
        </p:spPr>
        <p:txBody>
          <a:bodyPr wrap="square" lIns="0" tIns="0" rIns="0" bIns="0" anchor="ctr">
            <a:noAutofit/>
          </a:bodyPr>
          <a:lstStyle/>
          <a:p>
            <a:pPr algn="l"/>
            <a:r>
              <a:rPr lang="en-US" sz="4000" b="1" i="0">
                <a:solidFill>
                  <a:srgbClr val="1F4E79"/>
                </a:solidFill>
                <a:latin typeface="Raleway"/>
              </a:rPr>
              <a:t>Recitation summary</a:t>
            </a:r>
          </a:p>
        </p:txBody>
      </p:sp>
      <p:sp>
        <p:nvSpPr>
          <p:cNvPr id="4" name="Strip Warm-up"/>
          <p:cNvSpPr/>
          <p:nvPr/>
        </p:nvSpPr>
        <p:spPr>
          <a:xfrm>
            <a:off x="640080" y="1389888"/>
            <a:ext cx="928116" cy="310896"/>
          </a:xfrm>
          <a:prstGeom prst="roundRect">
            <a:avLst>
              <a:gd name="adj" fmla="val 50000"/>
            </a:avLst>
          </a:prstGeom>
          <a:solidFill>
            <a:srgbClr val="A64B00"/>
          </a:solidFill>
          <a:ln w="12700">
            <a:solidFill>
              <a:srgbClr val="A64B00"/>
            </a:solidFill>
          </a:ln>
        </p:spPr>
        <p:txBody>
          <a:bodyPr lIns="45720" tIns="0" rIns="45720" bIns="0" rtlCol="0" anchor="ctr"/>
          <a:lstStyle/>
          <a:p>
            <a:pPr algn="ctr"/>
            <a:r>
              <a:rPr lang="en-US" sz="1100" b="0" i="0">
                <a:solidFill>
                  <a:srgbClr val="FFFFFF"/>
                </a:solidFill>
                <a:latin typeface="Raleway"/>
              </a:rPr>
              <a:t>Warm-up</a:t>
            </a:r>
          </a:p>
        </p:txBody>
      </p:sp>
      <p:sp>
        <p:nvSpPr>
          <p:cNvPr id="5" name="Strip Receipt &amp; time"/>
          <p:cNvSpPr/>
          <p:nvPr/>
        </p:nvSpPr>
        <p:spPr>
          <a:xfrm>
            <a:off x="1677924" y="1389888"/>
            <a:ext cx="1472184" cy="310896"/>
          </a:xfrm>
          <a:prstGeom prst="roundRect">
            <a:avLst>
              <a:gd name="adj" fmla="val 50000"/>
            </a:avLst>
          </a:prstGeom>
          <a:solidFill>
            <a:srgbClr val="A64B00"/>
          </a:solidFill>
          <a:ln w="12700">
            <a:solidFill>
              <a:srgbClr val="A64B00"/>
            </a:solidFill>
          </a:ln>
        </p:spPr>
        <p:txBody>
          <a:bodyPr lIns="45720" tIns="0" rIns="45720" bIns="0" rtlCol="0" anchor="ctr"/>
          <a:lstStyle/>
          <a:p>
            <a:pPr algn="ctr"/>
            <a:r>
              <a:rPr lang="en-US" sz="1100" b="0" i="0">
                <a:solidFill>
                  <a:srgbClr val="FFFFFF"/>
                </a:solidFill>
                <a:latin typeface="Raleway"/>
              </a:rPr>
              <a:t>Receipt &amp; time</a:t>
            </a:r>
          </a:p>
        </p:txBody>
      </p:sp>
      <p:sp>
        <p:nvSpPr>
          <p:cNvPr id="6" name="Strip Bugs"/>
          <p:cNvSpPr/>
          <p:nvPr/>
        </p:nvSpPr>
        <p:spPr>
          <a:xfrm>
            <a:off x="3259836" y="1389888"/>
            <a:ext cx="694944" cy="310896"/>
          </a:xfrm>
          <a:prstGeom prst="roundRect">
            <a:avLst>
              <a:gd name="adj" fmla="val 50000"/>
            </a:avLst>
          </a:prstGeom>
          <a:solidFill>
            <a:srgbClr val="A64B00"/>
          </a:solidFill>
          <a:ln w="12700">
            <a:solidFill>
              <a:srgbClr val="A64B00"/>
            </a:solidFill>
          </a:ln>
        </p:spPr>
        <p:txBody>
          <a:bodyPr lIns="45720" tIns="0" rIns="45720" bIns="0" rtlCol="0" anchor="ctr"/>
          <a:lstStyle/>
          <a:p>
            <a:pPr algn="ctr"/>
            <a:r>
              <a:rPr lang="en-US" sz="1100" b="0" i="0">
                <a:solidFill>
                  <a:srgbClr val="FFFFFF"/>
                </a:solidFill>
                <a:latin typeface="Raleway"/>
              </a:rPr>
              <a:t>Bugs</a:t>
            </a:r>
          </a:p>
        </p:txBody>
      </p:sp>
      <p:sp>
        <p:nvSpPr>
          <p:cNvPr id="7" name="Strip Booleans"/>
          <p:cNvSpPr/>
          <p:nvPr/>
        </p:nvSpPr>
        <p:spPr>
          <a:xfrm>
            <a:off x="4064508" y="1389888"/>
            <a:ext cx="1005840" cy="310896"/>
          </a:xfrm>
          <a:prstGeom prst="roundRect">
            <a:avLst>
              <a:gd name="adj" fmla="val 50000"/>
            </a:avLst>
          </a:prstGeom>
          <a:solidFill>
            <a:srgbClr val="A64B00"/>
          </a:solidFill>
          <a:ln w="12700">
            <a:solidFill>
              <a:srgbClr val="A64B00"/>
            </a:solidFill>
          </a:ln>
        </p:spPr>
        <p:txBody>
          <a:bodyPr lIns="45720" tIns="0" rIns="45720" bIns="0" rtlCol="0" anchor="ctr"/>
          <a:lstStyle/>
          <a:p>
            <a:pPr algn="ctr"/>
            <a:r>
              <a:rPr lang="en-US" sz="1100" b="0" i="0">
                <a:solidFill>
                  <a:srgbClr val="FFFFFF"/>
                </a:solidFill>
                <a:latin typeface="Raleway"/>
              </a:rPr>
              <a:t>Booleans</a:t>
            </a:r>
          </a:p>
        </p:txBody>
      </p:sp>
      <p:sp>
        <p:nvSpPr>
          <p:cNvPr id="8" name="Strip Randomness"/>
          <p:cNvSpPr/>
          <p:nvPr/>
        </p:nvSpPr>
        <p:spPr>
          <a:xfrm>
            <a:off x="5180076" y="1389888"/>
            <a:ext cx="1161288" cy="310896"/>
          </a:xfrm>
          <a:prstGeom prst="roundRect">
            <a:avLst>
              <a:gd name="adj" fmla="val 50000"/>
            </a:avLst>
          </a:prstGeom>
          <a:solidFill>
            <a:srgbClr val="A64B00"/>
          </a:solidFill>
          <a:ln w="12700">
            <a:solidFill>
              <a:srgbClr val="A64B00"/>
            </a:solidFill>
          </a:ln>
        </p:spPr>
        <p:txBody>
          <a:bodyPr lIns="45720" tIns="0" rIns="45720" bIns="0" rtlCol="0" anchor="ctr"/>
          <a:lstStyle/>
          <a:p>
            <a:pPr algn="ctr"/>
            <a:r>
              <a:rPr lang="en-US" sz="1100" b="0" i="0">
                <a:solidFill>
                  <a:srgbClr val="FFFFFF"/>
                </a:solidFill>
                <a:latin typeface="Raleway"/>
              </a:rPr>
              <a:t>Randomness</a:t>
            </a:r>
          </a:p>
        </p:txBody>
      </p:sp>
      <p:sp>
        <p:nvSpPr>
          <p:cNvPr id="9" name="Strip Extra"/>
          <p:cNvSpPr/>
          <p:nvPr/>
        </p:nvSpPr>
        <p:spPr>
          <a:xfrm>
            <a:off x="6451092" y="1389888"/>
            <a:ext cx="772668" cy="310896"/>
          </a:xfrm>
          <a:prstGeom prst="roundRect">
            <a:avLst>
              <a:gd name="adj" fmla="val 50000"/>
            </a:avLst>
          </a:prstGeom>
          <a:solidFill>
            <a:srgbClr val="A64B00"/>
          </a:solidFill>
          <a:ln w="12700">
            <a:solidFill>
              <a:srgbClr val="A64B00"/>
            </a:solidFill>
          </a:ln>
        </p:spPr>
        <p:txBody>
          <a:bodyPr lIns="45720" tIns="0" rIns="45720" bIns="0" rtlCol="0" anchor="ctr"/>
          <a:lstStyle/>
          <a:p>
            <a:pPr algn="ctr"/>
            <a:r>
              <a:rPr lang="en-US" sz="1100" b="0" i="0">
                <a:solidFill>
                  <a:srgbClr val="FFFFFF"/>
                </a:solidFill>
                <a:latin typeface="Raleway"/>
              </a:rPr>
              <a:t>Extra</a:t>
            </a:r>
          </a:p>
        </p:txBody>
      </p:sp>
      <p:sp>
        <p:nvSpPr>
          <p:cNvPr id="10" name="Strip Wrap-up"/>
          <p:cNvSpPr/>
          <p:nvPr/>
        </p:nvSpPr>
        <p:spPr>
          <a:xfrm>
            <a:off x="7333488" y="1389888"/>
            <a:ext cx="928116" cy="310896"/>
          </a:xfrm>
          <a:prstGeom prst="roundRect">
            <a:avLst>
              <a:gd name="adj" fmla="val 50000"/>
            </a:avLst>
          </a:prstGeom>
          <a:solidFill>
            <a:srgbClr val="A64B00"/>
          </a:solidFill>
          <a:ln w="12700">
            <a:solidFill>
              <a:srgbClr val="A64B00"/>
            </a:solidFill>
          </a:ln>
        </p:spPr>
        <p:txBody>
          <a:bodyPr lIns="45720" tIns="0" rIns="45720" bIns="0" rtlCol="0" anchor="ctr"/>
          <a:lstStyle/>
          <a:p>
            <a:pPr algn="ctr"/>
            <a:r>
              <a:rPr lang="en-US" sz="1100" b="0" i="0">
                <a:solidFill>
                  <a:srgbClr val="FFFFFF"/>
                </a:solidFill>
                <a:latin typeface="Raleway"/>
              </a:rPr>
              <a:t>Wrap-up</a:t>
            </a:r>
          </a:p>
        </p:txBody>
      </p:sp>
      <p:sp>
        <p:nvSpPr>
          <p:cNvPr id="11" name="Summary 0"/>
          <p:cNvSpPr/>
          <p:nvPr/>
        </p:nvSpPr>
        <p:spPr>
          <a:xfrm>
            <a:off x="640080" y="1965960"/>
            <a:ext cx="5394960" cy="4206240"/>
          </a:xfrm>
          <a:prstGeom prst="roundRect">
            <a:avLst>
              <a:gd name="adj" fmla="val 6000"/>
            </a:avLst>
          </a:prstGeom>
          <a:solidFill>
            <a:srgbClr val="F2F3F5"/>
          </a:solidFill>
          <a:ln w="12700">
            <a:solidFill>
              <a:srgbClr val="D8DBE0"/>
            </a:solidFill>
          </a:ln>
        </p:spPr>
        <p:txBody>
          <a:bodyPr rtlCol="0" anchor="ctr"/>
          <a:lstStyle/>
          <a:p>
            <a:endParaRPr/>
          </a:p>
        </p:txBody>
      </p:sp>
      <p:sp>
        <p:nvSpPr>
          <p:cNvPr id="12" name="Summary 0 text"/>
          <p:cNvSpPr txBox="1"/>
          <p:nvPr/>
        </p:nvSpPr>
        <p:spPr>
          <a:xfrm>
            <a:off x="868680" y="2103120"/>
            <a:ext cx="4937760" cy="3931920"/>
          </a:xfrm>
          <a:prstGeom prst="rect">
            <a:avLst/>
          </a:prstGeom>
          <a:noFill/>
        </p:spPr>
        <p:txBody>
          <a:bodyPr wrap="square" lIns="0" tIns="0" rIns="0" bIns="0" anchor="t">
            <a:noAutofit/>
          </a:bodyPr>
          <a:lstStyle/>
          <a:p>
            <a:pPr algn="l">
              <a:spcAft>
                <a:spcPts val="800"/>
              </a:spcAft>
            </a:pPr>
            <a:r>
              <a:rPr lang="en-US" sz="2400" b="1" i="0">
                <a:solidFill>
                  <a:srgbClr val="1B3A5C"/>
                </a:solidFill>
                <a:latin typeface="Raleway"/>
              </a:rPr>
              <a:t>What we practised</a:t>
            </a:r>
          </a:p>
          <a:p>
            <a:pPr marL="201168" indent="-201168" algn="l">
              <a:spcAft>
                <a:spcPts val="0"/>
              </a:spcAft>
              <a:buClr>
                <a:srgbClr val="2B5880"/>
              </a:buClr>
              <a:buSzPct val="65000"/>
              <a:buFont typeface="Arial" panose="020B0604020202020204" pitchFamily="34" charset="0"/>
              <a:buChar char="•"/>
            </a:pPr>
            <a:r>
              <a:rPr lang="en-US" sz="1800" b="0" i="0">
                <a:solidFill>
                  <a:srgbClr val="2B5880"/>
                </a:solidFill>
                <a:latin typeface="Raleway"/>
              </a:rPr>
              <a:t>Casting</a:t>
            </a:r>
          </a:p>
          <a:p>
            <a:pPr marL="201168" indent="0" algn="l">
              <a:spcAft>
                <a:spcPts val="700"/>
              </a:spcAft>
              <a:buNone/>
            </a:pPr>
            <a:r>
              <a:rPr lang="en-US" sz="1700" b="0" i="0">
                <a:solidFill>
                  <a:srgbClr val="1D2433"/>
                </a:solidFill>
                <a:latin typeface="Raleway"/>
              </a:rPr>
              <a:t>int(input()) and float(input()) for every number you read.</a:t>
            </a:r>
          </a:p>
          <a:p>
            <a:pPr marL="201168" indent="-201168" algn="l">
              <a:spcAft>
                <a:spcPts val="0"/>
              </a:spcAft>
              <a:buClr>
                <a:srgbClr val="2B5880"/>
              </a:buClr>
              <a:buSzPct val="65000"/>
              <a:buFont typeface="Arial" panose="020B0604020202020204" pitchFamily="34" charset="0"/>
              <a:buChar char="•"/>
            </a:pPr>
            <a:r>
              <a:rPr lang="en-US" sz="1800" b="0" i="0">
                <a:solidFill>
                  <a:srgbClr val="2B5880"/>
                </a:solidFill>
                <a:latin typeface="Raleway"/>
              </a:rPr>
              <a:t>// and %</a:t>
            </a:r>
          </a:p>
          <a:p>
            <a:pPr marL="201168" indent="0" algn="l">
              <a:spcAft>
                <a:spcPts val="700"/>
              </a:spcAft>
              <a:buNone/>
            </a:pPr>
            <a:r>
              <a:rPr lang="en-US" sz="1700" b="0" i="0">
                <a:solidFill>
                  <a:srgbClr val="1D2433"/>
                </a:solidFill>
                <a:latin typeface="Raleway"/>
              </a:rPr>
              <a:t>Whole units and the remainder: time, money, digits.</a:t>
            </a:r>
          </a:p>
          <a:p>
            <a:pPr marL="201168" indent="-201168" algn="l">
              <a:spcAft>
                <a:spcPts val="0"/>
              </a:spcAft>
              <a:buClr>
                <a:srgbClr val="2B5880"/>
              </a:buClr>
              <a:buSzPct val="65000"/>
              <a:buFont typeface="Arial" panose="020B0604020202020204" pitchFamily="34" charset="0"/>
              <a:buChar char="•"/>
            </a:pPr>
            <a:r>
              <a:rPr lang="en-US" sz="1800" b="0" i="0">
                <a:solidFill>
                  <a:srgbClr val="2B5880"/>
                </a:solidFill>
                <a:latin typeface="Raleway"/>
              </a:rPr>
              <a:t>f-strings</a:t>
            </a:r>
          </a:p>
          <a:p>
            <a:pPr marL="201168" indent="0" algn="l">
              <a:spcAft>
                <a:spcPts val="700"/>
              </a:spcAft>
              <a:buNone/>
            </a:pPr>
            <a:r>
              <a:rPr lang="en-US" sz="1700" b="0" i="0">
                <a:solidFill>
                  <a:srgbClr val="1D2433"/>
                </a:solidFill>
                <a:latin typeface="Raleway"/>
              </a:rPr>
              <a:t>Expressions inside the braces become text.</a:t>
            </a:r>
          </a:p>
          <a:p>
            <a:pPr marL="201168" indent="-201168" algn="l">
              <a:spcAft>
                <a:spcPts val="0"/>
              </a:spcAft>
              <a:buClr>
                <a:srgbClr val="2B5880"/>
              </a:buClr>
              <a:buSzPct val="65000"/>
              <a:buFont typeface="Arial" panose="020B0604020202020204" pitchFamily="34" charset="0"/>
              <a:buChar char="•"/>
            </a:pPr>
            <a:r>
              <a:rPr lang="en-US" sz="1800" b="0" i="0">
                <a:solidFill>
                  <a:srgbClr val="2B5880"/>
                </a:solidFill>
                <a:latin typeface="Raleway"/>
              </a:rPr>
              <a:t>Booleans</a:t>
            </a:r>
          </a:p>
          <a:p>
            <a:pPr marL="201168" indent="0" algn="l">
              <a:spcAft>
                <a:spcPts val="700"/>
              </a:spcAft>
              <a:buNone/>
            </a:pPr>
            <a:r>
              <a:rPr lang="en-US" sz="1700" b="0" i="0">
                <a:solidFill>
                  <a:srgbClr val="1D2433"/>
                </a:solidFill>
                <a:latin typeface="Raleway"/>
              </a:rPr>
              <a:t>A comparison is a value: print it, store it, combine it with and.</a:t>
            </a:r>
          </a:p>
        </p:txBody>
      </p:sp>
      <p:sp>
        <p:nvSpPr>
          <p:cNvPr id="13" name="Summary 1"/>
          <p:cNvSpPr/>
          <p:nvPr/>
        </p:nvSpPr>
        <p:spPr>
          <a:xfrm>
            <a:off x="6309360" y="1965960"/>
            <a:ext cx="5394960" cy="4206240"/>
          </a:xfrm>
          <a:prstGeom prst="roundRect">
            <a:avLst>
              <a:gd name="adj" fmla="val 6000"/>
            </a:avLst>
          </a:prstGeom>
          <a:solidFill>
            <a:srgbClr val="F2F3F5"/>
          </a:solidFill>
          <a:ln w="12700">
            <a:solidFill>
              <a:srgbClr val="D8DBE0"/>
            </a:solidFill>
          </a:ln>
        </p:spPr>
        <p:txBody>
          <a:bodyPr rtlCol="0" anchor="ctr"/>
          <a:lstStyle/>
          <a:p>
            <a:endParaRPr/>
          </a:p>
        </p:txBody>
      </p:sp>
      <p:sp>
        <p:nvSpPr>
          <p:cNvPr id="14" name="Summary 1 text"/>
          <p:cNvSpPr txBox="1"/>
          <p:nvPr/>
        </p:nvSpPr>
        <p:spPr>
          <a:xfrm>
            <a:off x="6537960" y="2103120"/>
            <a:ext cx="4937760" cy="3931920"/>
          </a:xfrm>
          <a:prstGeom prst="rect">
            <a:avLst/>
          </a:prstGeom>
          <a:noFill/>
        </p:spPr>
        <p:txBody>
          <a:bodyPr wrap="square" lIns="0" tIns="0" rIns="0" bIns="0" anchor="t">
            <a:noAutofit/>
          </a:bodyPr>
          <a:lstStyle/>
          <a:p>
            <a:pPr algn="l">
              <a:spcAft>
                <a:spcPts val="800"/>
              </a:spcAft>
            </a:pPr>
            <a:r>
              <a:rPr lang="en-US" sz="2400" b="1" i="0">
                <a:solidFill>
                  <a:srgbClr val="1B3A5C"/>
                </a:solidFill>
                <a:latin typeface="Raleway"/>
              </a:rPr>
              <a:t>Tools we used</a:t>
            </a:r>
          </a:p>
          <a:p>
            <a:pPr marL="201168" indent="-201168" algn="l">
              <a:spcAft>
                <a:spcPts val="0"/>
              </a:spcAft>
              <a:buClr>
                <a:srgbClr val="2B5880"/>
              </a:buClr>
              <a:buSzPct val="65000"/>
              <a:buFont typeface="Arial" panose="020B0604020202020204" pitchFamily="34" charset="0"/>
              <a:buChar char="•"/>
            </a:pPr>
            <a:r>
              <a:rPr lang="en-US" sz="1800" b="0" i="0">
                <a:solidFill>
                  <a:srgbClr val="2B5880"/>
                </a:solidFill>
                <a:latin typeface="Raleway"/>
              </a:rPr>
              <a:t>Built-ins</a:t>
            </a:r>
          </a:p>
          <a:p>
            <a:pPr marL="201168" indent="0" algn="l">
              <a:spcAft>
                <a:spcPts val="700"/>
              </a:spcAft>
              <a:buNone/>
            </a:pPr>
            <a:r>
              <a:rPr lang="en-US" sz="1700" b="0" i="0">
                <a:solidFill>
                  <a:srgbClr val="1D2433"/>
                </a:solidFill>
                <a:latin typeface="Raleway"/>
              </a:rPr>
              <a:t>print, input, int, float, str, bool, type, round, abs</a:t>
            </a:r>
          </a:p>
          <a:p>
            <a:pPr marL="201168" indent="-201168" algn="l">
              <a:spcAft>
                <a:spcPts val="0"/>
              </a:spcAft>
              <a:buClr>
                <a:srgbClr val="2B5880"/>
              </a:buClr>
              <a:buSzPct val="65000"/>
              <a:buFont typeface="Arial" panose="020B0604020202020204" pitchFamily="34" charset="0"/>
              <a:buChar char="•"/>
            </a:pPr>
            <a:r>
              <a:rPr lang="en-US" sz="1800" b="0" i="0">
                <a:solidFill>
                  <a:srgbClr val="2B5880"/>
                </a:solidFill>
                <a:latin typeface="Raleway"/>
              </a:rPr>
              <a:t>Modules</a:t>
            </a:r>
          </a:p>
          <a:p>
            <a:pPr marL="201168" indent="0" algn="l">
              <a:spcAft>
                <a:spcPts val="700"/>
              </a:spcAft>
              <a:buNone/>
            </a:pPr>
            <a:r>
              <a:rPr lang="en-US" sz="1700" b="0" i="0">
                <a:solidFill>
                  <a:srgbClr val="1D2433"/>
                </a:solidFill>
                <a:latin typeface="Raleway"/>
              </a:rPr>
              <a:t>random.random() in [0, 1); math.pi and math.sqrt in the extras</a:t>
            </a:r>
          </a:p>
          <a:p>
            <a:pPr marL="201168" indent="-201168" algn="l">
              <a:spcAft>
                <a:spcPts val="0"/>
              </a:spcAft>
              <a:buClr>
                <a:srgbClr val="2B5880"/>
              </a:buClr>
              <a:buSzPct val="65000"/>
              <a:buFont typeface="Arial" panose="020B0604020202020204" pitchFamily="34" charset="0"/>
              <a:buChar char="•"/>
            </a:pPr>
            <a:r>
              <a:rPr lang="en-US" sz="1800" b="0" i="0">
                <a:solidFill>
                  <a:srgbClr val="2B5880"/>
                </a:solidFill>
                <a:latin typeface="Raleway"/>
              </a:rPr>
              <a:t>Operators</a:t>
            </a:r>
          </a:p>
          <a:p>
            <a:pPr marL="201168" indent="0" algn="l">
              <a:spcAft>
                <a:spcPts val="700"/>
              </a:spcAft>
              <a:buNone/>
            </a:pPr>
            <a:r>
              <a:rPr lang="en-US" sz="1700" b="0" i="0">
                <a:solidFill>
                  <a:srgbClr val="1D2433"/>
                </a:solidFill>
                <a:latin typeface="Raleway"/>
              </a:rPr>
              <a:t>+ - * / // % ** and the six comparisons</a:t>
            </a:r>
          </a:p>
          <a:p>
            <a:pPr marL="201168" indent="-201168" algn="l">
              <a:spcAft>
                <a:spcPts val="0"/>
              </a:spcAft>
              <a:buClr>
                <a:srgbClr val="2B5880"/>
              </a:buClr>
              <a:buSzPct val="65000"/>
              <a:buFont typeface="Arial" panose="020B0604020202020204" pitchFamily="34" charset="0"/>
              <a:buChar char="•"/>
            </a:pPr>
            <a:r>
              <a:rPr lang="en-US" sz="1800" b="0" i="0">
                <a:solidFill>
                  <a:srgbClr val="2B5880"/>
                </a:solidFill>
                <a:latin typeface="Raleway"/>
              </a:rPr>
              <a:t>Errors</a:t>
            </a:r>
          </a:p>
          <a:p>
            <a:pPr marL="201168" indent="0" algn="l">
              <a:spcAft>
                <a:spcPts val="700"/>
              </a:spcAft>
              <a:buNone/>
            </a:pPr>
            <a:r>
              <a:rPr lang="en-US" sz="1700" b="0" i="0">
                <a:solidFill>
                  <a:srgbClr val="1D2433"/>
                </a:solidFill>
                <a:latin typeface="Raleway"/>
              </a:rPr>
              <a:t>SyntaxError, TypeError, ValueError, ZeroDivisionError - read from the bottom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name="35 - Practice - Self practice">
    <p:spTree>
      <p:nvGrpSpPr>
        <p:cNvPr id="1" name=""/>
        <p:cNvGrpSpPr/>
        <p:nvPr/>
      </p:nvGrpSpPr>
      <p:grpSpPr>
        <a:xfrm>
          <a:off x="0" y="0"/>
          <a:ext cx="0" cy="0"/>
          <a:chOff x="0" y="0"/>
          <a:chExt cx="0" cy="0"/>
        </a:xfrm>
      </p:grpSpPr>
      <p:sp>
        <p:nvSpPr>
          <p:cNvPr id="2" name="Slide number"/>
          <p:cNvSpPr txBox="1"/>
          <p:nvPr/>
        </p:nvSpPr>
        <p:spPr>
          <a:xfrm>
            <a:off x="11430000" y="6446520"/>
            <a:ext cx="548640" cy="320040"/>
          </a:xfrm>
          <a:prstGeom prst="rect">
            <a:avLst/>
          </a:prstGeom>
          <a:noFill/>
        </p:spPr>
        <p:txBody>
          <a:bodyPr wrap="none" lIns="0" tIns="0" rIns="0" bIns="0" anchor="ctr">
            <a:spAutoFit/>
          </a:bodyPr>
          <a:lstStyle/>
          <a:p>
            <a:pPr algn="r"/>
            <a:fld id="{007A6A40-1A7B-4A1B-9D78-D7D11C5A8472}" type="slidenum">
              <a:rPr lang="en-US" sz="1200">
                <a:solidFill>
                  <a:srgbClr val="1B3A5C"/>
                </a:solidFill>
                <a:latin typeface="Raleway"/>
              </a:rPr>
              <a:t>39</a:t>
            </a:fld>
            <a:endParaRPr lang="en-US" sz="1200">
              <a:solidFill>
                <a:srgbClr val="1B3A5C"/>
              </a:solidFill>
              <a:latin typeface="Raleway"/>
            </a:endParaRPr>
          </a:p>
        </p:txBody>
      </p:sp>
      <p:sp>
        <p:nvSpPr>
          <p:cNvPr id="3" name="Title"/>
          <p:cNvSpPr txBox="1"/>
          <p:nvPr/>
        </p:nvSpPr>
        <p:spPr>
          <a:xfrm>
            <a:off x="640080" y="502920"/>
            <a:ext cx="11411712" cy="822960"/>
          </a:xfrm>
          <a:prstGeom prst="rect">
            <a:avLst/>
          </a:prstGeom>
          <a:noFill/>
        </p:spPr>
        <p:txBody>
          <a:bodyPr wrap="square" lIns="0" tIns="0" rIns="0" bIns="0" anchor="ctr">
            <a:noAutofit/>
          </a:bodyPr>
          <a:lstStyle/>
          <a:p>
            <a:pPr algn="l"/>
            <a:r>
              <a:rPr lang="en-US" sz="4000" b="1" i="0">
                <a:solidFill>
                  <a:srgbClr val="1F4E79"/>
                </a:solidFill>
                <a:latin typeface="Raleway"/>
              </a:rPr>
              <a:t>Self practice</a:t>
            </a:r>
          </a:p>
        </p:txBody>
      </p:sp>
      <p:sp>
        <p:nvSpPr>
          <p:cNvPr id="4" name="Level"/>
          <p:cNvSpPr/>
          <p:nvPr/>
        </p:nvSpPr>
        <p:spPr>
          <a:xfrm>
            <a:off x="10954512" y="1362456"/>
            <a:ext cx="1097280" cy="365760"/>
          </a:xfrm>
          <a:prstGeom prst="roundRect">
            <a:avLst>
              <a:gd name="adj" fmla="val 50000"/>
            </a:avLst>
          </a:prstGeom>
          <a:solidFill>
            <a:srgbClr val="F2F3F5"/>
          </a:solidFill>
          <a:ln w="12700">
            <a:solidFill>
              <a:srgbClr val="D8DBE0"/>
            </a:solidFill>
          </a:ln>
        </p:spPr>
        <p:txBody>
          <a:bodyPr lIns="73152" tIns="0" rIns="73152" bIns="0" rtlCol="0" anchor="ctr"/>
          <a:lstStyle/>
          <a:p>
            <a:pPr algn="ctr"/>
            <a:r>
              <a:rPr lang="en-US" sz="1200" b="0" i="0" spc="100">
                <a:solidFill>
                  <a:srgbClr val="44546A"/>
                </a:solidFill>
                <a:latin typeface="Raleway"/>
              </a:rPr>
              <a:t>AT HOME</a:t>
            </a:r>
          </a:p>
        </p:txBody>
      </p:sp>
      <p:sp>
        <p:nvSpPr>
          <p:cNvPr id="5" name="Lead"/>
          <p:cNvSpPr txBox="1"/>
          <p:nvPr/>
        </p:nvSpPr>
        <p:spPr>
          <a:xfrm>
            <a:off x="640080" y="1965960"/>
            <a:ext cx="10881360" cy="457200"/>
          </a:xfrm>
          <a:prstGeom prst="rect">
            <a:avLst/>
          </a:prstGeom>
          <a:noFill/>
        </p:spPr>
        <p:txBody>
          <a:bodyPr wrap="square" lIns="0" tIns="0" rIns="0" bIns="0" anchor="t">
            <a:noAutofit/>
          </a:bodyPr>
          <a:lstStyle/>
          <a:p>
            <a:pPr algn="l">
              <a:lnSpc>
                <a:spcPct val="110000"/>
              </a:lnSpc>
            </a:pPr>
            <a:r>
              <a:rPr lang="en-US" sz="2200" b="0" i="0">
                <a:solidFill>
                  <a:srgbClr val="1D2433"/>
                </a:solidFill>
                <a:latin typeface="Raleway"/>
              </a:rPr>
              <a:t>Write a program for each of these.</a:t>
            </a:r>
          </a:p>
        </p:txBody>
      </p:sp>
      <p:sp>
        <p:nvSpPr>
          <p:cNvPr id="6" name="Task 1"/>
          <p:cNvSpPr/>
          <p:nvPr/>
        </p:nvSpPr>
        <p:spPr>
          <a:xfrm>
            <a:off x="640080" y="2651760"/>
            <a:ext cx="5317236" cy="1645920"/>
          </a:xfrm>
          <a:prstGeom prst="roundRect">
            <a:avLst>
              <a:gd name="adj" fmla="val 6000"/>
            </a:avLst>
          </a:prstGeom>
          <a:solidFill>
            <a:srgbClr val="F2F3F5"/>
          </a:solidFill>
          <a:ln w="12700">
            <a:solidFill>
              <a:srgbClr val="D8DBE0"/>
            </a:solidFill>
          </a:ln>
        </p:spPr>
        <p:txBody>
          <a:bodyPr rtlCol="0" anchor="ctr"/>
          <a:lstStyle/>
          <a:p>
            <a:endParaRPr/>
          </a:p>
        </p:txBody>
      </p:sp>
      <p:sp>
        <p:nvSpPr>
          <p:cNvPr id="7" name="Task 1 text"/>
          <p:cNvSpPr txBox="1"/>
          <p:nvPr/>
        </p:nvSpPr>
        <p:spPr>
          <a:xfrm>
            <a:off x="822959" y="2761488"/>
            <a:ext cx="4951475" cy="1426464"/>
          </a:xfrm>
          <a:prstGeom prst="rect">
            <a:avLst/>
          </a:prstGeom>
          <a:noFill/>
        </p:spPr>
        <p:txBody>
          <a:bodyPr wrap="square" lIns="0" tIns="0" rIns="0" bIns="0" anchor="ctr">
            <a:noAutofit/>
          </a:bodyPr>
          <a:lstStyle/>
          <a:p>
            <a:pPr algn="l">
              <a:spcAft>
                <a:spcPts val="400"/>
              </a:spcAft>
            </a:pPr>
            <a:r>
              <a:rPr lang="en-US" sz="2200" b="0" i="0">
                <a:solidFill>
                  <a:srgbClr val="A64B00"/>
                </a:solidFill>
                <a:latin typeface="Raleway"/>
              </a:rPr>
              <a:t>Circle</a:t>
            </a:r>
          </a:p>
          <a:p>
            <a:pPr algn="l"/>
            <a:r>
              <a:rPr lang="en-US" sz="1800" b="0" i="0">
                <a:solidFill>
                  <a:srgbClr val="1D2433"/>
                </a:solidFill>
                <a:latin typeface="Raleway"/>
              </a:rPr>
              <a:t>Read a radius and print the circumference and the area, using math.pi and round().</a:t>
            </a:r>
          </a:p>
        </p:txBody>
      </p:sp>
      <p:sp>
        <p:nvSpPr>
          <p:cNvPr id="8" name="Task 2"/>
          <p:cNvSpPr/>
          <p:nvPr/>
        </p:nvSpPr>
        <p:spPr>
          <a:xfrm>
            <a:off x="6231636" y="2651760"/>
            <a:ext cx="5317236" cy="1645920"/>
          </a:xfrm>
          <a:prstGeom prst="roundRect">
            <a:avLst>
              <a:gd name="adj" fmla="val 6000"/>
            </a:avLst>
          </a:prstGeom>
          <a:solidFill>
            <a:srgbClr val="F2F3F5"/>
          </a:solidFill>
          <a:ln w="12700">
            <a:solidFill>
              <a:srgbClr val="D8DBE0"/>
            </a:solidFill>
          </a:ln>
        </p:spPr>
        <p:txBody>
          <a:bodyPr rtlCol="0" anchor="ctr"/>
          <a:lstStyle/>
          <a:p>
            <a:endParaRPr/>
          </a:p>
        </p:txBody>
      </p:sp>
      <p:sp>
        <p:nvSpPr>
          <p:cNvPr id="9" name="Task 2 text"/>
          <p:cNvSpPr txBox="1"/>
          <p:nvPr/>
        </p:nvSpPr>
        <p:spPr>
          <a:xfrm>
            <a:off x="6414516" y="2761488"/>
            <a:ext cx="4951475" cy="1426464"/>
          </a:xfrm>
          <a:prstGeom prst="rect">
            <a:avLst/>
          </a:prstGeom>
          <a:noFill/>
        </p:spPr>
        <p:txBody>
          <a:bodyPr wrap="square" lIns="0" tIns="0" rIns="0" bIns="0" anchor="ctr">
            <a:noAutofit/>
          </a:bodyPr>
          <a:lstStyle/>
          <a:p>
            <a:pPr algn="l">
              <a:spcAft>
                <a:spcPts val="400"/>
              </a:spcAft>
            </a:pPr>
            <a:r>
              <a:rPr lang="en-US" sz="2200" b="0" i="0">
                <a:solidFill>
                  <a:srgbClr val="A64B00"/>
                </a:solidFill>
                <a:latin typeface="Raleway"/>
              </a:rPr>
              <a:t>Average of three</a:t>
            </a:r>
          </a:p>
          <a:p>
            <a:pPr algn="l"/>
            <a:r>
              <a:rPr lang="en-US" sz="1800" b="0" i="0">
                <a:solidFill>
                  <a:srgbClr val="1D2433"/>
                </a:solidFill>
                <a:latin typeface="Raleway"/>
              </a:rPr>
              <a:t>Read three grades and print their average, rounded to one decimal place.</a:t>
            </a:r>
          </a:p>
        </p:txBody>
      </p:sp>
      <p:sp>
        <p:nvSpPr>
          <p:cNvPr id="10" name="Task 3"/>
          <p:cNvSpPr/>
          <p:nvPr/>
        </p:nvSpPr>
        <p:spPr>
          <a:xfrm>
            <a:off x="640080" y="4526279"/>
            <a:ext cx="5317236" cy="1645920"/>
          </a:xfrm>
          <a:prstGeom prst="roundRect">
            <a:avLst>
              <a:gd name="adj" fmla="val 6000"/>
            </a:avLst>
          </a:prstGeom>
          <a:solidFill>
            <a:srgbClr val="F2F3F5"/>
          </a:solidFill>
          <a:ln w="12700">
            <a:solidFill>
              <a:srgbClr val="D8DBE0"/>
            </a:solidFill>
          </a:ln>
        </p:spPr>
        <p:txBody>
          <a:bodyPr rtlCol="0" anchor="ctr"/>
          <a:lstStyle/>
          <a:p>
            <a:endParaRPr/>
          </a:p>
        </p:txBody>
      </p:sp>
      <p:sp>
        <p:nvSpPr>
          <p:cNvPr id="11" name="Task 3 text"/>
          <p:cNvSpPr txBox="1"/>
          <p:nvPr/>
        </p:nvSpPr>
        <p:spPr>
          <a:xfrm>
            <a:off x="822959" y="4636007"/>
            <a:ext cx="4951475" cy="1426464"/>
          </a:xfrm>
          <a:prstGeom prst="rect">
            <a:avLst/>
          </a:prstGeom>
          <a:noFill/>
        </p:spPr>
        <p:txBody>
          <a:bodyPr wrap="square" lIns="0" tIns="0" rIns="0" bIns="0" anchor="ctr">
            <a:noAutofit/>
          </a:bodyPr>
          <a:lstStyle/>
          <a:p>
            <a:pPr algn="l">
              <a:spcAft>
                <a:spcPts val="400"/>
              </a:spcAft>
            </a:pPr>
            <a:r>
              <a:rPr lang="en-US" sz="2200" b="0" i="0">
                <a:solidFill>
                  <a:srgbClr val="A64B00"/>
                </a:solidFill>
                <a:latin typeface="Raleway"/>
              </a:rPr>
              <a:t>Change</a:t>
            </a:r>
          </a:p>
          <a:p>
            <a:pPr algn="l"/>
            <a:r>
              <a:rPr lang="en-US" sz="1800" b="0" i="0">
                <a:solidFill>
                  <a:srgbClr val="1D2433"/>
                </a:solidFill>
                <a:latin typeface="Raleway"/>
              </a:rPr>
              <a:t>Read an amount in shekels and print how many 10, 5, 2 and 1 shekel coins give exactly that amount, using as few coins as possible.</a:t>
            </a:r>
          </a:p>
        </p:txBody>
      </p:sp>
      <p:sp>
        <p:nvSpPr>
          <p:cNvPr id="12" name="Task 4"/>
          <p:cNvSpPr/>
          <p:nvPr/>
        </p:nvSpPr>
        <p:spPr>
          <a:xfrm>
            <a:off x="6231636" y="4526279"/>
            <a:ext cx="5317236" cy="1645920"/>
          </a:xfrm>
          <a:prstGeom prst="roundRect">
            <a:avLst>
              <a:gd name="adj" fmla="val 6000"/>
            </a:avLst>
          </a:prstGeom>
          <a:solidFill>
            <a:srgbClr val="F2F3F5"/>
          </a:solidFill>
          <a:ln w="12700">
            <a:solidFill>
              <a:srgbClr val="D8DBE0"/>
            </a:solidFill>
          </a:ln>
        </p:spPr>
        <p:txBody>
          <a:bodyPr rtlCol="0" anchor="ctr"/>
          <a:lstStyle/>
          <a:p>
            <a:endParaRPr/>
          </a:p>
        </p:txBody>
      </p:sp>
      <p:sp>
        <p:nvSpPr>
          <p:cNvPr id="13" name="Task 4 text"/>
          <p:cNvSpPr txBox="1"/>
          <p:nvPr/>
        </p:nvSpPr>
        <p:spPr>
          <a:xfrm>
            <a:off x="6414516" y="4636007"/>
            <a:ext cx="4951475" cy="1426464"/>
          </a:xfrm>
          <a:prstGeom prst="rect">
            <a:avLst/>
          </a:prstGeom>
          <a:noFill/>
        </p:spPr>
        <p:txBody>
          <a:bodyPr wrap="square" lIns="0" tIns="0" rIns="0" bIns="0" anchor="ctr">
            <a:noAutofit/>
          </a:bodyPr>
          <a:lstStyle/>
          <a:p>
            <a:pPr algn="l">
              <a:spcAft>
                <a:spcPts val="400"/>
              </a:spcAft>
            </a:pPr>
            <a:r>
              <a:rPr lang="en-US" sz="2200" b="0" i="0">
                <a:solidFill>
                  <a:srgbClr val="A64B00"/>
                </a:solidFill>
                <a:latin typeface="Raleway"/>
              </a:rPr>
              <a:t>Savings</a:t>
            </a:r>
          </a:p>
          <a:p>
            <a:pPr algn="l"/>
            <a:r>
              <a:rPr lang="en-US" sz="1800" b="0" i="0">
                <a:solidFill>
                  <a:srgbClr val="1D2433"/>
                </a:solidFill>
                <a:latin typeface="Raleway"/>
              </a:rPr>
              <a:t>Read a starting amount, a yearly interest rate in percent and a number of years; print the final amount, using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0" presetClass="entr" presetSubtype="0" fill="hold"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name="36 - Closing">
    <p:spTree>
      <p:nvGrpSpPr>
        <p:cNvPr id="1" name=""/>
        <p:cNvGrpSpPr/>
        <p:nvPr/>
      </p:nvGrpSpPr>
      <p:grpSpPr>
        <a:xfrm>
          <a:off x="0" y="0"/>
          <a:ext cx="0" cy="0"/>
          <a:chOff x="0" y="0"/>
          <a:chExt cx="0" cy="0"/>
        </a:xfrm>
      </p:grpSpPr>
      <p:sp>
        <p:nvSpPr>
          <p:cNvPr id="2" name="Eyebrow"/>
          <p:cNvSpPr txBox="1"/>
          <p:nvPr/>
        </p:nvSpPr>
        <p:spPr>
          <a:xfrm>
            <a:off x="640080" y="548640"/>
            <a:ext cx="7315200" cy="365760"/>
          </a:xfrm>
          <a:prstGeom prst="rect">
            <a:avLst/>
          </a:prstGeom>
          <a:noFill/>
        </p:spPr>
        <p:txBody>
          <a:bodyPr wrap="square" lIns="0" tIns="0" rIns="0" bIns="0" anchor="ctr">
            <a:noAutofit/>
          </a:bodyPr>
          <a:lstStyle/>
          <a:p>
            <a:pPr algn="l"/>
            <a:r>
              <a:rPr lang="he-IL" sz="1400" b="0" i="0" spc="200" dirty="0" err="1">
                <a:solidFill>
                  <a:srgbClr val="A64B00"/>
                </a:solidFill>
                <a:latin typeface="Raleway"/>
              </a:rPr>
              <a:t>I</a:t>
            </a:r>
            <a:r>
              <a:rPr lang="en-US" sz="1400" b="0" i="0" spc="200" dirty="0">
                <a:solidFill>
                  <a:srgbClr val="A64B00"/>
                </a:solidFill>
                <a:latin typeface="Raleway"/>
              </a:rPr>
              <a:t>NTRO TO COURSE · WEEK 2 · RECITATION 2</a:t>
            </a:r>
          </a:p>
        </p:txBody>
      </p:sp>
      <p:sp>
        <p:nvSpPr>
          <p:cNvPr id="3" name="Closing title"/>
          <p:cNvSpPr txBox="1"/>
          <p:nvPr/>
        </p:nvSpPr>
        <p:spPr>
          <a:xfrm>
            <a:off x="640080" y="2103120"/>
            <a:ext cx="10058400" cy="1463040"/>
          </a:xfrm>
          <a:prstGeom prst="rect">
            <a:avLst/>
          </a:prstGeom>
          <a:noFill/>
        </p:spPr>
        <p:txBody>
          <a:bodyPr wrap="square" lIns="0" tIns="0" rIns="0" bIns="0" anchor="b">
            <a:noAutofit/>
          </a:bodyPr>
          <a:lstStyle/>
          <a:p>
            <a:pPr algn="l">
              <a:lnSpc>
                <a:spcPct val="100000"/>
              </a:lnSpc>
            </a:pPr>
            <a:r>
              <a:rPr lang="en-US" sz="5400" b="1" i="0">
                <a:solidFill>
                  <a:srgbClr val="1F4E79"/>
                </a:solidFill>
                <a:latin typeface="Raleway"/>
              </a:rPr>
              <a:t>Next: Conditionals and loops</a:t>
            </a:r>
          </a:p>
        </p:txBody>
      </p:sp>
      <p:sp>
        <p:nvSpPr>
          <p:cNvPr id="4" name="Closing subtitle"/>
          <p:cNvSpPr txBox="1"/>
          <p:nvPr/>
        </p:nvSpPr>
        <p:spPr>
          <a:xfrm>
            <a:off x="640080" y="3657600"/>
            <a:ext cx="10058400" cy="640080"/>
          </a:xfrm>
          <a:prstGeom prst="rect">
            <a:avLst/>
          </a:prstGeom>
          <a:noFill/>
        </p:spPr>
        <p:txBody>
          <a:bodyPr wrap="square" lIns="0" tIns="0" rIns="0" bIns="0" anchor="t">
            <a:noAutofit/>
          </a:bodyPr>
          <a:lstStyle/>
          <a:p>
            <a:pPr algn="l"/>
            <a:r>
              <a:rPr lang="en-US" sz="3200" b="1" i="0">
                <a:solidFill>
                  <a:srgbClr val="A64B00"/>
                </a:solidFill>
                <a:latin typeface="Raleway"/>
              </a:rPr>
              <a:t>if, elif, else, while and for</a:t>
            </a:r>
          </a:p>
        </p:txBody>
      </p:sp>
      <p:pic>
        <p:nvPicPr>
          <p:cNvPr id="5" name="Reichman University logo" descr="runi_logo.png"/>
          <p:cNvPicPr>
            <a:picLocks noChangeAspect="1"/>
          </p:cNvPicPr>
          <p:nvPr/>
        </p:nvPicPr>
        <p:blipFill>
          <a:blip r:embed="rId3"/>
          <a:stretch>
            <a:fillRect/>
          </a:stretch>
        </p:blipFill>
        <p:spPr>
          <a:xfrm>
            <a:off x="640080" y="5669280"/>
            <a:ext cx="1339215" cy="8229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1B3A5C"/>
      </a:hlink>
      <a:folHlink>
        <a:srgbClr val="1B3A5C"/>
      </a:folHlink>
    </a:clrScheme>
    <a:fontScheme name="התאמה אישית 3">
      <a:majorFont>
        <a:latin typeface="Raleway"/>
        <a:ea typeface=""/>
        <a:cs typeface="Calibri Light"/>
      </a:majorFont>
      <a:minorFont>
        <a:latin typeface="Raleway"/>
        <a:ea typeface=""/>
        <a:cs typeface="Calibri Light"/>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A0985C0-6B24-4312-AFF6-98498F4B99ED}">
  <we:reference id="wa200010001" version="1.0.0.1" store="he-IL" storeType="OMEX"/>
  <we:alternateReferences>
    <we:reference id="wa200010001" version="1.0.0.1" store="" storeType="OMEX"/>
  </we:alternateReferences>
  <we:properties>
    <we:property name="claude.fileId" value="&quot;71060933-d5d1-49cc-ae9f-c2dbd632255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545</TotalTime>
  <Words>9158</Words>
  <Application>Microsoft Macintosh PowerPoint</Application>
  <PresentationFormat>Widescreen</PresentationFormat>
  <Paragraphs>794</Paragraphs>
  <Slides>40</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Arial</vt:lpstr>
      <vt:lpstr>Consolas</vt:lpstr>
      <vt:lpstr>Raleway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Kfir Bar</cp:lastModifiedBy>
  <cp:revision>3</cp:revision>
  <dcterms:created xsi:type="dcterms:W3CDTF">2026-08-29T06:13:42Z</dcterms:created>
  <dcterms:modified xsi:type="dcterms:W3CDTF">2026-10-14T13:28:34Z</dcterms:modified>
</cp:coreProperties>
</file>